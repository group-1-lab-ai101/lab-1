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044dce5e834743" /><Relationship Type="http://schemas.openxmlformats.org/officeDocument/2006/relationships/extended-properties" Target="/docProps/app.xml" Id="Rcd82f7ce3a3a4a35" /><Relationship Type="http://schemas.openxmlformats.org/officeDocument/2006/relationships/officeDocument" Target="/ppt/presentation.xml" Id="R9042086a02344dbd" /></Relationships>
</file>

<file path=ppt/presentation.xml><?xml version="1.0" encoding="utf-8"?>
<p:presentation xmlns:p="http://schemas.openxmlformats.org/presentationml/2006/main">
  <p:sldMasterIdLst>
    <p:sldMasterId xmlns:r="http://schemas.openxmlformats.org/officeDocument/2006/relationships" id="2147483648" r:id="Rff55ee291b464827"/>
  </p:sldMasterIdLst>
  <p:notesMasterIdLst>
    <p:notesMasterId xmlns:r="http://schemas.openxmlformats.org/officeDocument/2006/relationships" r:id="R7909e9cfc5ca41d3"/>
  </p:notesMasterIdLst>
  <p:sldIdLst>
    <p:sldId xmlns:r="http://schemas.openxmlformats.org/officeDocument/2006/relationships" id="256" r:id="R5d7f68f055584896"/>
    <p:sldId xmlns:r="http://schemas.openxmlformats.org/officeDocument/2006/relationships" id="257" r:id="R1d2ffef05b3e45be"/>
    <p:sldId xmlns:r="http://schemas.openxmlformats.org/officeDocument/2006/relationships" id="258" r:id="R9385f51b2888493c"/>
    <p:sldId xmlns:r="http://schemas.openxmlformats.org/officeDocument/2006/relationships" id="259" r:id="R730433fbab1949d5"/>
    <p:sldId xmlns:r="http://schemas.openxmlformats.org/officeDocument/2006/relationships" id="260" r:id="R17368f57e60a4ae1"/>
    <p:sldId xmlns:r="http://schemas.openxmlformats.org/officeDocument/2006/relationships" id="261" r:id="Rf4b69854ec104af2"/>
    <p:sldId xmlns:r="http://schemas.openxmlformats.org/officeDocument/2006/relationships" id="262" r:id="Rbd7f30d1f0524177"/>
    <p:sldId xmlns:r="http://schemas.openxmlformats.org/officeDocument/2006/relationships" id="263" r:id="Rcfc40c4c71a241dd"/>
    <p:sldId xmlns:r="http://schemas.openxmlformats.org/officeDocument/2006/relationships" id="264" r:id="R346c1d3aa67f4c93"/>
    <p:sldId xmlns:r="http://schemas.openxmlformats.org/officeDocument/2006/relationships" id="265" r:id="Rc1631c9e85144abc"/>
    <p:sldId xmlns:r="http://schemas.openxmlformats.org/officeDocument/2006/relationships" id="266" r:id="Rb8d0fc65d375469c"/>
    <p:sldId xmlns:r="http://schemas.openxmlformats.org/officeDocument/2006/relationships" id="267" r:id="R6aec31bca6ff4b75"/>
    <p:sldId xmlns:r="http://schemas.openxmlformats.org/officeDocument/2006/relationships" id="268" r:id="R1210dd2f62b246cb"/>
    <p:sldId xmlns:r="http://schemas.openxmlformats.org/officeDocument/2006/relationships" id="269" r:id="Rc0de5cc21af54a0e"/>
    <p:sldId xmlns:r="http://schemas.openxmlformats.org/officeDocument/2006/relationships" id="270" r:id="R20f74fc002324538"/>
    <p:sldId xmlns:r="http://schemas.openxmlformats.org/officeDocument/2006/relationships" id="271" r:id="R102c1c3632f64fdb"/>
    <p:sldId xmlns:r="http://schemas.openxmlformats.org/officeDocument/2006/relationships" id="272" r:id="R99de890af8de482d"/>
    <p:sldId xmlns:r="http://schemas.openxmlformats.org/officeDocument/2006/relationships" id="273" r:id="R778bdd803bad4dd2"/>
    <p:sldId xmlns:r="http://schemas.openxmlformats.org/officeDocument/2006/relationships" id="274" r:id="R0c9e300c778e4c7d"/>
    <p:sldId xmlns:r="http://schemas.openxmlformats.org/officeDocument/2006/relationships" id="275" r:id="R11ba757c933749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8c4bb23e1c4c21" /><Relationship Type="http://schemas.openxmlformats.org/officeDocument/2006/relationships/slideMaster" Target="/ppt/slideMasters/slideMaster1.xml" Id="Rff55ee291b464827" /><Relationship Type="http://schemas.openxmlformats.org/officeDocument/2006/relationships/notesMaster" Target="/ppt/notesMasters/notesMaster1.xml" Id="R7909e9cfc5ca41d3" /><Relationship Type="http://schemas.openxmlformats.org/officeDocument/2006/relationships/presProps" Target="/ppt/presProps.xml" Id="R09b05507681a4bf4" /><Relationship Type="http://schemas.openxmlformats.org/officeDocument/2006/relationships/tableStyles" Target="/ppt/tableStyles.xml" Id="Rbcf8d8c8893743d2" /><Relationship Type="http://schemas.openxmlformats.org/officeDocument/2006/relationships/slide" Target="/ppt/slides/slide1.xml" Id="R5d7f68f055584896" /><Relationship Type="http://schemas.openxmlformats.org/officeDocument/2006/relationships/slide" Target="/ppt/slides/slide2.xml" Id="R1d2ffef05b3e45be" /><Relationship Type="http://schemas.openxmlformats.org/officeDocument/2006/relationships/slide" Target="/ppt/slides/slide3.xml" Id="R9385f51b2888493c" /><Relationship Type="http://schemas.openxmlformats.org/officeDocument/2006/relationships/slide" Target="/ppt/slides/slide4.xml" Id="R730433fbab1949d5" /><Relationship Type="http://schemas.openxmlformats.org/officeDocument/2006/relationships/slide" Target="/ppt/slides/slide5.xml" Id="R17368f57e60a4ae1" /><Relationship Type="http://schemas.openxmlformats.org/officeDocument/2006/relationships/slide" Target="/ppt/slides/slide6.xml" Id="Rf4b69854ec104af2" /><Relationship Type="http://schemas.openxmlformats.org/officeDocument/2006/relationships/slide" Target="/ppt/slides/slide7.xml" Id="Rbd7f30d1f0524177" /><Relationship Type="http://schemas.openxmlformats.org/officeDocument/2006/relationships/slide" Target="/ppt/slides/slide8.xml" Id="Rcfc40c4c71a241dd" /><Relationship Type="http://schemas.openxmlformats.org/officeDocument/2006/relationships/slide" Target="/ppt/slides/slide9.xml" Id="R346c1d3aa67f4c93" /><Relationship Type="http://schemas.openxmlformats.org/officeDocument/2006/relationships/slide" Target="/ppt/slides/slide10.xml" Id="Rc1631c9e85144abc" /><Relationship Type="http://schemas.openxmlformats.org/officeDocument/2006/relationships/slide" Target="/ppt/slides/slide11.xml" Id="Rb8d0fc65d375469c" /><Relationship Type="http://schemas.openxmlformats.org/officeDocument/2006/relationships/slide" Target="/ppt/slides/slide12.xml" Id="R6aec31bca6ff4b75" /><Relationship Type="http://schemas.openxmlformats.org/officeDocument/2006/relationships/slide" Target="/ppt/slides/slide13.xml" Id="R1210dd2f62b246cb" /><Relationship Type="http://schemas.openxmlformats.org/officeDocument/2006/relationships/slide" Target="/ppt/slides/slide14.xml" Id="Rc0de5cc21af54a0e" /><Relationship Type="http://schemas.openxmlformats.org/officeDocument/2006/relationships/slide" Target="/ppt/slides/slide15.xml" Id="R20f74fc002324538" /><Relationship Type="http://schemas.openxmlformats.org/officeDocument/2006/relationships/slide" Target="/ppt/slides/slide16.xml" Id="R102c1c3632f64fdb" /><Relationship Type="http://schemas.openxmlformats.org/officeDocument/2006/relationships/slide" Target="/ppt/slides/slide17.xml" Id="R99de890af8de482d" /><Relationship Type="http://schemas.openxmlformats.org/officeDocument/2006/relationships/slide" Target="/ppt/slides/slide18.xml" Id="R778bdd803bad4dd2" /><Relationship Type="http://schemas.openxmlformats.org/officeDocument/2006/relationships/slide" Target="/ppt/slides/slide19.xml" Id="R0c9e300c778e4c7d" /><Relationship Type="http://schemas.openxmlformats.org/officeDocument/2006/relationships/slide" Target="/ppt/slides/slide20.xml" Id="R11ba757c933749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e28834b0f842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aaa8d4c2354362" /><Relationship Type="http://schemas.openxmlformats.org/officeDocument/2006/relationships/notesMaster" Target="/ppt/notesMasters/notesMaster1.xml" Id="R81495b59229e4d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ce626866c94427" /><Relationship Type="http://schemas.openxmlformats.org/officeDocument/2006/relationships/notesMaster" Target="/ppt/notesMasters/notesMaster1.xml" Id="R8800df35d6f84e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812e396bfd45eb" /><Relationship Type="http://schemas.openxmlformats.org/officeDocument/2006/relationships/notesMaster" Target="/ppt/notesMasters/notesMaster1.xml" Id="R7b8ef8fd80a845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425f99f96d47ac" /><Relationship Type="http://schemas.openxmlformats.org/officeDocument/2006/relationships/notesMaster" Target="/ppt/notesMasters/notesMaster1.xml" Id="R399cd2464c1b46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862f4dc86144aa" /><Relationship Type="http://schemas.openxmlformats.org/officeDocument/2006/relationships/notesMaster" Target="/ppt/notesMasters/notesMaster1.xml" Id="R1c497d20479042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690c98d816446b" /><Relationship Type="http://schemas.openxmlformats.org/officeDocument/2006/relationships/notesMaster" Target="/ppt/notesMasters/notesMaster1.xml" Id="R78cd00eb1a6148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6245f933eb461e" /><Relationship Type="http://schemas.openxmlformats.org/officeDocument/2006/relationships/notesMaster" Target="/ppt/notesMasters/notesMaster1.xml" Id="Rbc841e36391442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4d5ea24203462a" /><Relationship Type="http://schemas.openxmlformats.org/officeDocument/2006/relationships/notesMaster" Target="/ppt/notesMasters/notesMaster1.xml" Id="R0f0f68402e324f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4d071767ea4cc5" /><Relationship Type="http://schemas.openxmlformats.org/officeDocument/2006/relationships/notesMaster" Target="/ppt/notesMasters/notesMaster1.xml" Id="R656824b2198b41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1442d9cac64efc" /><Relationship Type="http://schemas.openxmlformats.org/officeDocument/2006/relationships/notesMaster" Target="/ppt/notesMasters/notesMaster1.xml" Id="Rae9d7f47a2884f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60a874d37f4948" /><Relationship Type="http://schemas.openxmlformats.org/officeDocument/2006/relationships/notesMaster" Target="/ppt/notesMasters/notesMaster1.xml" Id="R82a26b0f4fe3493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6886751f7e4c90" /><Relationship Type="http://schemas.openxmlformats.org/officeDocument/2006/relationships/notesMaster" Target="/ppt/notesMasters/notesMaster1.xml" Id="Rc11c880c1ca04e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34b8a648574f6e" /><Relationship Type="http://schemas.openxmlformats.org/officeDocument/2006/relationships/notesMaster" Target="/ppt/notesMasters/notesMaster1.xml" Id="R5b30dfbbe05442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0b1e953fb4480f" /><Relationship Type="http://schemas.openxmlformats.org/officeDocument/2006/relationships/notesMaster" Target="/ppt/notesMasters/notesMaster1.xml" Id="Rf468c1e459ea43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ec00755d0a4c2f" /><Relationship Type="http://schemas.openxmlformats.org/officeDocument/2006/relationships/notesMaster" Target="/ppt/notesMasters/notesMaster1.xml" Id="R906342051ae942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50238a35ac4820" /><Relationship Type="http://schemas.openxmlformats.org/officeDocument/2006/relationships/notesMaster" Target="/ppt/notesMasters/notesMaster1.xml" Id="R44a6904a19e44a1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be395b0388b4946" /><Relationship Type="http://schemas.openxmlformats.org/officeDocument/2006/relationships/notesMaster" Target="/ppt/notesMasters/notesMaster1.xml" Id="Rbf7d9b996c9b4f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96e98cddbbc4181" /><Relationship Type="http://schemas.openxmlformats.org/officeDocument/2006/relationships/notesMaster" Target="/ppt/notesMasters/notesMaster1.xml" Id="R741feef23cfe427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9cfe08f70c24f7e" /><Relationship Type="http://schemas.openxmlformats.org/officeDocument/2006/relationships/notesMaster" Target="/ppt/notesMasters/notesMaster1.xml" Id="Rc08577913292411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bbccd5210bd48c7" /><Relationship Type="http://schemas.openxmlformats.org/officeDocument/2006/relationships/notesMaster" Target="/ppt/notesMasters/notesMaster1.xml" Id="Re415dbed80da49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tourist problem: the physically shortest route can be a poor choice when time, congestion, risk, and one-way streets matter.</a:t>
            </a:r>
          </a:p>
          <a:p xmlns:a="http://schemas.openxmlformats.org/drawingml/2006/main">
            <a:r>
              <a:t/>
            </a:r>
          </a:p>
          <a:p xmlns:a="http://schemas.openxmlformats.org/drawingml/2006/main">
            <a:r>
              <a:t>[Sources]</a:t>
            </a:r>
          </a:p>
          <a:p xmlns:a="http://schemas.openxmlformats.org/drawingml/2006/main">
            <a:r>
              <a:t>C:/Users/Admin/Downloads/Lab 1 - Searching.pdf</a:t>
            </a:r>
          </a:p>
          <a:p xmlns:a="http://schemas.openxmlformats.org/drawingml/2006/main">
            <a:r>
              <a:t>C:/Users/Admin/Documents/AI01/lab-1/docs/TECHNICAL_REPORT.md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each member by ownership, then emphasize that every algorithm uses the same graph, request contract, and result schema.</a:t>
            </a:r>
          </a:p>
          <a:p xmlns:a="http://schemas.openxmlformats.org/drawingml/2006/main">
            <a:r>
              <a:t/>
            </a:r>
          </a:p>
          <a:p xmlns:a="http://schemas.openxmlformats.org/drawingml/2006/main">
            <a:r>
              <a:t>[Sources]</a:t>
            </a:r>
          </a:p>
          <a:p xmlns:a="http://schemas.openxmlformats.org/drawingml/2006/main">
            <a:r>
              <a:t>C:/Users/Admin/Downloads/Tourist-route-planner-for-visiting-multiple-landmarks-in-Ho-Chi-Minh-City.pdf</a:t>
            </a:r>
          </a:p>
          <a:p xmlns:a="http://schemas.openxmlformats.org/drawingml/2006/main">
            <a:r>
              <a:t>C:/Users/Admin/Documents/AI01/lab-1/docs/TECHNICAL_REPORT.md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these five project capabilities to the official rubric before moving into implementation evidence.</a:t>
            </a:r>
          </a:p>
          <a:p xmlns:a="http://schemas.openxmlformats.org/drawingml/2006/main">
            <a:r>
              <a:t/>
            </a:r>
          </a:p>
          <a:p xmlns:a="http://schemas.openxmlformats.org/drawingml/2006/main">
            <a:r>
              <a:t>[Sources]</a:t>
            </a:r>
          </a:p>
          <a:p xmlns:a="http://schemas.openxmlformats.org/drawingml/2006/main">
            <a:r>
              <a:t>C:/Users/Admin/Downloads/Lab 1 - Searching.pdf</a:t>
            </a:r>
          </a:p>
          <a:p xmlns:a="http://schemas.openxmlformats.org/drawingml/2006/main">
            <a:r>
              <a:t>C:/Users/Admin/Documents/AI01/lab-1/docs/TECHNICAL_REPORT.md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hybrid-data choice: real map structure plus controlled traffic scenarios makes every algorithm comparison reproducible.</a:t>
            </a:r>
          </a:p>
          <a:p xmlns:a="http://schemas.openxmlformats.org/drawingml/2006/main">
            <a:r>
              <a:t/>
            </a:r>
          </a:p>
          <a:p xmlns:a="http://schemas.openxmlformats.org/drawingml/2006/main">
            <a:r>
              <a:t>[Sources]</a:t>
            </a:r>
          </a:p>
          <a:p xmlns:a="http://schemas.openxmlformats.org/drawingml/2006/main">
            <a:r>
              <a:t>C:/Users/Admin/Documents/AI01/lab-1/docs/DATA_DESCRIPTION.md</a:t>
            </a:r>
          </a:p>
          <a:p xmlns:a="http://schemas.openxmlformats.org/drawingml/2006/main">
            <a:r>
              <a:t>C:/Users/Admin/Documents/AI01/lab-1/lab-1-backend/docs/benchmark_results.json</a:t>
            </a:r>
          </a:p>
          <a:p xmlns:a="http://schemas.openxmlformats.org/drawingml/2006/main">
            <a:r>
              <a:t>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comparisons are controlled: only the frontier policy changes; graph, endpoints, cost weights, and traffic profile remain fixed.</a:t>
            </a:r>
          </a:p>
          <a:p xmlns:a="http://schemas.openxmlformats.org/drawingml/2006/main">
            <a:r>
              <a:t/>
            </a:r>
          </a:p>
          <a:p xmlns:a="http://schemas.openxmlformats.org/drawingml/2006/main">
            <a:r>
              <a:t>[Sources]</a:t>
            </a:r>
          </a:p>
          <a:p xmlns:a="http://schemas.openxmlformats.org/drawingml/2006/main">
            <a:r>
              <a:t>C:/Users/Admin/Documents/AI01/lab-1/docs/TECHNICAL_REPORT.md</a:t>
            </a:r>
          </a:p>
          <a:p xmlns:a="http://schemas.openxmlformats.org/drawingml/2006/main">
            <a:r>
              <a:t>C:/Users/Admin/Documents/AI01/lab-1/lab-1-backend/docs/full_audit_results.json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clear that profiles do not invent new roads. They change edge attributes and therefore the weighted cost evaluated by every algorithm.</a:t>
            </a:r>
          </a:p>
          <a:p xmlns:a="http://schemas.openxmlformats.org/drawingml/2006/main">
            <a:r>
              <a:t/>
            </a:r>
          </a:p>
          <a:p xmlns:a="http://schemas.openxmlformats.org/drawingml/2006/main">
            <a:r>
              <a:t>[Sources]</a:t>
            </a:r>
          </a:p>
          <a:p xmlns:a="http://schemas.openxmlformats.org/drawingml/2006/main">
            <a:r>
              <a:t>C:/Users/Admin/Documents/AI01/lab-1/docs/TECHNICAL_REPORT.md</a:t>
            </a:r>
          </a:p>
          <a:p xmlns:a="http://schemas.openxmlformats.org/drawingml/2006/main">
            <a:r>
              <a:t>C:/Users/Admin/Documents/AI01/lab-1/lab-1-backend/docs/full_audit_results.json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was designed by the group. Use it for all six algorithms so expansion order, frontier state, parent updates, and guarantees remain directly comparable.</a:t>
            </a:r>
          </a:p>
          <a:p xmlns:a="http://schemas.openxmlformats.org/drawingml/2006/main">
            <a:r>
              <a:t/>
            </a:r>
          </a:p>
          <a:p xmlns:a="http://schemas.openxmlformats.org/drawingml/2006/main">
            <a:r>
              <a:t>[Sources]</a:t>
            </a:r>
          </a:p>
          <a:p xmlns:a="http://schemas.openxmlformats.org/drawingml/2006/main">
            <a:r>
              <a:t>C:/Users/Admin/Documents/AI01/lab-1/docs/ALGORITHM_WALKTHROUGH.md</a:t>
            </a:r>
          </a:p>
          <a:p xmlns:a="http://schemas.openxmlformats.org/drawingml/2006/main">
            <a:r>
              <a:t>C:/Users/Admin/Downloads/Lab 1 - Searching.pdf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frontier after each expansion. The contrast is the point: BFS minimizes depth, DFS commits to one branch, and UCS accepts the goal only when it is popped at minimum g.</a:t>
            </a:r>
          </a:p>
          <a:p xmlns:a="http://schemas.openxmlformats.org/drawingml/2006/main">
            <a:r>
              <a:t/>
            </a:r>
          </a:p>
          <a:p xmlns:a="http://schemas.openxmlformats.org/drawingml/2006/main">
            <a:r>
              <a:t>[Sources]</a:t>
            </a:r>
          </a:p>
          <a:p xmlns:a="http://schemas.openxmlformats.org/drawingml/2006/main">
            <a:r>
              <a:t>C:/Users/Admin/Documents/AI01/lab-1/docs/ALGORITHM_WALKTHROUGH.md</a:t>
            </a:r>
          </a:p>
          <a:p xmlns:a="http://schemas.openxmlformats.org/drawingml/2006/main">
            <a:r>
              <a:t>C:/Users/Admin/Documents/AI01/lab-1/docs/TECHNICAL_REPORT.md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g, h, and f explicitly for A*. For Greedy, point out the missing accumulated g term; that omission explains the cost-9 result.</a:t>
            </a:r>
          </a:p>
          <a:p xmlns:a="http://schemas.openxmlformats.org/drawingml/2006/main">
            <a:r>
              <a:t/>
            </a:r>
          </a:p>
          <a:p xmlns:a="http://schemas.openxmlformats.org/drawingml/2006/main">
            <a:r>
              <a:t>[Sources]</a:t>
            </a:r>
          </a:p>
          <a:p xmlns:a="http://schemas.openxmlformats.org/drawingml/2006/main">
            <a:r>
              <a:t>C:/Users/Admin/Documents/AI01/lab-1/docs/ALGORITHM_WALKTHROUGH.md</a:t>
            </a:r>
          </a:p>
          <a:p xmlns:a="http://schemas.openxmlformats.org/drawingml/2006/main">
            <a:r>
              <a:t>C:/Users/Admin/Documents/AI01/lab-1/docs/TECHNICAL_REPORT.md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bridge from the group-designed graph to the full HCMC dataset. The guarantees depend on the assumptions stated in the subtitle.</a:t>
            </a:r>
          </a:p>
          <a:p xmlns:a="http://schemas.openxmlformats.org/drawingml/2006/main">
            <a:r>
              <a:t/>
            </a:r>
          </a:p>
          <a:p xmlns:a="http://schemas.openxmlformats.org/drawingml/2006/main">
            <a:r>
              <a:t>[Sources]</a:t>
            </a:r>
          </a:p>
          <a:p xmlns:a="http://schemas.openxmlformats.org/drawingml/2006/main">
            <a:r>
              <a:t>C:/Users/Admin/Documents/AI01/lab-1/docs/TECHNICAL_REPORT.md</a:t>
            </a:r>
          </a:p>
          <a:p xmlns:a="http://schemas.openxmlformats.org/drawingml/2006/main">
            <a:r>
              <a:t>C:/Users/Admin/Documents/AI01/lab-1/docs/ALGORITHM_WALKTHROUGH.md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left-to-right through the request. The GUI never reimplements search logic; it consumes one shared backend contract.</a:t>
            </a:r>
          </a:p>
          <a:p xmlns:a="http://schemas.openxmlformats.org/drawingml/2006/main">
            <a:r>
              <a:t/>
            </a:r>
          </a:p>
          <a:p xmlns:a="http://schemas.openxmlformats.org/drawingml/2006/main">
            <a:r>
              <a:t>[Sources]</a:t>
            </a:r>
          </a:p>
          <a:p xmlns:a="http://schemas.openxmlformats.org/drawingml/2006/main">
            <a:r>
              <a:t>C:/Users/Admin/Documents/AI01/lab-1/docs/TECHNICAL_REPORT.md</a:t>
            </a:r>
          </a:p>
          <a:p xmlns:a="http://schemas.openxmlformats.org/drawingml/2006/main">
            <a:r>
              <a:t>C:/Users/Admin/Documents/AI01/lab-1/docs/DEMO_SCRIPT.md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UCS, A*, and Dijkstra agree on the minimum weighted cost. A* expands 46 fewer nodes than UCS/Dijkstra. Greedy expands only 19 nodes but returns a slightly higher weighted cost; do not generalize runtime from one machine.</a:t>
            </a:r>
          </a:p>
          <a:p xmlns:a="http://schemas.openxmlformats.org/drawingml/2006/main">
            <a:r>
              <a:t/>
            </a:r>
          </a:p>
          <a:p xmlns:a="http://schemas.openxmlformats.org/drawingml/2006/main">
            <a:r>
              <a:t>[Sources]</a:t>
            </a:r>
          </a:p>
          <a:p xmlns:a="http://schemas.openxmlformats.org/drawingml/2006/main">
            <a:r>
              <a:t>C:/Users/Admin/Documents/AI01/lab-1/lab-1-backend/docs/benchmark_results.json</a:t>
            </a:r>
          </a:p>
          <a:p xmlns:a="http://schemas.openxmlformats.org/drawingml/2006/main">
            <a:r>
              <a:t>C:/Users/Admin/Documents/AI01/lab-1/docs/TECHNICAL_REPORT.md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Ben Thanh Market to Independence Palace in the demo. Rush hour keeps the selected roads in this case, while rain changes the road sequence because time and risk penalties alter priorities.</a:t>
            </a:r>
          </a:p>
          <a:p xmlns:a="http://schemas.openxmlformats.org/drawingml/2006/main">
            <a:r>
              <a:t/>
            </a:r>
          </a:p>
          <a:p xmlns:a="http://schemas.openxmlformats.org/drawingml/2006/main">
            <a:r>
              <a:t>[Sources]</a:t>
            </a:r>
          </a:p>
          <a:p xmlns:a="http://schemas.openxmlformats.org/drawingml/2006/main">
            <a:r>
              <a:t>C:/Users/Admin/Documents/AI01/lab-1/lab-1-backend/docs/benchmark_results.json</a:t>
            </a:r>
          </a:p>
          <a:p xmlns:a="http://schemas.openxmlformats.org/drawingml/2006/main">
            <a:r>
              <a:t>C:/Users/Admin/Documents/AI01/lab-1/docs/TECHNICAL_REPORT.md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selected route, access offsets, visited/frontier/current nodes, g-h-f trace values, named congestion segment, optimality statement, and distinct alternative route.</a:t>
            </a:r>
          </a:p>
          <a:p xmlns:a="http://schemas.openxmlformats.org/drawingml/2006/main">
            <a:r>
              <a:t/>
            </a:r>
          </a:p>
          <a:p xmlns:a="http://schemas.openxmlformats.org/drawingml/2006/main">
            <a:r>
              <a:t>[Sources]</a:t>
            </a:r>
          </a:p>
          <a:p xmlns:a="http://schemas.openxmlformats.org/drawingml/2006/main">
            <a:r>
              <a:t>C:/Users/Admin/Documents/AI01/lab-1/docs/images/single-search.jpg</a:t>
            </a:r>
          </a:p>
          <a:p xmlns:a="http://schemas.openxmlformats.org/drawingml/2006/main">
            <a:r>
              <a:t>C:/Users/Admin/Documents/AI01/lab-1/docs/TECHNICAL_REPORT.md</a:t>
            </a:r>
          </a:p>
          <a:p xmlns:a="http://schemas.openxmlformats.org/drawingml/2006/main">
            <a:r>
              <a:t>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several rows during the demo so the mapped route updates. Compare cost, distance, time, expanded nodes, and runtime under identical endpoints, criterion, and traffic profile.</a:t>
            </a:r>
          </a:p>
          <a:p xmlns:a="http://schemas.openxmlformats.org/drawingml/2006/main">
            <a:r>
              <a:t/>
            </a:r>
          </a:p>
          <a:p xmlns:a="http://schemas.openxmlformats.org/drawingml/2006/main">
            <a:r>
              <a:t>[Sources]</a:t>
            </a:r>
          </a:p>
          <a:p xmlns:a="http://schemas.openxmlformats.org/drawingml/2006/main">
            <a:r>
              <a:t>C:/Users/Admin/Documents/AI01/lab-1/docs/images/algorithm-comparison.jpg</a:t>
            </a:r>
          </a:p>
          <a:p xmlns:a="http://schemas.openxmlformats.org/drawingml/2006/main">
            <a:r>
              <a:t>C:/Users/Admin/Documents/AI01/lab-1/docs/TECHNICAL_REPORT.md</a:t>
            </a:r>
          </a:p>
          <a:p xmlns:a="http://schemas.openxmlformats.org/drawingml/2006/main">
            <a:r>
              <a:t>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optimality boundary precisely: Exact is optimal for the reduced pairwise shortest-path problem, not an unrestricted physical traveling-salesperson model.</a:t>
            </a:r>
          </a:p>
          <a:p xmlns:a="http://schemas.openxmlformats.org/drawingml/2006/main">
            <a:r>
              <a:t/>
            </a:r>
          </a:p>
          <a:p xmlns:a="http://schemas.openxmlformats.org/drawingml/2006/main">
            <a:r>
              <a:t>[Sources]</a:t>
            </a:r>
          </a:p>
          <a:p xmlns:a="http://schemas.openxmlformats.org/drawingml/2006/main">
            <a:r>
              <a:t>C:/Users/Admin/Documents/AI01/lab-1/docs/TECHNICAL_REPORT.md</a:t>
            </a:r>
          </a:p>
          <a:p xmlns:a="http://schemas.openxmlformats.org/drawingml/2006/main">
            <a:r>
              <a:t>C:/Users/Admin/Documents/AI01/lab-1/lab-1-backend/docs/benchmark_results.json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four-stop case shown. Nearest costs 13.57; Exact costs 11.22. The 20.88% gap demonstrates that a locally cheapest next stop can produce a worse full tour.</a:t>
            </a:r>
          </a:p>
          <a:p xmlns:a="http://schemas.openxmlformats.org/drawingml/2006/main">
            <a:r>
              <a:t/>
            </a:r>
          </a:p>
          <a:p xmlns:a="http://schemas.openxmlformats.org/drawingml/2006/main">
            <a:r>
              <a:t>[Sources]</a:t>
            </a:r>
          </a:p>
          <a:p xmlns:a="http://schemas.openxmlformats.org/drawingml/2006/main">
            <a:r>
              <a:t>C:/Users/Admin/Documents/AI01/lab-1/docs/images/multi-route.jpg</a:t>
            </a:r>
          </a:p>
          <a:p xmlns:a="http://schemas.openxmlformats.org/drawingml/2006/main">
            <a:r>
              <a:t>C:/Users/Admin/Documents/AI01/lab-1/lab-1-backend/docs/benchmark_results.json</a:t>
            </a:r>
          </a:p>
          <a:p xmlns:a="http://schemas.openxmlformats.org/drawingml/2006/main">
            <a:r>
              <a:t>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reproducible correctness claims from benchmark observations. Mention the exhaustive audit command and the production frontend build.</a:t>
            </a:r>
          </a:p>
          <a:p xmlns:a="http://schemas.openxmlformats.org/drawingml/2006/main">
            <a:r>
              <a:t/>
            </a:r>
          </a:p>
          <a:p xmlns:a="http://schemas.openxmlformats.org/drawingml/2006/main">
            <a:r>
              <a:t>[Sources]</a:t>
            </a:r>
          </a:p>
          <a:p xmlns:a="http://schemas.openxmlformats.org/drawingml/2006/main">
            <a:r>
              <a:t>C:/Users/Admin/Documents/AI01/lab-1/lab-1-backend/docs/full_audit_results.json</a:t>
            </a:r>
          </a:p>
          <a:p xmlns:a="http://schemas.openxmlformats.org/drawingml/2006/main">
            <a:r>
              <a:t>C:/Users/Admin/Documents/AI01/lab-1/docs/TECHNICAL_REPORT.md</a:t>
            </a:r>
          </a:p>
          <a:p xmlns:a="http://schemas.openxmlformats.org/drawingml/2006/main">
            <a:r>
              <a:t>C:/Users/Admin/Documents/AI01/lab-1/lab-1-frontend/src/App.test.tsx</a:t>
            </a:r>
          </a:p>
          <a:p xmlns:a="http://schemas.openxmlformats.org/drawingml/2006/main">
            <a:r>
              <a:t>C:/Users/Admin/Documents/AI01/lab-1/lab-1-frontend/src/api.test.ts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these limits before the conclusion. They keep the realism and optimality claims honest while showing a concrete path forward.</a:t>
            </a:r>
          </a:p>
          <a:p xmlns:a="http://schemas.openxmlformats.org/drawingml/2006/main">
            <a:r>
              <a:t/>
            </a:r>
          </a:p>
          <a:p xmlns:a="http://schemas.openxmlformats.org/drawingml/2006/main">
            <a:r>
              <a:t>[Sources]</a:t>
            </a:r>
          </a:p>
          <a:p xmlns:a="http://schemas.openxmlformats.org/drawingml/2006/main">
            <a:r>
              <a:t>C:/Users/Admin/Documents/AI01/lab-1/docs/TECHNICAL_REPORT.md</a:t>
            </a:r>
          </a:p>
          <a:p xmlns:a="http://schemas.openxmlformats.org/drawingml/2006/main">
            <a:r>
              <a:t>C:/Users/Admin/Documents/AI01/lab-1/lab-1-backend/docs/full_audit_results.json</a:t>
            </a:r>
          </a:p>
          <a:p xmlns:a="http://schemas.openxmlformats.org/drawingml/2006/main">
            <a:r>
              <a:t>C:/Users/Admin/Documents/AI01/lab-1/docs/DATA_DESCRIPTION.md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linking the opening problem to the evidence: route quality depends on the objective, frontier policy, and traffic scenario; the system makes those trade-offs visible and reproducible.</a:t>
            </a:r>
          </a:p>
          <a:p xmlns:a="http://schemas.openxmlformats.org/drawingml/2006/main">
            <a:r>
              <a:t/>
            </a:r>
          </a:p>
          <a:p xmlns:a="http://schemas.openxmlformats.org/drawingml/2006/main">
            <a:r>
              <a:t>[Sources]</a:t>
            </a:r>
          </a:p>
          <a:p xmlns:a="http://schemas.openxmlformats.org/drawingml/2006/main">
            <a:r>
              <a:t>C:/Users/Admin/Documents/AI01/lab-1/docs/TECHNICAL_REPORT.md</a:t>
            </a:r>
          </a:p>
          <a:p xmlns:a="http://schemas.openxmlformats.org/drawingml/2006/main">
            <a:r>
              <a:t>C:/Users/Admin/Documents/AI01/lab-1/lab-1-backend/docs/benchmark_results.json</a:t>
            </a:r>
          </a:p>
          <a:p xmlns:a="http://schemas.openxmlformats.org/drawingml/2006/main">
            <a:r>
              <a:t>C:/Users/Admin/Documents/AI01/lab-1/lab-1-backend/docs/full_audit_results.json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f7e267db2140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874bdb11b84fdf" /><Relationship Type="http://schemas.openxmlformats.org/officeDocument/2006/relationships/slideLayout" Target="/ppt/slideLayouts/slideLayout1.xml" Id="R74dea82c9aba40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dea82c9aba40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168d77d26244ad" /><Relationship Type="http://schemas.openxmlformats.org/officeDocument/2006/relationships/notesSlide" Target="/ppt/notesSlides/notesSlide1.xml" Id="R548eae70c9e349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41f003222e4c11" /><Relationship Type="http://schemas.openxmlformats.org/officeDocument/2006/relationships/notesSlide" Target="/ppt/notesSlides/notesSlide2.xml" Id="R844d4a22488a48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3472edbd114c46" /><Relationship Type="http://schemas.openxmlformats.org/officeDocument/2006/relationships/notesSlide" Target="/ppt/notesSlides/notesSlide3.xml" Id="Rad431353cb3f44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422031e3104156" /><Relationship Type="http://schemas.openxmlformats.org/officeDocument/2006/relationships/notesSlide" Target="/ppt/notesSlides/notesSlide4.xml" Id="R8439e3cd6e8c4a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e03e696f7b44b3" /><Relationship Type="http://schemas.openxmlformats.org/officeDocument/2006/relationships/notesSlide" Target="/ppt/notesSlides/notesSlide5.xml" Id="R8dbe4aff071146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0af797bd624f86" /><Relationship Type="http://schemas.openxmlformats.org/officeDocument/2006/relationships/notesSlide" Target="/ppt/notesSlides/notesSlide6.xml" Id="Rc4af194810c743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780cf8907dc4333" /><Relationship Type="http://schemas.openxmlformats.org/officeDocument/2006/relationships/notesSlide" Target="/ppt/notesSlides/notesSlide7.xml" Id="R724193fbd1f84b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f445779ea34bc1" /><Relationship Type="http://schemas.openxmlformats.org/officeDocument/2006/relationships/notesSlide" Target="/ppt/notesSlides/notesSlide8.xml" Id="R1d123de73ab04a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ae1379b7574505" /><Relationship Type="http://schemas.openxmlformats.org/officeDocument/2006/relationships/notesSlide" Target="/ppt/notesSlides/notesSlide9.xml" Id="R4577998bd6e946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e065fdcd1f4967" /><Relationship Type="http://schemas.openxmlformats.org/officeDocument/2006/relationships/notesSlide" Target="/ppt/notesSlides/notesSlide10.xml" Id="R8ae8d4f73d9648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7499a79f49464a" /><Relationship Type="http://schemas.openxmlformats.org/officeDocument/2006/relationships/notesSlide" Target="/ppt/notesSlides/notesSlide11.xml" Id="R86ae4720cc8b4f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152eee3ca244dbc" /><Relationship Type="http://schemas.openxmlformats.org/officeDocument/2006/relationships/notesSlide" Target="/ppt/notesSlides/notesSlide12.xml" Id="Rf7d197d2414047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9742d58266f4b92" /><Relationship Type="http://schemas.openxmlformats.org/officeDocument/2006/relationships/notesSlide" Target="/ppt/notesSlides/notesSlide13.xml" Id="R1bdd3e3e3e6d41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c6040e922df4a3e" /><Relationship Type="http://schemas.openxmlformats.org/officeDocument/2006/relationships/image" Target="/ppt/media/image.jpeg" Id="Rd99bb14c5f3441e9" /><Relationship Type="http://schemas.openxmlformats.org/officeDocument/2006/relationships/notesSlide" Target="/ppt/notesSlides/notesSlide14.xml" Id="Rfcb6660da71f4e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720fe93d6ad4b7f" /><Relationship Type="http://schemas.openxmlformats.org/officeDocument/2006/relationships/image" Target="/ppt/media/image2.jpeg" Id="Re21278f2cc094981" /><Relationship Type="http://schemas.openxmlformats.org/officeDocument/2006/relationships/notesSlide" Target="/ppt/notesSlides/notesSlide15.xml" Id="Rfc15870482e348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abb1390466b4380" /><Relationship Type="http://schemas.openxmlformats.org/officeDocument/2006/relationships/notesSlide" Target="/ppt/notesSlides/notesSlide16.xml" Id="Rb63a2c6589fb427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b713ffdef4e44f8" /><Relationship Type="http://schemas.openxmlformats.org/officeDocument/2006/relationships/image" Target="/ppt/media/image3.jpeg" Id="R93bb63e2969d456b" /><Relationship Type="http://schemas.openxmlformats.org/officeDocument/2006/relationships/notesSlide" Target="/ppt/notesSlides/notesSlide17.xml" Id="R40622e8213644e0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bbd634db79c4b1d" /><Relationship Type="http://schemas.openxmlformats.org/officeDocument/2006/relationships/notesSlide" Target="/ppt/notesSlides/notesSlide18.xml" Id="R4971b6e5edea48a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2373878247044c5" /><Relationship Type="http://schemas.openxmlformats.org/officeDocument/2006/relationships/notesSlide" Target="/ppt/notesSlides/notesSlide19.xml" Id="R297cc00e5ace4c7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1c416256da04987" /><Relationship Type="http://schemas.openxmlformats.org/officeDocument/2006/relationships/notesSlide" Target="/ppt/notesSlides/notesSlide20.xml" Id="R4f20c20a5439454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6741C5F5-FB5B-42D1-AD7F-32A152EB5F04}"/>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90000"/>
              </a:lnSpc>
              <a:buNone/>
              <a:defRPr sz="6000">
                <a:solidFill>
                  <a:srgbClr val="000000"/>
                </a:solidFill>
                <a:latin typeface="Helvetica Neue"/>
                <a:ea typeface="Helvetica Neue"/>
                <a:cs typeface="Helvetica Neue"/>
              </a:defRPr>
            </a:pPr>
            <a:r>
              <a:rPr sz="4050" b="1">
                <a:solidFill>
                  <a:srgbClr val="000000"/>
                </a:solidFill>
                <a:latin typeface="Arial"/>
                <a:ea typeface="Arial"/>
                <a:cs typeface="Arial"/>
              </a:rPr>
              <a:t>Saigon Route Lab</a:t>
            </a:r>
          </a:p>
        </p:txBody>
      </p:sp>
      <p:sp>
        <p:nvSpPr>
          <p:cNvPr id="2" name="Subtitle-4-2">
            <a:extLst xmlns:a="http://schemas.openxmlformats.org/drawingml/2006/main">
              <a:ext uri="{FF2B5EF4-FFF2-40B4-BE49-F238E27FC236}">
                <a16:creationId xmlns:a16="http://schemas.microsoft.com/office/drawing/2014/main" id="{36449AA6-6DE4-4C9D-9E59-7129F4307E65}"/>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spcAft>
                <a:spcPts val="0"/>
              </a:spcAft>
              <a:buNone/>
              <a:defRPr sz="2400">
                <a:solidFill>
                  <a:srgbClr val="000000"/>
                </a:solidFill>
                <a:latin typeface="Helvetica Neue"/>
                <a:ea typeface="Helvetica Neue"/>
                <a:cs typeface="Helvetica Neue"/>
              </a:defRPr>
            </a:pPr>
            <a:r>
              <a:rPr sz="1500" b="0">
                <a:solidFill>
                  <a:srgbClr val="000000"/>
                </a:solidFill>
                <a:latin typeface="Arial"/>
                <a:ea typeface="Arial"/>
                <a:cs typeface="Arial"/>
              </a:rPr>
              <a:t>Tourist route planning across central Ho Chi Minh City</a:t>
            </a:r>
          </a:p>
        </p:txBody>
      </p:sp>
      <p:sp>
        <p:nvSpPr>
          <p:cNvPr id="3" name="Subtitle-4-3">
            <a:extLst xmlns:a="http://schemas.openxmlformats.org/drawingml/2006/main">
              <a:ext uri="{FF2B5EF4-FFF2-40B4-BE49-F238E27FC236}">
                <a16:creationId xmlns:a16="http://schemas.microsoft.com/office/drawing/2014/main" id="{9E1CAF74-650C-49C6-BCC1-AB4493ECC4E1}"/>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spcAft>
                <a:spcPts val="0"/>
              </a:spcAft>
              <a:buNone/>
              <a:defRPr sz="2400">
                <a:solidFill>
                  <a:srgbClr val="000000"/>
                </a:solidFill>
                <a:latin typeface="Helvetica Neue"/>
                <a:ea typeface="Helvetica Neue"/>
                <a:cs typeface="Helvetica Neue"/>
              </a:defRPr>
            </a:pPr>
            <a:r>
              <a:rPr sz="1200" b="1">
                <a:solidFill>
                  <a:srgbClr val="18815D"/>
                </a:solidFill>
                <a:latin typeface="Arial"/>
                <a:ea typeface="Arial"/>
                <a:cs typeface="Arial"/>
              </a:rPr>
              <a:t>GROUP 1 | AI101 LAB 1</a:t>
            </a:r>
          </a:p>
        </p:txBody>
      </p:sp>
    </p:spTree>
    <p:extLst>
      <p:ext uri="{BB962C8B-B14F-4D97-AF65-F5344CB8AC3E}">
        <p14:creationId xmlns:p14="http://schemas.microsoft.com/office/powerpoint/2010/main" val="58693941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Slide-Number-Placeholder-1-2">
            <a:extLst xmlns:a="http://schemas.openxmlformats.org/drawingml/2006/main">
              <a:ext uri="{FF2B5EF4-FFF2-40B4-BE49-F238E27FC236}">
                <a16:creationId xmlns:a16="http://schemas.microsoft.com/office/drawing/2014/main" id="{E51F1EE0-4EBC-456B-B699-152E23007BA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2</a:t>
            </a:r>
          </a:p>
        </p:txBody>
      </p:sp>
      <p:sp>
        <p:nvSpPr>
          <p:cNvPr id="2" name="Title-2-3">
            <a:extLst xmlns:a="http://schemas.openxmlformats.org/drawingml/2006/main">
              <a:ext uri="{FF2B5EF4-FFF2-40B4-BE49-F238E27FC236}">
                <a16:creationId xmlns:a16="http://schemas.microsoft.com/office/drawing/2014/main" id="{197D832E-B6FE-40CE-AA68-075F943F0BA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Five contributors, one integrated system</a:t>
            </a:r>
          </a:p>
        </p:txBody>
      </p:sp>
      <p:sp>
        <p:nvSpPr>
          <p:cNvPr id="4" name="">
            <a:extLst xmlns:a="http://schemas.openxmlformats.org/drawingml/2006/main">
              <a:ext uri="{FF2B5EF4-FFF2-40B4-BE49-F238E27FC236}">
                <a16:creationId xmlns:a16="http://schemas.microsoft.com/office/drawing/2014/main" id="{61D8CDE7-0126-4E39-AD4C-0E554B3F2025}"/>
              </a:ext>
            </a:extLst>
          </p:cNvPr>
          <p:cNvSpPr>
            <a:spLocks xmlns:a="http://schemas.openxmlformats.org/drawingml/2006/main" noGrp="1"/>
          </p:cNvSpPr>
          <p:nvPr/>
        </p:nvSpPr>
        <p:spPr>
          <a:xfrm xmlns:a="http://schemas.openxmlformats.org/drawingml/2006/main">
            <a:off x="333375" y="1952625"/>
            <a:ext cx="11525250" cy="4143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graphicFrame>
        <p:nvGraphicFramePr>
          <p:cNvPr id="12" name=""/>
          <p:cNvGraphicFramePr/>
          <p:nvPr/>
        </p:nvGraphicFramePr>
        <p:xfrm>
          <a:off xmlns:a="http://schemas.openxmlformats.org/drawingml/2006/main" x="400050" y="2095500"/>
          <a:ext xmlns:a="http://schemas.openxmlformats.org/drawingml/2006/main" cx="11391900" cy="3810000"/>
        </p:xfrm>
        <a:graphic xmlns:a="http://schemas.openxmlformats.org/drawingml/2006/main">
          <a:graphicData uri="http://schemas.openxmlformats.org/drawingml/2006/table">
            <a:tbl>
              <a:tblPr firstRow="1" bandRow="1"/>
              <a:tblGrid>
                <a:gridCol w="952500"/>
                <a:gridCol w="10439400"/>
              </a:tblGrid>
              <a:tr h="762000">
                <a:tc>
                  <a:txBody>
                    <a:bodyPr/>
                    <a:lstStyle/>
                    <a:p>
                      <a:r>
                        <a:rPr sz="1500" b="1">
                          <a:solidFill>
                            <a:srgbClr val="FFFFFF"/>
                          </a:solidFill>
                          <a:latin typeface="Arial"/>
                          <a:ea typeface="Arial"/>
                          <a:cs typeface="Arial"/>
                        </a:rPr>
                        <a:t>01</a:t>
                      </a:r>
                    </a:p>
                  </a:txBody>
                  <a:tcPr marL="76200" marR="76200" marT="66675" marB="66675" anchor="ctr">
                    <a:solidFill>
                      <a:srgbClr val="10241B"/>
                    </a:solidFill>
                  </a:tcPr>
                </a:tc>
                <a:tc>
                  <a:txBody>
                    <a:bodyPr/>
                    <a:lstStyle/>
                    <a:p>
                      <a:r>
                        <a:rPr sz="1500" b="1">
                          <a:solidFill>
                            <a:srgbClr val="FFFFFF"/>
                          </a:solidFill>
                          <a:latin typeface="Arial"/>
                          <a:ea typeface="Arial"/>
                          <a:cs typeface="Arial"/>
                        </a:rPr>
                        <a:t>Nguyễn Huy Hoàng | 24127378 | BFS, Vietnamese context, report introduction</a:t>
                      </a:r>
                    </a:p>
                  </a:txBody>
                  <a:tcPr marL="76200" marR="76200" marT="66675" marB="66675" anchor="ctr">
                    <a:solidFill>
                      <a:srgbClr val="10241B"/>
                    </a:solidFill>
                  </a:tcPr>
                </a:tc>
              </a:tr>
              <a:tr h="762000">
                <a:tc>
                  <a:txBody>
                    <a:bodyPr/>
                    <a:lstStyle/>
                    <a:p>
                      <a:r>
                        <a:rPr sz="1500">
                          <a:solidFill>
                            <a:srgbClr val="18211E"/>
                          </a:solidFill>
                          <a:latin typeface="Arial"/>
                          <a:ea typeface="Arial"/>
                          <a:cs typeface="Arial"/>
                        </a:rPr>
                        <a:t>02</a:t>
                      </a:r>
                    </a:p>
                  </a:txBody>
                  <a:tcPr marL="76200" marR="76200" marT="66675" marB="66675" anchor="ctr"/>
                </a:tc>
                <a:tc>
                  <a:txBody>
                    <a:bodyPr/>
                    <a:lstStyle/>
                    <a:p>
                      <a:r>
                        <a:rPr sz="1500">
                          <a:solidFill>
                            <a:srgbClr val="18211E"/>
                          </a:solidFill>
                          <a:latin typeface="Arial"/>
                          <a:ea typeface="Arial"/>
                          <a:cs typeface="Arial"/>
                        </a:rPr>
                        <a:t>Nguyễn Đăng Hậu | 24127167 | DFS, graph model, dataset, cost function</a:t>
                      </a:r>
                    </a:p>
                  </a:txBody>
                  <a:tcPr marL="76200" marR="76200" marT="66675" marB="66675" anchor="ctr"/>
                </a:tc>
              </a:tr>
              <a:tr h="762000">
                <a:tc>
                  <a:txBody>
                    <a:bodyPr/>
                    <a:lstStyle/>
                    <a:p>
                      <a:r>
                        <a:rPr sz="1500">
                          <a:solidFill>
                            <a:srgbClr val="18211E"/>
                          </a:solidFill>
                          <a:latin typeface="Arial"/>
                          <a:ea typeface="Arial"/>
                          <a:cs typeface="Arial"/>
                        </a:rPr>
                        <a:t>03</a:t>
                      </a:r>
                    </a:p>
                  </a:txBody>
                  <a:tcPr marL="76200" marR="76200" marT="66675" marB="66675" anchor="ctr"/>
                </a:tc>
                <a:tc>
                  <a:txBody>
                    <a:bodyPr/>
                    <a:lstStyle/>
                    <a:p>
                      <a:r>
                        <a:rPr sz="1500">
                          <a:solidFill>
                            <a:srgbClr val="18211E"/>
                          </a:solidFill>
                          <a:latin typeface="Arial"/>
                          <a:ea typeface="Arial"/>
                          <a:cs typeface="Arial"/>
                        </a:rPr>
                        <a:t>Nguyễn Thành Trung | 24127257 | UCS, route explanation, algorithm analysis</a:t>
                      </a:r>
                    </a:p>
                  </a:txBody>
                  <a:tcPr marL="76200" marR="76200" marT="66675" marB="66675" anchor="ctr"/>
                </a:tc>
              </a:tr>
              <a:tr h="762000">
                <a:tc>
                  <a:txBody>
                    <a:bodyPr/>
                    <a:lstStyle/>
                    <a:p>
                      <a:r>
                        <a:rPr sz="1500">
                          <a:solidFill>
                            <a:srgbClr val="18211E"/>
                          </a:solidFill>
                          <a:latin typeface="Arial"/>
                          <a:ea typeface="Arial"/>
                          <a:cs typeface="Arial"/>
                        </a:rPr>
                        <a:t>04</a:t>
                      </a:r>
                    </a:p>
                  </a:txBody>
                  <a:tcPr marL="76200" marR="76200" marT="66675" marB="66675" anchor="ctr"/>
                </a:tc>
                <a:tc>
                  <a:txBody>
                    <a:bodyPr/>
                    <a:lstStyle/>
                    <a:p>
                      <a:r>
                        <a:rPr sz="1500">
                          <a:solidFill>
                            <a:srgbClr val="18211E"/>
                          </a:solidFill>
                          <a:latin typeface="Arial"/>
                          <a:ea typeface="Arial"/>
                          <a:cs typeface="Arial"/>
                        </a:rPr>
                        <a:t>Phùng Bảo Khang | 24127052 | A*, heuristic, GUI and visualization</a:t>
                      </a:r>
                    </a:p>
                  </a:txBody>
                  <a:tcPr marL="76200" marR="76200" marT="66675" marB="66675" anchor="ctr"/>
                </a:tc>
              </a:tr>
              <a:tr h="762000">
                <a:tc>
                  <a:txBody>
                    <a:bodyPr/>
                    <a:lstStyle/>
                    <a:p>
                      <a:r>
                        <a:rPr sz="1500">
                          <a:solidFill>
                            <a:srgbClr val="18211E"/>
                          </a:solidFill>
                          <a:latin typeface="Arial"/>
                          <a:ea typeface="Arial"/>
                          <a:cs typeface="Arial"/>
                        </a:rPr>
                        <a:t>05</a:t>
                      </a:r>
                    </a:p>
                  </a:txBody>
                  <a:tcPr marL="76200" marR="76200" marT="66675" marB="66675" anchor="ctr"/>
                </a:tc>
                <a:tc>
                  <a:txBody>
                    <a:bodyPr/>
                    <a:lstStyle/>
                    <a:p>
                      <a:r>
                        <a:rPr sz="1500">
                          <a:solidFill>
                            <a:srgbClr val="18211E"/>
                          </a:solidFill>
                          <a:latin typeface="Arial"/>
                          <a:ea typeface="Arial"/>
                          <a:cs typeface="Arial"/>
                        </a:rPr>
                        <a:t>Thái Kiệt | 24127069 | Dijkstra, Greedy, multi-location optimization</a:t>
                      </a:r>
                    </a:p>
                  </a:txBody>
                  <a:tcPr marL="76200" marR="76200" marT="66675" marB="66675" anchor="ctr"/>
                </a:tc>
              </a:tr>
            </a:tbl>
          </a:graphicData>
        </a:graphic>
      </p:graphicFrame>
    </p:spTree>
    <p:extLst>
      <p:ext uri="{BB962C8B-B14F-4D97-AF65-F5344CB8AC3E}">
        <p14:creationId xmlns:p14="http://schemas.microsoft.com/office/powerpoint/2010/main" val="30842840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Slide-Number-Placeholder-1-2">
            <a:extLst xmlns:a="http://schemas.openxmlformats.org/drawingml/2006/main">
              <a:ext uri="{FF2B5EF4-FFF2-40B4-BE49-F238E27FC236}">
                <a16:creationId xmlns:a16="http://schemas.microsoft.com/office/drawing/2014/main" id="{E51F1EE0-4EBC-456B-B699-152E23007BA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3</a:t>
            </a:r>
          </a:p>
        </p:txBody>
      </p:sp>
      <p:sp>
        <p:nvSpPr>
          <p:cNvPr id="2" name="Title-2-3">
            <a:extLst xmlns:a="http://schemas.openxmlformats.org/drawingml/2006/main">
              <a:ext uri="{FF2B5EF4-FFF2-40B4-BE49-F238E27FC236}">
                <a16:creationId xmlns:a16="http://schemas.microsoft.com/office/drawing/2014/main" id="{197D832E-B6FE-40CE-AA68-075F943F0BA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Every technical scoring requirement is implemented</a:t>
            </a:r>
          </a:p>
        </p:txBody>
      </p:sp>
      <p:sp>
        <p:nvSpPr>
          <p:cNvPr id="4" name="">
            <a:extLst xmlns:a="http://schemas.openxmlformats.org/drawingml/2006/main">
              <a:ext uri="{FF2B5EF4-FFF2-40B4-BE49-F238E27FC236}">
                <a16:creationId xmlns:a16="http://schemas.microsoft.com/office/drawing/2014/main" id="{61D8CDE7-0126-4E39-AD4C-0E554B3F2025}"/>
              </a:ext>
            </a:extLst>
          </p:cNvPr>
          <p:cNvSpPr>
            <a:spLocks xmlns:a="http://schemas.openxmlformats.org/drawingml/2006/main" noGrp="1"/>
          </p:cNvSpPr>
          <p:nvPr/>
        </p:nvSpPr>
        <p:spPr>
          <a:xfrm xmlns:a="http://schemas.openxmlformats.org/drawingml/2006/main">
            <a:off x="333375" y="1952625"/>
            <a:ext cx="11525250" cy="4143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graphicFrame>
        <p:nvGraphicFramePr>
          <p:cNvPr id="12" name=""/>
          <p:cNvGraphicFramePr/>
          <p:nvPr/>
        </p:nvGraphicFramePr>
        <p:xfrm>
          <a:off xmlns:a="http://schemas.openxmlformats.org/drawingml/2006/main" x="400050" y="2095500"/>
          <a:ext xmlns:a="http://schemas.openxmlformats.org/drawingml/2006/main" cx="11391900" cy="3810000"/>
        </p:xfrm>
        <a:graphic xmlns:a="http://schemas.openxmlformats.org/drawingml/2006/main">
          <a:graphicData uri="http://schemas.openxmlformats.org/drawingml/2006/table">
            <a:tbl>
              <a:tblPr firstRow="1" bandRow="1"/>
              <a:tblGrid>
                <a:gridCol w="952500"/>
                <a:gridCol w="10439400"/>
              </a:tblGrid>
              <a:tr h="762000">
                <a:tc>
                  <a:txBody>
                    <a:bodyPr/>
                    <a:lstStyle/>
                    <a:p>
                      <a:r>
                        <a:rPr sz="1500" b="1">
                          <a:solidFill>
                            <a:srgbClr val="FFFFFF"/>
                          </a:solidFill>
                          <a:latin typeface="Arial"/>
                          <a:ea typeface="Arial"/>
                          <a:cs typeface="Arial"/>
                        </a:rPr>
                        <a:t>01</a:t>
                      </a:r>
                    </a:p>
                  </a:txBody>
                  <a:tcPr marL="76200" marR="76200" marT="66675" marB="66675" anchor="ctr">
                    <a:solidFill>
                      <a:srgbClr val="10241B"/>
                    </a:solidFill>
                  </a:tcPr>
                </a:tc>
                <a:tc>
                  <a:txBody>
                    <a:bodyPr/>
                    <a:lstStyle/>
                    <a:p>
                      <a:r>
                        <a:rPr sz="1500" b="1">
                          <a:solidFill>
                            <a:srgbClr val="FFFFFF"/>
                          </a:solidFill>
                          <a:latin typeface="Arial"/>
                          <a:ea typeface="Arial"/>
                          <a:cs typeface="Arial"/>
                        </a:rPr>
                        <a:t>Real HCMC scenario | 24 landmarks on directed OpenStreetMap roads</a:t>
                      </a:r>
                    </a:p>
                  </a:txBody>
                  <a:tcPr marL="76200" marR="76200" marT="66675" marB="66675" anchor="ctr">
                    <a:solidFill>
                      <a:srgbClr val="10241B"/>
                    </a:solidFill>
                  </a:tcPr>
                </a:tc>
              </a:tr>
              <a:tr h="762000">
                <a:tc>
                  <a:txBody>
                    <a:bodyPr/>
                    <a:lstStyle/>
                    <a:p>
                      <a:r>
                        <a:rPr sz="1500">
                          <a:solidFill>
                            <a:srgbClr val="18211E"/>
                          </a:solidFill>
                          <a:latin typeface="Arial"/>
                          <a:ea typeface="Arial"/>
                          <a:cs typeface="Arial"/>
                        </a:rPr>
                        <a:t>02</a:t>
                      </a:r>
                    </a:p>
                  </a:txBody>
                  <a:tcPr marL="76200" marR="76200" marT="66675" marB="66675" anchor="ctr"/>
                </a:tc>
                <a:tc>
                  <a:txBody>
                    <a:bodyPr/>
                    <a:lstStyle/>
                    <a:p>
                      <a:r>
                        <a:rPr sz="1500">
                          <a:solidFill>
                            <a:srgbClr val="18211E"/>
                          </a:solidFill>
                          <a:latin typeface="Arial"/>
                          <a:ea typeface="Arial"/>
                          <a:cs typeface="Arial"/>
                        </a:rPr>
                        <a:t>Six algorithms | BFS, DFS, UCS, A*, Dijkstra, and Greedy</a:t>
                      </a:r>
                    </a:p>
                  </a:txBody>
                  <a:tcPr marL="76200" marR="76200" marT="66675" marB="66675" anchor="ctr"/>
                </a:tc>
              </a:tr>
              <a:tr h="762000">
                <a:tc>
                  <a:txBody>
                    <a:bodyPr/>
                    <a:lstStyle/>
                    <a:p>
                      <a:r>
                        <a:rPr sz="1500">
                          <a:solidFill>
                            <a:srgbClr val="18211E"/>
                          </a:solidFill>
                          <a:latin typeface="Arial"/>
                          <a:ea typeface="Arial"/>
                          <a:cs typeface="Arial"/>
                        </a:rPr>
                        <a:t>03</a:t>
                      </a:r>
                    </a:p>
                  </a:txBody>
                  <a:tcPr marL="76200" marR="76200" marT="66675" marB="66675" anchor="ctr"/>
                </a:tc>
                <a:tc>
                  <a:txBody>
                    <a:bodyPr/>
                    <a:lstStyle/>
                    <a:p>
                      <a:r>
                        <a:rPr sz="1500">
                          <a:solidFill>
                            <a:srgbClr val="18211E"/>
                          </a:solidFill>
                          <a:latin typeface="Arial"/>
                          <a:ea typeface="Arial"/>
                          <a:cs typeface="Arial"/>
                        </a:rPr>
                        <a:t>Traffic-aware cost | distance, time, congestion, and risk</a:t>
                      </a:r>
                    </a:p>
                  </a:txBody>
                  <a:tcPr marL="76200" marR="76200" marT="66675" marB="66675" anchor="ctr"/>
                </a:tc>
              </a:tr>
              <a:tr h="762000">
                <a:tc>
                  <a:txBody>
                    <a:bodyPr/>
                    <a:lstStyle/>
                    <a:p>
                      <a:r>
                        <a:rPr sz="1500">
                          <a:solidFill>
                            <a:srgbClr val="18211E"/>
                          </a:solidFill>
                          <a:latin typeface="Arial"/>
                          <a:ea typeface="Arial"/>
                          <a:cs typeface="Arial"/>
                        </a:rPr>
                        <a:t>04</a:t>
                      </a:r>
                    </a:p>
                  </a:txBody>
                  <a:tcPr marL="76200" marR="76200" marT="66675" marB="66675" anchor="ctr"/>
                </a:tc>
                <a:tc>
                  <a:txBody>
                    <a:bodyPr/>
                    <a:lstStyle/>
                    <a:p>
                      <a:r>
                        <a:rPr sz="1500">
                          <a:solidFill>
                            <a:srgbClr val="18211E"/>
                          </a:solidFill>
                          <a:latin typeface="Arial"/>
                          <a:ea typeface="Arial"/>
                          <a:cs typeface="Arial"/>
                        </a:rPr>
                        <a:t>Multi-location | Nearest Neighbor and Exact Brute Force</a:t>
                      </a:r>
                    </a:p>
                  </a:txBody>
                  <a:tcPr marL="76200" marR="76200" marT="66675" marB="66675" anchor="ctr"/>
                </a:tc>
              </a:tr>
              <a:tr h="762000">
                <a:tc>
                  <a:txBody>
                    <a:bodyPr/>
                    <a:lstStyle/>
                    <a:p>
                      <a:r>
                        <a:rPr sz="1500">
                          <a:solidFill>
                            <a:srgbClr val="18211E"/>
                          </a:solidFill>
                          <a:latin typeface="Arial"/>
                          <a:ea typeface="Arial"/>
                          <a:cs typeface="Arial"/>
                        </a:rPr>
                        <a:t>05</a:t>
                      </a:r>
                    </a:p>
                  </a:txBody>
                  <a:tcPr marL="76200" marR="76200" marT="66675" marB="66675" anchor="ctr"/>
                </a:tc>
                <a:tc>
                  <a:txBody>
                    <a:bodyPr/>
                    <a:lstStyle/>
                    <a:p>
                      <a:r>
                        <a:rPr sz="1500">
                          <a:solidFill>
                            <a:srgbClr val="18211E"/>
                          </a:solidFill>
                          <a:latin typeface="Arial"/>
                          <a:ea typeface="Arial"/>
                          <a:cs typeface="Arial"/>
                        </a:rPr>
                        <a:t>Explainable GUI | live trace, metrics, alternatives, and verification</a:t>
                      </a:r>
                    </a:p>
                  </a:txBody>
                  <a:tcPr marL="76200" marR="76200" marT="66675" marB="66675" anchor="ctr"/>
                </a:tc>
              </a:tr>
            </a:tbl>
          </a:graphicData>
        </a:graphic>
      </p:graphicFrame>
    </p:spTree>
    <p:extLst>
      <p:ext uri="{BB962C8B-B14F-4D97-AF65-F5344CB8AC3E}">
        <p14:creationId xmlns:p14="http://schemas.microsoft.com/office/powerpoint/2010/main" val="30842840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AEE7BC5F-F538-4227-9AFE-5F46FF6EA6DF}"/>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9C154A4F-649B-44F6-844D-1B7BCA9056C8}"/>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80731F04-0243-45D1-9917-79EEC79929B9}"/>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EF87057B-7BB0-463C-9BC8-47C3C0B0431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4</a:t>
            </a:r>
          </a:p>
        </p:txBody>
      </p:sp>
      <p:sp>
        <p:nvSpPr>
          <p:cNvPr id="5" name="Title-2-5">
            <a:extLst xmlns:a="http://schemas.openxmlformats.org/drawingml/2006/main">
              <a:ext uri="{FF2B5EF4-FFF2-40B4-BE49-F238E27FC236}">
                <a16:creationId xmlns:a16="http://schemas.microsoft.com/office/drawing/2014/main" id="{16708DFA-F6D4-4235-B585-0F1C181650C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A real HCMC road graph makes search measurable</a:t>
            </a:r>
          </a:p>
        </p:txBody>
      </p:sp>
      <p:sp>
        <p:nvSpPr>
          <p:cNvPr id="6" name="Content-Placeholder-9-6">
            <a:extLst xmlns:a="http://schemas.openxmlformats.org/drawingml/2006/main">
              <a:ext uri="{FF2B5EF4-FFF2-40B4-BE49-F238E27FC236}">
                <a16:creationId xmlns:a16="http://schemas.microsoft.com/office/drawing/2014/main" id="{60111738-25ED-41C3-9373-EA02CDCA6CE4}"/>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spcAft>
                <a:spcPts val="0"/>
              </a:spcAft>
              <a:buNone/>
              <a:defRPr sz="2400">
                <a:solidFill>
                  <a:srgbClr val="000000"/>
                </a:solidFill>
                <a:latin typeface="Helvetica Neue"/>
                <a:ea typeface="Helvetica Neue"/>
                <a:cs typeface="Helvetica Neue"/>
              </a:defRPr>
            </a:pPr>
            <a:r>
              <a:rPr sz="1650" b="1">
                <a:solidFill>
                  <a:srgbClr val="000000"/>
                </a:solidFill>
                <a:latin typeface="Arial"/>
                <a:ea typeface="Arial"/>
                <a:cs typeface="Arial"/>
              </a:rPr>
              <a:t>landmarks</a:t>
            </a:r>
          </a:p>
        </p:txBody>
      </p:sp>
      <p:sp>
        <p:nvSpPr>
          <p:cNvPr id="7" name="Content-Placeholder-10-7">
            <a:extLst xmlns:a="http://schemas.openxmlformats.org/drawingml/2006/main">
              <a:ext uri="{FF2B5EF4-FFF2-40B4-BE49-F238E27FC236}">
                <a16:creationId xmlns:a16="http://schemas.microsoft.com/office/drawing/2014/main" id="{BF60899C-0E67-49E9-A7C2-54D21DDA6E1E}"/>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spcAft>
                <a:spcPts val="0"/>
              </a:spcAft>
              <a:buNone/>
              <a:defRPr sz="2400">
                <a:solidFill>
                  <a:srgbClr val="000000"/>
                </a:solidFill>
                <a:latin typeface="Helvetica Neue"/>
                <a:ea typeface="Helvetica Neue"/>
                <a:cs typeface="Helvetica Neue"/>
              </a:defRPr>
            </a:pPr>
            <a:r>
              <a:rPr sz="1650" b="1">
                <a:solidFill>
                  <a:srgbClr val="000000"/>
                </a:solidFill>
                <a:latin typeface="Arial"/>
                <a:ea typeface="Arial"/>
                <a:cs typeface="Arial"/>
              </a:rPr>
              <a:t>directed edges</a:t>
            </a:r>
          </a:p>
        </p:txBody>
      </p:sp>
      <p:sp>
        <p:nvSpPr>
          <p:cNvPr id="8" name="Content-Placeholder-11-8">
            <a:extLst xmlns:a="http://schemas.openxmlformats.org/drawingml/2006/main">
              <a:ext uri="{FF2B5EF4-FFF2-40B4-BE49-F238E27FC236}">
                <a16:creationId xmlns:a16="http://schemas.microsoft.com/office/drawing/2014/main" id="{00801603-0033-494E-87B3-73327AE6D7DD}"/>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spcAft>
                <a:spcPts val="0"/>
              </a:spcAft>
              <a:buNone/>
              <a:defRPr sz="2400">
                <a:solidFill>
                  <a:srgbClr val="000000"/>
                </a:solidFill>
                <a:latin typeface="Helvetica Neue"/>
                <a:ea typeface="Helvetica Neue"/>
                <a:cs typeface="Helvetica Neue"/>
              </a:defRPr>
            </a:pPr>
            <a:r>
              <a:rPr sz="1650" b="1">
                <a:solidFill>
                  <a:srgbClr val="000000"/>
                </a:solidFill>
                <a:latin typeface="Arial"/>
                <a:ea typeface="Arial"/>
                <a:cs typeface="Arial"/>
              </a:rPr>
              <a:t>routable nodes</a:t>
            </a:r>
          </a:p>
        </p:txBody>
      </p:sp>
      <p:sp>
        <p:nvSpPr>
          <p:cNvPr id="9" name="Content-Placeholder-9-9">
            <a:extLst xmlns:a="http://schemas.openxmlformats.org/drawingml/2006/main">
              <a:ext uri="{FF2B5EF4-FFF2-40B4-BE49-F238E27FC236}">
                <a16:creationId xmlns:a16="http://schemas.microsoft.com/office/drawing/2014/main" id="{C17FADE0-BE51-437B-9BF8-16F7EB18DAD4}"/>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spcAft>
                <a:spcPts val="0"/>
              </a:spcAft>
              <a:buNone/>
              <a:defRPr sz="2400">
                <a:solidFill>
                  <a:srgbClr val="000000"/>
                </a:solidFill>
                <a:latin typeface="Helvetica Neue"/>
                <a:ea typeface="Helvetica Neue"/>
                <a:cs typeface="Helvetica Neue"/>
              </a:defRPr>
            </a:pPr>
            <a:r>
              <a:rPr sz="4800" b="1">
                <a:solidFill>
                  <a:srgbClr val="1F7A62"/>
                </a:solidFill>
                <a:latin typeface="Arial"/>
                <a:ea typeface="Arial"/>
                <a:cs typeface="Arial"/>
              </a:rPr>
              <a:t>24</a:t>
            </a:r>
          </a:p>
        </p:txBody>
      </p:sp>
      <p:sp>
        <p:nvSpPr>
          <p:cNvPr id="10" name="Content-Placeholder-9-10">
            <a:extLst xmlns:a="http://schemas.openxmlformats.org/drawingml/2006/main">
              <a:ext uri="{FF2B5EF4-FFF2-40B4-BE49-F238E27FC236}">
                <a16:creationId xmlns:a16="http://schemas.microsoft.com/office/drawing/2014/main" id="{B9160E55-CA93-4BA4-8804-F354E08B537A}"/>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spcAft>
                <a:spcPts val="0"/>
              </a:spcAft>
              <a:buNone/>
              <a:defRPr sz="2400">
                <a:solidFill>
                  <a:srgbClr val="000000"/>
                </a:solidFill>
                <a:latin typeface="Helvetica Neue"/>
                <a:ea typeface="Helvetica Neue"/>
                <a:cs typeface="Helvetica Neue"/>
              </a:defRPr>
            </a:pPr>
            <a:r>
              <a:rPr sz="4800" b="1">
                <a:solidFill>
                  <a:srgbClr val="1F7A62"/>
                </a:solidFill>
                <a:latin typeface="Arial"/>
                <a:ea typeface="Arial"/>
                <a:cs typeface="Arial"/>
              </a:rPr>
              <a:t>481</a:t>
            </a:r>
          </a:p>
        </p:txBody>
      </p:sp>
      <p:sp>
        <p:nvSpPr>
          <p:cNvPr id="11" name="Content-Placeholder-9-11">
            <a:extLst xmlns:a="http://schemas.openxmlformats.org/drawingml/2006/main">
              <a:ext uri="{FF2B5EF4-FFF2-40B4-BE49-F238E27FC236}">
                <a16:creationId xmlns:a16="http://schemas.microsoft.com/office/drawing/2014/main" id="{A4771295-E859-43C6-BE03-095DFF2AA68D}"/>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spcAft>
                <a:spcPts val="0"/>
              </a:spcAft>
              <a:buNone/>
              <a:defRPr sz="2400">
                <a:solidFill>
                  <a:srgbClr val="000000"/>
                </a:solidFill>
                <a:latin typeface="Helvetica Neue"/>
                <a:ea typeface="Helvetica Neue"/>
                <a:cs typeface="Helvetica Neue"/>
              </a:defRPr>
            </a:pPr>
            <a:r>
              <a:rPr sz="4800" b="1">
                <a:solidFill>
                  <a:srgbClr val="1F7A62"/>
                </a:solidFill>
                <a:latin typeface="Arial"/>
                <a:ea typeface="Arial"/>
                <a:cs typeface="Arial"/>
              </a:rPr>
              <a:t>995</a:t>
            </a:r>
          </a:p>
        </p:txBody>
      </p:sp>
      <p:sp>
        <p:nvSpPr>
          <p:cNvPr id="12" name="Content-Placeholder-15-12">
            <a:extLst xmlns:a="http://schemas.openxmlformats.org/drawingml/2006/main">
              <a:ext uri="{FF2B5EF4-FFF2-40B4-BE49-F238E27FC236}">
                <a16:creationId xmlns:a16="http://schemas.microsoft.com/office/drawing/2014/main" id="{AE0A8D16-7E51-4169-8984-E2E1723CA70A}"/>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HYBRID DATASET</a:t>
            </a:r>
          </a:p>
          <a:p xmlns:a="http://schemas.openxmlformats.org/drawingml/2006/main">
            <a:r>
              <a:rPr sz="1575" b="0">
                <a:solidFill>
                  <a:srgbClr val="000000"/>
                </a:solidFill>
                <a:latin typeface="Arial"/>
                <a:ea typeface="Arial"/>
                <a:cs typeface="Arial"/>
              </a:rPr>
              <a:t>OpenStreetMap supplies road geometry, classes, and directionality; deterministic profiles add traffic and risk. The graph includes 403 one-way edges and 24 unique landmark nodes.</a:t>
            </a:r>
          </a:p>
        </p:txBody>
      </p:sp>
    </p:spTree>
    <p:extLst>
      <p:ext uri="{BB962C8B-B14F-4D97-AF65-F5344CB8AC3E}">
        <p14:creationId xmlns:p14="http://schemas.microsoft.com/office/powerpoint/2010/main" val="13146785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AC7E55B-73BF-4D99-BCFE-9067390A1935}"/>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5</a:t>
            </a:r>
          </a:p>
        </p:txBody>
      </p:sp>
      <p:sp>
        <p:nvSpPr>
          <p:cNvPr id="2" name="Title-2-3">
            <a:extLst xmlns:a="http://schemas.openxmlformats.org/drawingml/2006/main">
              <a:ext uri="{FF2B5EF4-FFF2-40B4-BE49-F238E27FC236}">
                <a16:creationId xmlns:a16="http://schemas.microsoft.com/office/drawing/2014/main" id="{45FA14A7-86D8-4366-8635-C1F217EC6AA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One weighted model keeps every algorithm comparable</a:t>
            </a:r>
          </a:p>
        </p:txBody>
      </p:sp>
      <p:sp>
        <p:nvSpPr>
          <p:cNvPr id="3" name="Content-Placeholder-9-4">
            <a:extLst xmlns:a="http://schemas.openxmlformats.org/drawingml/2006/main">
              <a:ext uri="{FF2B5EF4-FFF2-40B4-BE49-F238E27FC236}">
                <a16:creationId xmlns:a16="http://schemas.microsoft.com/office/drawing/2014/main" id="{31944030-0922-40BF-BD11-5ADE68E2B6BB}"/>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Directed state space</a:t>
            </a:r>
          </a:p>
          <a:p xmlns:a="http://schemas.openxmlformats.org/drawingml/2006/main">
            <a:r>
              <a:rPr sz="1650" b="0">
                <a:solidFill>
                  <a:srgbClr val="000000"/>
                </a:solidFill>
                <a:latin typeface="Arial"/>
                <a:ea typeface="Arial"/>
                <a:cs typeface="Arial"/>
              </a:rPr>
              <a:t>State = road node. Action = follow an outgoing directed edge. Goal = the selected landmark node.</a:t>
            </a:r>
          </a:p>
        </p:txBody>
      </p:sp>
      <p:sp>
        <p:nvSpPr>
          <p:cNvPr id="4" name="Content-Placeholder-10-5">
            <a:extLst xmlns:a="http://schemas.openxmlformats.org/drawingml/2006/main">
              <a:ext uri="{FF2B5EF4-FFF2-40B4-BE49-F238E27FC236}">
                <a16:creationId xmlns:a16="http://schemas.microsoft.com/office/drawing/2014/main" id="{6F66355F-3330-4C90-9B2F-4956538C73E8}"/>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Edge evidence</a:t>
            </a:r>
          </a:p>
          <a:p xmlns:a="http://schemas.openxmlformats.org/drawingml/2006/main">
            <a:r>
              <a:rPr sz="1650" b="0">
                <a:solidFill>
                  <a:srgbClr val="000000"/>
                </a:solidFill>
                <a:latin typeface="Arial"/>
                <a:ea typeface="Arial"/>
                <a:cs typeface="Arial"/>
              </a:rPr>
              <a:t>Distance, time, congestion, risk, road type, one-way metadata, and route geometry.</a:t>
            </a:r>
          </a:p>
        </p:txBody>
      </p:sp>
      <p:sp>
        <p:nvSpPr>
          <p:cNvPr id="5" name="Content-Placeholder-9-6">
            <a:extLst xmlns:a="http://schemas.openxmlformats.org/drawingml/2006/main">
              <a:ext uri="{FF2B5EF4-FFF2-40B4-BE49-F238E27FC236}">
                <a16:creationId xmlns:a16="http://schemas.microsoft.com/office/drawing/2014/main" id="{90368695-F0E6-432E-9B0C-6982A57B3569}"/>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Weighted cost</a:t>
            </a:r>
          </a:p>
          <a:p xmlns:a="http://schemas.openxmlformats.org/drawingml/2006/main">
            <a:r>
              <a:rPr sz="1650" b="0">
                <a:solidFill>
                  <a:srgbClr val="000000"/>
                </a:solidFill>
                <a:latin typeface="Arial"/>
                <a:ea typeface="Arial"/>
                <a:cs typeface="Arial"/>
              </a:rPr>
              <a:t>C(e) = alpha*distance + beta*time + gamma*congestion + delta*risk. Every term is non-negative.</a:t>
            </a:r>
          </a:p>
        </p:txBody>
      </p:sp>
      <p:sp>
        <p:nvSpPr>
          <p:cNvPr id="6" name="Content-Placeholder-10-7">
            <a:extLst xmlns:a="http://schemas.openxmlformats.org/drawingml/2006/main">
              <a:ext uri="{FF2B5EF4-FFF2-40B4-BE49-F238E27FC236}">
                <a16:creationId xmlns:a16="http://schemas.microsoft.com/office/drawing/2014/main" id="{7DAAFF07-225E-40CC-A8E2-21C296FEE7EA}"/>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Admissible heuristic</a:t>
            </a:r>
          </a:p>
          <a:p xmlns:a="http://schemas.openxmlformats.org/drawingml/2006/main">
            <a:r>
              <a:rPr sz="1650" b="0">
                <a:solidFill>
                  <a:srgbClr val="000000"/>
                </a:solidFill>
                <a:latin typeface="Arial"/>
                <a:ea typeface="Arial"/>
                <a:cs typeface="Arial"/>
              </a:rPr>
              <a:t>h(n) = alpha*Haversine(n, goal). The complete audit found zero consistency violations.</a:t>
            </a:r>
          </a:p>
        </p:txBody>
      </p:sp>
    </p:spTree>
    <p:extLst>
      <p:ext uri="{BB962C8B-B14F-4D97-AF65-F5344CB8AC3E}">
        <p14:creationId xmlns:p14="http://schemas.microsoft.com/office/powerpoint/2010/main" val="196981358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1514C6E-29D8-4F2A-80D3-8973C7E7B4C3}"/>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6</a:t>
            </a:r>
          </a:p>
        </p:txBody>
      </p:sp>
      <p:sp>
        <p:nvSpPr>
          <p:cNvPr id="2" name="Title-2-3">
            <a:extLst xmlns:a="http://schemas.openxmlformats.org/drawingml/2006/main">
              <a:ext uri="{FF2B5EF4-FFF2-40B4-BE49-F238E27FC236}">
                <a16:creationId xmlns:a16="http://schemas.microsoft.com/office/drawing/2014/main" id="{7D9049AC-D217-4217-B32E-4837B2A0141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Profiles and objectives change costs, not topology</a:t>
            </a:r>
          </a:p>
        </p:txBody>
      </p:sp>
      <p:sp>
        <p:nvSpPr>
          <p:cNvPr id="3" name="Content-Placeholder-9-4">
            <a:extLst xmlns:a="http://schemas.openxmlformats.org/drawingml/2006/main">
              <a:ext uri="{FF2B5EF4-FFF2-40B4-BE49-F238E27FC236}">
                <a16:creationId xmlns:a16="http://schemas.microsoft.com/office/drawing/2014/main" id="{CBD676C1-88C3-4641-AC19-0E1FE95FE096}"/>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Normal</a:t>
            </a:r>
          </a:p>
          <a:p xmlns:a="http://schemas.openxmlformats.org/drawingml/2006/main">
            <a:r>
              <a:rPr sz="1575" b="0">
                <a:solidFill>
                  <a:srgbClr val="000000"/>
                </a:solidFill>
                <a:latin typeface="Arial"/>
                <a:ea typeface="Arial"/>
                <a:cs typeface="Arial"/>
              </a:rPr>
              <a:t>Base road-class travel time</a:t>
            </a:r>
          </a:p>
          <a:p xmlns:a="http://schemas.openxmlformats.org/drawingml/2006/main">
            <a:r>
              <a:rPr sz="1575" b="0">
                <a:solidFill>
                  <a:srgbClr val="000000"/>
                </a:solidFill>
                <a:latin typeface="Arial"/>
                <a:ea typeface="Arial"/>
                <a:cs typeface="Arial"/>
              </a:rPr>
              <a:t>Base congestion and risk</a:t>
            </a:r>
          </a:p>
          <a:p xmlns:a="http://schemas.openxmlformats.org/drawingml/2006/main">
            <a:r>
              <a:rPr sz="1575" b="0">
                <a:solidFill>
                  <a:srgbClr val="000000"/>
                </a:solidFill>
                <a:latin typeface="Arial"/>
                <a:ea typeface="Arial"/>
                <a:cs typeface="Arial"/>
              </a:rPr>
              <a:t>Deterministic baseline</a:t>
            </a:r>
          </a:p>
        </p:txBody>
      </p:sp>
      <p:sp>
        <p:nvSpPr>
          <p:cNvPr id="4" name="Content-Placeholder-10-5">
            <a:extLst xmlns:a="http://schemas.openxmlformats.org/drawingml/2006/main">
              <a:ext uri="{FF2B5EF4-FFF2-40B4-BE49-F238E27FC236}">
                <a16:creationId xmlns:a16="http://schemas.microsoft.com/office/drawing/2014/main" id="{5C4162CD-06BA-4238-B715-C926CAA4FF8F}"/>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Rush hour</a:t>
            </a:r>
          </a:p>
          <a:p xmlns:a="http://schemas.openxmlformats.org/drawingml/2006/main">
            <a:r>
              <a:rPr sz="1575" b="0">
                <a:solidFill>
                  <a:srgbClr val="000000"/>
                </a:solidFill>
                <a:latin typeface="Arial"/>
                <a:ea typeface="Arial"/>
                <a:cs typeface="Arial"/>
              </a:rPr>
              <a:t>Raises time and congestion</a:t>
            </a:r>
          </a:p>
          <a:p xmlns:a="http://schemas.openxmlformats.org/drawingml/2006/main">
            <a:r>
              <a:rPr sz="1575" b="0">
                <a:solidFill>
                  <a:srgbClr val="000000"/>
                </a:solidFill>
                <a:latin typeface="Arial"/>
                <a:ea typeface="Arial"/>
                <a:cs typeface="Arial"/>
              </a:rPr>
              <a:t>Larger multiplier on major roads</a:t>
            </a:r>
          </a:p>
          <a:p xmlns:a="http://schemas.openxmlformats.org/drawingml/2006/main">
            <a:r>
              <a:rPr sz="1575" b="0">
                <a:solidFill>
                  <a:srgbClr val="000000"/>
                </a:solidFill>
                <a:latin typeface="Arial"/>
                <a:ea typeface="Arial"/>
                <a:cs typeface="Arial"/>
              </a:rPr>
              <a:t>May keep or change the route</a:t>
            </a:r>
          </a:p>
        </p:txBody>
      </p:sp>
      <p:sp>
        <p:nvSpPr>
          <p:cNvPr id="5" name="Content-Placeholder-9-6">
            <a:extLst xmlns:a="http://schemas.openxmlformats.org/drawingml/2006/main">
              <a:ext uri="{FF2B5EF4-FFF2-40B4-BE49-F238E27FC236}">
                <a16:creationId xmlns:a16="http://schemas.microsoft.com/office/drawing/2014/main" id="{A1E511B4-B755-4F64-9B58-697E26DF89DD}"/>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Rainy</a:t>
            </a:r>
          </a:p>
          <a:p xmlns:a="http://schemas.openxmlformats.org/drawingml/2006/main">
            <a:r>
              <a:rPr sz="1575" b="0">
                <a:solidFill>
                  <a:srgbClr val="000000"/>
                </a:solidFill>
                <a:latin typeface="Arial"/>
                <a:ea typeface="Arial"/>
                <a:cs typeface="Arial"/>
              </a:rPr>
              <a:t>Raises time, congestion, and risk</a:t>
            </a:r>
          </a:p>
          <a:p xmlns:a="http://schemas.openxmlformats.org/drawingml/2006/main">
            <a:r>
              <a:rPr sz="1575" b="0">
                <a:solidFill>
                  <a:srgbClr val="000000"/>
                </a:solidFill>
                <a:latin typeface="Arial"/>
                <a:ea typeface="Arial"/>
                <a:cs typeface="Arial"/>
              </a:rPr>
              <a:t>Can alter edge priorities</a:t>
            </a:r>
          </a:p>
          <a:p xmlns:a="http://schemas.openxmlformats.org/drawingml/2006/main">
            <a:r>
              <a:rPr sz="1575" b="0">
                <a:solidFill>
                  <a:srgbClr val="000000"/>
                </a:solidFill>
                <a:latin typeface="Arial"/>
                <a:ea typeface="Arial"/>
                <a:cs typeface="Arial"/>
              </a:rPr>
              <a:t>Produces a reproducible scenario</a:t>
            </a:r>
          </a:p>
        </p:txBody>
      </p:sp>
      <p:sp>
        <p:nvSpPr>
          <p:cNvPr id="6" name="Content-Placeholder-10-7">
            <a:extLst xmlns:a="http://schemas.openxmlformats.org/drawingml/2006/main">
              <a:ext uri="{FF2B5EF4-FFF2-40B4-BE49-F238E27FC236}">
                <a16:creationId xmlns:a16="http://schemas.microsoft.com/office/drawing/2014/main" id="{2D549742-0E1C-4CA7-BFB4-27287D8014E2}"/>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Five objectives</a:t>
            </a:r>
          </a:p>
          <a:p xmlns:a="http://schemas.openxmlformats.org/drawingml/2006/main">
            <a:r>
              <a:rPr sz="1575" b="0">
                <a:solidFill>
                  <a:srgbClr val="000000"/>
                </a:solidFill>
                <a:latin typeface="Arial"/>
                <a:ea typeface="Arial"/>
                <a:cs typeface="Arial"/>
              </a:rPr>
              <a:t>Balanced | Fastest | Shortest</a:t>
            </a:r>
          </a:p>
          <a:p xmlns:a="http://schemas.openxmlformats.org/drawingml/2006/main">
            <a:r>
              <a:rPr sz="1575" b="0">
                <a:solidFill>
                  <a:srgbClr val="000000"/>
                </a:solidFill>
                <a:latin typeface="Arial"/>
                <a:ea typeface="Arial"/>
                <a:cs typeface="Arial"/>
              </a:rPr>
              <a:t>Low congestion | Low risk</a:t>
            </a:r>
          </a:p>
          <a:p xmlns:a="http://schemas.openxmlformats.org/drawingml/2006/main">
            <a:r>
              <a:rPr sz="1575" b="0">
                <a:solidFill>
                  <a:srgbClr val="000000"/>
                </a:solidFill>
                <a:latin typeface="Arial"/>
                <a:ea typeface="Arial"/>
                <a:cs typeface="Arial"/>
              </a:rPr>
              <a:t>348/552 pairs change by criterion</a:t>
            </a:r>
          </a:p>
        </p:txBody>
      </p:sp>
    </p:spTree>
    <p:extLst>
      <p:ext uri="{BB962C8B-B14F-4D97-AF65-F5344CB8AC3E}">
        <p14:creationId xmlns:p14="http://schemas.microsoft.com/office/powerpoint/2010/main" val="149928715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3" name="Google-Shape-532-p58-2">
            <a:extLst xmlns:a="http://schemas.openxmlformats.org/drawingml/2006/main">
              <a:ext uri="{FF2B5EF4-FFF2-40B4-BE49-F238E27FC236}">
                <a16:creationId xmlns:a16="http://schemas.microsoft.com/office/drawing/2014/main" id="{E4D404FF-1062-467E-B77D-9CB884F8B79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7</a:t>
            </a:r>
          </a:p>
        </p:txBody>
      </p:sp>
      <p:sp>
        <p:nvSpPr>
          <p:cNvPr id="2" name="Google-Shape-533-p58-3">
            <a:extLst xmlns:a="http://schemas.openxmlformats.org/drawingml/2006/main">
              <a:ext uri="{FF2B5EF4-FFF2-40B4-BE49-F238E27FC236}">
                <a16:creationId xmlns:a16="http://schemas.microsoft.com/office/drawing/2014/main" id="{9C91BC5C-E940-4A18-9CFB-6B9D3110A9F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0">
                <a:solidFill>
                  <a:srgbClr val="000000"/>
                </a:solidFill>
                <a:latin typeface="Arial"/>
                <a:ea typeface="Arial"/>
                <a:cs typeface="Arial"/>
              </a:rPr>
              <a:t/>
            </a:r>
          </a:p>
        </p:txBody>
      </p:sp>
      <p:sp>
        <p:nvSpPr>
          <p:cNvPr id="3" name="Picture-3-4-backing">
            <a:extLst xmlns:a="http://schemas.openxmlformats.org/drawingml/2006/main">
              <a:ext uri="{FF2B5EF4-FFF2-40B4-BE49-F238E27FC236}">
                <a16:creationId xmlns:a16="http://schemas.microsoft.com/office/drawing/2014/main" id="{8587180D-A627-4D11-9D27-809ED493AEE5}"/>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F3BFA73A-1AD4-4ACB-86CE-35E197BF1B18}"/>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Two competing routes</a:t>
            </a:r>
          </a:p>
          <a:p xmlns:a="http://schemas.openxmlformats.org/drawingml/2006/main">
            <a:r>
              <a:rPr sz="1575" b="0">
                <a:solidFill>
                  <a:srgbClr val="000000"/>
                </a:solidFill>
                <a:latin typeface="Arial"/>
                <a:ea typeface="Arial"/>
                <a:cs typeface="Arial"/>
              </a:rPr>
              <a:t>A -&gt; B -&gt; G: 2 edges, weighted cost 9</a:t>
            </a:r>
          </a:p>
          <a:p xmlns:a="http://schemas.openxmlformats.org/drawingml/2006/main">
            <a:r>
              <a:rPr sz="1575" b="0">
                <a:solidFill>
                  <a:srgbClr val="000000"/>
                </a:solidFill>
                <a:latin typeface="Arial"/>
                <a:ea typeface="Arial"/>
                <a:cs typeface="Arial"/>
              </a:rPr>
              <a:t>A -&gt; C -&gt; D -&gt; G: 3 edges, weighted cost 3</a:t>
            </a:r>
          </a:p>
          <a:p xmlns:a="http://schemas.openxmlformats.org/drawingml/2006/main">
            <a:r>
              <a:rPr sz="1575" b="0">
                <a:solidFill>
                  <a:srgbClr val="000000"/>
                </a:solidFill>
                <a:latin typeface="Arial"/>
                <a:ea typeface="Arial"/>
                <a:cs typeface="Arial"/>
              </a:rPr>
              <a:t>Adjacency at A lists B before C</a:t>
            </a:r>
          </a:p>
          <a:p xmlns:a="http://schemas.openxmlformats.org/drawingml/2006/main">
            <a:r>
              <a:rPr sz="1575" b="0">
                <a:solidFill>
                  <a:srgbClr val="000000"/>
                </a:solidFill>
                <a:latin typeface="Arial"/>
                <a:ea typeface="Arial"/>
                <a:cs typeface="Arial"/>
              </a:rPr>
              <a:t>h(A,B,C,D,G) = 2,0,2,1,0</a:t>
            </a:r>
          </a:p>
        </p:txBody>
      </p:sp>
      <p:sp>
        <p:nvSpPr>
          <p:cNvPr id="6" name="">
            <a:extLst xmlns:a="http://schemas.openxmlformats.org/drawingml/2006/main">
              <a:ext uri="{FF2B5EF4-FFF2-40B4-BE49-F238E27FC236}">
                <a16:creationId xmlns:a16="http://schemas.microsoft.com/office/drawing/2014/main" id="{092F1BEA-5A29-4BAD-9631-83B9F6A303F5}"/>
              </a:ext>
            </a:extLst>
          </p:cNvPr>
          <p:cNvSpPr>
            <a:spLocks xmlns:a="http://schemas.openxmlformats.org/drawingml/2006/main" noGrp="1"/>
          </p:cNvSpPr>
          <p:nvPr/>
        </p:nvSpPr>
        <p:spPr>
          <a:xfrm xmlns:a="http://schemas.openxmlformats.org/drawingml/2006/main">
            <a:off x="6191250" y="323850"/>
            <a:ext cx="5667375" cy="57721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7A1018F6-E3D4-4CA5-AC23-8EDFB10B9D8B}"/>
              </a:ext>
            </a:extLst>
          </p:cNvPr>
          <p:cNvSpPr>
            <a:spLocks xmlns:a="http://schemas.openxmlformats.org/drawingml/2006/main" noGrp="1"/>
          </p:cNvSpPr>
          <p:nvPr/>
        </p:nvSpPr>
        <p:spPr>
          <a:xfrm xmlns:a="http://schemas.openxmlformats.org/drawingml/2006/main">
            <a:off x="390525" y="342900"/>
            <a:ext cx="114014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buNone/>
              <a:defRPr sz="2925" b="1">
                <a:solidFill>
                  <a:srgbClr val="000000"/>
                </a:solidFill>
              </a:defRPr>
            </a:pPr>
            <a:r>
              <a:rPr sz="2925" b="1">
                <a:solidFill>
                  <a:srgbClr val="000000"/>
                </a:solidFill>
                <a:latin typeface="Arial"/>
                <a:ea typeface="Arial"/>
                <a:cs typeface="Arial"/>
              </a:rPr>
              <a:t>One example graph exposes every guarantee</a:t>
            </a:r>
          </a:p>
        </p:txBody>
      </p:sp>
      <p:sp>
        <p:nvSpPr>
          <p:cNvPr id="8" name="node-A">
            <a:extLst xmlns:a="http://schemas.openxmlformats.org/drawingml/2006/main">
              <a:ext uri="{FF2B5EF4-FFF2-40B4-BE49-F238E27FC236}">
                <a16:creationId xmlns:a16="http://schemas.microsoft.com/office/drawing/2014/main" id="{80EC1D2C-5984-4BE6-8B11-084C7D07C492}"/>
              </a:ext>
            </a:extLst>
          </p:cNvPr>
          <p:cNvSpPr>
            <a:spLocks xmlns:a="http://schemas.openxmlformats.org/drawingml/2006/main" noGrp="1"/>
          </p:cNvSpPr>
          <p:nvPr/>
        </p:nvSpPr>
        <p:spPr>
          <a:xfrm xmlns:a="http://schemas.openxmlformats.org/drawingml/2006/main">
            <a:off x="6477000" y="2781300"/>
            <a:ext cx="628650" cy="628650"/>
          </a:xfrm>
          <a:prstGeom xmlns:a="http://schemas.openxmlformats.org/drawingml/2006/main" prst="ellipse">
            <a:avLst/>
          </a:prstGeom>
          <a:solidFill xmlns:a="http://schemas.openxmlformats.org/drawingml/2006/main">
            <a:srgbClr val="10241B"/>
          </a:solidFill>
          <a:ln xmlns:a="http://schemas.openxmlformats.org/drawingml/2006/main" w="19050">
            <a:solidFill>
              <a:srgbClr val="10241B"/>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A</a:t>
            </a:r>
          </a:p>
        </p:txBody>
      </p:sp>
      <p:sp>
        <p:nvSpPr>
          <p:cNvPr id="9" name="node-B">
            <a:extLst xmlns:a="http://schemas.openxmlformats.org/drawingml/2006/main">
              <a:ext uri="{FF2B5EF4-FFF2-40B4-BE49-F238E27FC236}">
                <a16:creationId xmlns:a16="http://schemas.microsoft.com/office/drawing/2014/main" id="{9541B00D-16E7-4E27-A7AA-56924EA4F5D2}"/>
              </a:ext>
            </a:extLst>
          </p:cNvPr>
          <p:cNvSpPr>
            <a:spLocks xmlns:a="http://schemas.openxmlformats.org/drawingml/2006/main" noGrp="1"/>
          </p:cNvSpPr>
          <p:nvPr/>
        </p:nvSpPr>
        <p:spPr>
          <a:xfrm xmlns:a="http://schemas.openxmlformats.org/drawingml/2006/main">
            <a:off x="8048625" y="1571625"/>
            <a:ext cx="628650" cy="628650"/>
          </a:xfrm>
          <a:prstGeom xmlns:a="http://schemas.openxmlformats.org/drawingml/2006/main" prst="ellipse">
            <a:avLst/>
          </a:prstGeom>
          <a:solidFill xmlns:a="http://schemas.openxmlformats.org/drawingml/2006/main">
            <a:srgbClr val="1F7A62"/>
          </a:solidFill>
          <a:ln xmlns:a="http://schemas.openxmlformats.org/drawingml/2006/main" w="19050">
            <a:solidFill>
              <a:srgbClr val="10241B"/>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B</a:t>
            </a:r>
          </a:p>
        </p:txBody>
      </p:sp>
      <p:sp>
        <p:nvSpPr>
          <p:cNvPr id="10" name="node-C">
            <a:extLst xmlns:a="http://schemas.openxmlformats.org/drawingml/2006/main">
              <a:ext uri="{FF2B5EF4-FFF2-40B4-BE49-F238E27FC236}">
                <a16:creationId xmlns:a16="http://schemas.microsoft.com/office/drawing/2014/main" id="{B7E335F0-E8BA-44D1-BA5B-B0D4FFCC81AD}"/>
              </a:ext>
            </a:extLst>
          </p:cNvPr>
          <p:cNvSpPr>
            <a:spLocks xmlns:a="http://schemas.openxmlformats.org/drawingml/2006/main" noGrp="1"/>
          </p:cNvSpPr>
          <p:nvPr/>
        </p:nvSpPr>
        <p:spPr>
          <a:xfrm xmlns:a="http://schemas.openxmlformats.org/drawingml/2006/main">
            <a:off x="8048625" y="4000500"/>
            <a:ext cx="628650" cy="628650"/>
          </a:xfrm>
          <a:prstGeom xmlns:a="http://schemas.openxmlformats.org/drawingml/2006/main" prst="ellipse">
            <a:avLst/>
          </a:prstGeom>
          <a:solidFill xmlns:a="http://schemas.openxmlformats.org/drawingml/2006/main">
            <a:srgbClr val="1F7A62"/>
          </a:solidFill>
          <a:ln xmlns:a="http://schemas.openxmlformats.org/drawingml/2006/main" w="19050">
            <a:solidFill>
              <a:srgbClr val="10241B"/>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C</a:t>
            </a:r>
          </a:p>
        </p:txBody>
      </p:sp>
      <p:sp>
        <p:nvSpPr>
          <p:cNvPr id="11" name="node-D">
            <a:extLst xmlns:a="http://schemas.openxmlformats.org/drawingml/2006/main">
              <a:ext uri="{FF2B5EF4-FFF2-40B4-BE49-F238E27FC236}">
                <a16:creationId xmlns:a16="http://schemas.microsoft.com/office/drawing/2014/main" id="{6D20BBE0-8717-4295-AFBC-7C6B9CCBDD6E}"/>
              </a:ext>
            </a:extLst>
          </p:cNvPr>
          <p:cNvSpPr>
            <a:spLocks xmlns:a="http://schemas.openxmlformats.org/drawingml/2006/main" noGrp="1"/>
          </p:cNvSpPr>
          <p:nvPr/>
        </p:nvSpPr>
        <p:spPr>
          <a:xfrm xmlns:a="http://schemas.openxmlformats.org/drawingml/2006/main">
            <a:off x="9525000" y="4000500"/>
            <a:ext cx="628650" cy="628650"/>
          </a:xfrm>
          <a:prstGeom xmlns:a="http://schemas.openxmlformats.org/drawingml/2006/main" prst="ellipse">
            <a:avLst/>
          </a:prstGeom>
          <a:solidFill xmlns:a="http://schemas.openxmlformats.org/drawingml/2006/main">
            <a:srgbClr val="1F7A62"/>
          </a:solidFill>
          <a:ln xmlns:a="http://schemas.openxmlformats.org/drawingml/2006/main" w="19050">
            <a:solidFill>
              <a:srgbClr val="10241B"/>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D</a:t>
            </a:r>
          </a:p>
        </p:txBody>
      </p:sp>
      <p:sp>
        <p:nvSpPr>
          <p:cNvPr id="12" name="node-G">
            <a:extLst xmlns:a="http://schemas.openxmlformats.org/drawingml/2006/main">
              <a:ext uri="{FF2B5EF4-FFF2-40B4-BE49-F238E27FC236}">
                <a16:creationId xmlns:a16="http://schemas.microsoft.com/office/drawing/2014/main" id="{48FE8BCC-D854-4FA2-A8D7-60306608D218}"/>
              </a:ext>
            </a:extLst>
          </p:cNvPr>
          <p:cNvSpPr>
            <a:spLocks xmlns:a="http://schemas.openxmlformats.org/drawingml/2006/main" noGrp="1"/>
          </p:cNvSpPr>
          <p:nvPr/>
        </p:nvSpPr>
        <p:spPr>
          <a:xfrm xmlns:a="http://schemas.openxmlformats.org/drawingml/2006/main">
            <a:off x="10906125" y="2781300"/>
            <a:ext cx="628650" cy="628650"/>
          </a:xfrm>
          <a:prstGeom xmlns:a="http://schemas.openxmlformats.org/drawingml/2006/main" prst="ellipse">
            <a:avLst/>
          </a:prstGeom>
          <a:solidFill xmlns:a="http://schemas.openxmlformats.org/drawingml/2006/main">
            <a:srgbClr val="DD4938"/>
          </a:solidFill>
          <a:ln xmlns:a="http://schemas.openxmlformats.org/drawingml/2006/main" w="19050">
            <a:solidFill>
              <a:srgbClr val="10241B"/>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G</a:t>
            </a:r>
          </a:p>
        </p:txBody>
      </p:sp>
      <p:cxnSp>
        <p:nvCxnSpPr>
          <p:cNvPr id="66" name=""/>
          <p:cNvCxnSpPr>
            <a:stCxn xmlns:a="http://schemas.openxmlformats.org/drawingml/2006/main" id="8" idx="6"/>
            <a:endCxn xmlns:a="http://schemas.openxmlformats.org/drawingml/2006/main" id="9" idx="2"/>
          </p:cNvCxnSpPr>
          <p:nvPr/>
        </p:nvCxnSpPr>
        <p:spPr>
          <a:xfrm xmlns:a="http://schemas.openxmlformats.org/drawingml/2006/main" flipV="1">
            <a:off x="7105650" y="1885950"/>
            <a:ext cx="942975" cy="1209675"/>
          </a:xfrm>
          <a:prstGeom xmlns:a="http://schemas.openxmlformats.org/drawingml/2006/main" prst="straightConnector1">
            <a:avLst/>
          </a:prstGeom>
          <a:ln xmlns:a="http://schemas.openxmlformats.org/drawingml/2006/main" w="28575">
            <a:solidFill>
              <a:srgbClr val="6C7772"/>
            </a:solidFill>
            <a:prstDash val="solid"/>
            <a:tailEnd type="triangle" w="sm" len="sm"/>
          </a:ln>
        </p:spPr>
      </p:cxnSp>
      <p:cxnSp>
        <p:nvCxnSpPr>
          <p:cNvPr id="67" name=""/>
          <p:cNvCxnSpPr>
            <a:stCxn xmlns:a="http://schemas.openxmlformats.org/drawingml/2006/main" id="8" idx="6"/>
            <a:endCxn xmlns:a="http://schemas.openxmlformats.org/drawingml/2006/main" id="10" idx="2"/>
          </p:cNvCxnSpPr>
          <p:nvPr/>
        </p:nvCxnSpPr>
        <p:spPr>
          <a:xfrm xmlns:a="http://schemas.openxmlformats.org/drawingml/2006/main">
            <a:off x="7105650" y="3095625"/>
            <a:ext cx="942975" cy="1219200"/>
          </a:xfrm>
          <a:prstGeom xmlns:a="http://schemas.openxmlformats.org/drawingml/2006/main" prst="straightConnector1">
            <a:avLst/>
          </a:prstGeom>
          <a:ln xmlns:a="http://schemas.openxmlformats.org/drawingml/2006/main" w="28575">
            <a:solidFill>
              <a:srgbClr val="6C7772"/>
            </a:solidFill>
            <a:prstDash val="solid"/>
            <a:tailEnd type="triangle" w="sm" len="sm"/>
          </a:ln>
        </p:spPr>
      </p:cxnSp>
      <p:cxnSp>
        <p:nvCxnSpPr>
          <p:cNvPr id="68" name=""/>
          <p:cNvCxnSpPr>
            <a:stCxn xmlns:a="http://schemas.openxmlformats.org/drawingml/2006/main" id="9" idx="6"/>
            <a:endCxn xmlns:a="http://schemas.openxmlformats.org/drawingml/2006/main" id="12" idx="0"/>
          </p:cNvCxnSpPr>
          <p:nvPr/>
        </p:nvCxnSpPr>
        <p:spPr>
          <a:xfrm xmlns:a="http://schemas.openxmlformats.org/drawingml/2006/main">
            <a:off x="8677275" y="1885950"/>
            <a:ext cx="2543175" cy="895350"/>
          </a:xfrm>
          <a:prstGeom xmlns:a="http://schemas.openxmlformats.org/drawingml/2006/main" prst="straightConnector1">
            <a:avLst/>
          </a:prstGeom>
          <a:ln xmlns:a="http://schemas.openxmlformats.org/drawingml/2006/main" w="28575">
            <a:solidFill>
              <a:srgbClr val="6C7772"/>
            </a:solidFill>
            <a:prstDash val="solid"/>
            <a:tailEnd type="triangle" w="sm" len="sm"/>
          </a:ln>
        </p:spPr>
      </p:cxnSp>
      <p:cxnSp>
        <p:nvCxnSpPr>
          <p:cNvPr id="69" name=""/>
          <p:cNvCxnSpPr>
            <a:stCxn xmlns:a="http://schemas.openxmlformats.org/drawingml/2006/main" id="10" idx="6"/>
            <a:endCxn xmlns:a="http://schemas.openxmlformats.org/drawingml/2006/main" id="11" idx="2"/>
          </p:cNvCxnSpPr>
          <p:nvPr/>
        </p:nvCxnSpPr>
        <p:spPr>
          <a:xfrm xmlns:a="http://schemas.openxmlformats.org/drawingml/2006/main">
            <a:off x="8677275" y="4314825"/>
            <a:ext cx="847725" cy="0"/>
          </a:xfrm>
          <a:prstGeom xmlns:a="http://schemas.openxmlformats.org/drawingml/2006/main" prst="straightConnector1">
            <a:avLst/>
          </a:prstGeom>
          <a:ln xmlns:a="http://schemas.openxmlformats.org/drawingml/2006/main" w="28575">
            <a:solidFill>
              <a:srgbClr val="6C7772"/>
            </a:solidFill>
            <a:prstDash val="solid"/>
            <a:tailEnd type="triangle" w="sm" len="sm"/>
          </a:ln>
        </p:spPr>
      </p:cxnSp>
      <p:cxnSp>
        <p:nvCxnSpPr>
          <p:cNvPr id="70" name=""/>
          <p:cNvCxnSpPr>
            <a:stCxn xmlns:a="http://schemas.openxmlformats.org/drawingml/2006/main" id="11" idx="6"/>
            <a:endCxn xmlns:a="http://schemas.openxmlformats.org/drawingml/2006/main" id="12" idx="4"/>
          </p:cNvCxnSpPr>
          <p:nvPr/>
        </p:nvCxnSpPr>
        <p:spPr>
          <a:xfrm xmlns:a="http://schemas.openxmlformats.org/drawingml/2006/main" flipV="1">
            <a:off x="10153650" y="3409950"/>
            <a:ext cx="1066800" cy="904875"/>
          </a:xfrm>
          <a:prstGeom xmlns:a="http://schemas.openxmlformats.org/drawingml/2006/main" prst="straightConnector1">
            <a:avLst/>
          </a:prstGeom>
          <a:ln xmlns:a="http://schemas.openxmlformats.org/drawingml/2006/main" w="28575">
            <a:solidFill>
              <a:srgbClr val="6C7772"/>
            </a:solidFill>
            <a:prstDash val="solid"/>
            <a:tailEnd type="triangle" w="sm" len="sm"/>
          </a:ln>
        </p:spPr>
      </p:cxnSp>
      <p:sp>
        <p:nvSpPr>
          <p:cNvPr id="18" name="">
            <a:extLst xmlns:a="http://schemas.openxmlformats.org/drawingml/2006/main">
              <a:ext uri="{FF2B5EF4-FFF2-40B4-BE49-F238E27FC236}">
                <a16:creationId xmlns:a16="http://schemas.microsoft.com/office/drawing/2014/main" id="{B8352365-794D-433B-AE49-B53C7C55CC35}"/>
              </a:ext>
            </a:extLst>
          </p:cNvPr>
          <p:cNvSpPr>
            <a:spLocks xmlns:a="http://schemas.openxmlformats.org/drawingml/2006/main" noGrp="1"/>
          </p:cNvSpPr>
          <p:nvPr/>
        </p:nvSpPr>
        <p:spPr>
          <a:xfrm xmlns:a="http://schemas.openxmlformats.org/drawingml/2006/main">
            <a:off x="7105650" y="2000250"/>
            <a:ext cx="762000" cy="2667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DD4938"/>
                </a:solidFill>
              </a:defRPr>
            </a:pPr>
            <a:r>
              <a:rPr sz="1125" b="1">
                <a:solidFill>
                  <a:srgbClr val="DD4938"/>
                </a:solidFill>
              </a:rPr>
              <a:t>cost 8</a:t>
            </a:r>
          </a:p>
        </p:txBody>
      </p:sp>
      <p:sp>
        <p:nvSpPr>
          <p:cNvPr id="19" name="">
            <a:extLst xmlns:a="http://schemas.openxmlformats.org/drawingml/2006/main">
              <a:ext uri="{FF2B5EF4-FFF2-40B4-BE49-F238E27FC236}">
                <a16:creationId xmlns:a16="http://schemas.microsoft.com/office/drawing/2014/main" id="{EA89A494-08E8-4F4C-AE39-DA6EE15DDA9B}"/>
              </a:ext>
            </a:extLst>
          </p:cNvPr>
          <p:cNvSpPr>
            <a:spLocks xmlns:a="http://schemas.openxmlformats.org/drawingml/2006/main" noGrp="1"/>
          </p:cNvSpPr>
          <p:nvPr/>
        </p:nvSpPr>
        <p:spPr>
          <a:xfrm xmlns:a="http://schemas.openxmlformats.org/drawingml/2006/main">
            <a:off x="7105650" y="3790950"/>
            <a:ext cx="762000" cy="2667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DD4938"/>
                </a:solidFill>
              </a:defRPr>
            </a:pPr>
            <a:r>
              <a:rPr sz="1125" b="1">
                <a:solidFill>
                  <a:srgbClr val="DD4938"/>
                </a:solidFill>
              </a:rPr>
              <a:t>cost 1</a:t>
            </a:r>
          </a:p>
        </p:txBody>
      </p:sp>
      <p:sp>
        <p:nvSpPr>
          <p:cNvPr id="20" name="">
            <a:extLst xmlns:a="http://schemas.openxmlformats.org/drawingml/2006/main">
              <a:ext uri="{FF2B5EF4-FFF2-40B4-BE49-F238E27FC236}">
                <a16:creationId xmlns:a16="http://schemas.microsoft.com/office/drawing/2014/main" id="{CA8ED42F-EA51-43A5-AF30-71669B1AA51D}"/>
              </a:ext>
            </a:extLst>
          </p:cNvPr>
          <p:cNvSpPr>
            <a:spLocks xmlns:a="http://schemas.openxmlformats.org/drawingml/2006/main" noGrp="1"/>
          </p:cNvSpPr>
          <p:nvPr/>
        </p:nvSpPr>
        <p:spPr>
          <a:xfrm xmlns:a="http://schemas.openxmlformats.org/drawingml/2006/main">
            <a:off x="9572625" y="1790700"/>
            <a:ext cx="762000" cy="2667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DD4938"/>
                </a:solidFill>
              </a:defRPr>
            </a:pPr>
            <a:r>
              <a:rPr sz="1125" b="1">
                <a:solidFill>
                  <a:srgbClr val="DD4938"/>
                </a:solidFill>
              </a:rPr>
              <a:t>cost 1</a:t>
            </a:r>
          </a:p>
        </p:txBody>
      </p:sp>
      <p:sp>
        <p:nvSpPr>
          <p:cNvPr id="21" name="">
            <a:extLst xmlns:a="http://schemas.openxmlformats.org/drawingml/2006/main">
              <a:ext uri="{FF2B5EF4-FFF2-40B4-BE49-F238E27FC236}">
                <a16:creationId xmlns:a16="http://schemas.microsoft.com/office/drawing/2014/main" id="{4FE22457-5D04-4BBD-9093-5DAB21D59239}"/>
              </a:ext>
            </a:extLst>
          </p:cNvPr>
          <p:cNvSpPr>
            <a:spLocks xmlns:a="http://schemas.openxmlformats.org/drawingml/2006/main" noGrp="1"/>
          </p:cNvSpPr>
          <p:nvPr/>
        </p:nvSpPr>
        <p:spPr>
          <a:xfrm xmlns:a="http://schemas.openxmlformats.org/drawingml/2006/main">
            <a:off x="8705850" y="4171950"/>
            <a:ext cx="762000" cy="2667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DD4938"/>
                </a:solidFill>
              </a:defRPr>
            </a:pPr>
            <a:r>
              <a:rPr sz="1125" b="1">
                <a:solidFill>
                  <a:srgbClr val="DD4938"/>
                </a:solidFill>
              </a:rPr>
              <a:t>cost 1</a:t>
            </a:r>
          </a:p>
        </p:txBody>
      </p:sp>
      <p:sp>
        <p:nvSpPr>
          <p:cNvPr id="22" name="">
            <a:extLst xmlns:a="http://schemas.openxmlformats.org/drawingml/2006/main">
              <a:ext uri="{FF2B5EF4-FFF2-40B4-BE49-F238E27FC236}">
                <a16:creationId xmlns:a16="http://schemas.microsoft.com/office/drawing/2014/main" id="{92015951-708E-4012-BEB6-ED921DA4A80C}"/>
              </a:ext>
            </a:extLst>
          </p:cNvPr>
          <p:cNvSpPr>
            <a:spLocks xmlns:a="http://schemas.openxmlformats.org/drawingml/2006/main" noGrp="1"/>
          </p:cNvSpPr>
          <p:nvPr/>
        </p:nvSpPr>
        <p:spPr>
          <a:xfrm xmlns:a="http://schemas.openxmlformats.org/drawingml/2006/main">
            <a:off x="10153650" y="3771900"/>
            <a:ext cx="762000" cy="2667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DD4938"/>
                </a:solidFill>
              </a:defRPr>
            </a:pPr>
            <a:r>
              <a:rPr sz="1125" b="1">
                <a:solidFill>
                  <a:srgbClr val="DD4938"/>
                </a:solidFill>
              </a:rPr>
              <a:t>cost 1</a:t>
            </a:r>
          </a:p>
        </p:txBody>
      </p:sp>
    </p:spTree>
    <p:extLst>
      <p:ext uri="{BB962C8B-B14F-4D97-AF65-F5344CB8AC3E}">
        <p14:creationId xmlns:p14="http://schemas.microsoft.com/office/powerpoint/2010/main" val="79417450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77DC7515-F24F-4C1F-8179-7F1B3E0FF47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8</a:t>
            </a:r>
          </a:p>
        </p:txBody>
      </p:sp>
      <p:sp>
        <p:nvSpPr>
          <p:cNvPr id="2" name="Google-Shape-533-p58-3">
            <a:extLst xmlns:a="http://schemas.openxmlformats.org/drawingml/2006/main">
              <a:ext uri="{FF2B5EF4-FFF2-40B4-BE49-F238E27FC236}">
                <a16:creationId xmlns:a16="http://schemas.microsoft.com/office/drawing/2014/main" id="{8AF4C550-5299-453C-A404-755CED01252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BFS and DFS follow structure; UCS follows cost</a:t>
            </a:r>
          </a:p>
        </p:txBody>
      </p:sp>
      <p:sp>
        <p:nvSpPr>
          <p:cNvPr id="3" name="Google-Shape-534-p58-4">
            <a:extLst xmlns:a="http://schemas.openxmlformats.org/drawingml/2006/main">
              <a:ext uri="{FF2B5EF4-FFF2-40B4-BE49-F238E27FC236}">
                <a16:creationId xmlns:a16="http://schemas.microsoft.com/office/drawing/2014/main" id="{21B7BA18-52F0-4E02-B7C2-34561268D876}"/>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BFS | FIFO</a:t>
            </a:r>
          </a:p>
          <a:p xmlns:a="http://schemas.openxmlformats.org/drawingml/2006/main">
            <a:r>
              <a:rPr sz="1350" b="0">
                <a:solidFill>
                  <a:srgbClr val="000000"/>
                </a:solidFill>
                <a:latin typeface="Arial"/>
                <a:ea typeface="Arial"/>
                <a:cs typeface="Arial"/>
              </a:rPr>
              <a:t>Expand: A, B, C, G</a:t>
            </a:r>
          </a:p>
          <a:p xmlns:a="http://schemas.openxmlformats.org/drawingml/2006/main">
            <a:r>
              <a:rPr sz="1350" b="0">
                <a:solidFill>
                  <a:srgbClr val="000000"/>
                </a:solidFill>
                <a:latin typeface="Arial"/>
                <a:ea typeface="Arial"/>
                <a:cs typeface="Arial"/>
              </a:rPr>
              <a:t>Frontier: [B,C] -&gt; [C,G] -&gt; [G,D]</a:t>
            </a:r>
          </a:p>
          <a:p xmlns:a="http://schemas.openxmlformats.org/drawingml/2006/main">
            <a:r>
              <a:rPr sz="1350" b="0">
                <a:solidFill>
                  <a:srgbClr val="000000"/>
                </a:solidFill>
                <a:latin typeface="Arial"/>
                <a:ea typeface="Arial"/>
                <a:cs typeface="Arial"/>
              </a:rPr>
              <a:t>Path: A -&gt; B -&gt; G | cost 9</a:t>
            </a:r>
          </a:p>
          <a:p xmlns:a="http://schemas.openxmlformats.org/drawingml/2006/main">
            <a:r>
              <a:rPr sz="1350" b="0">
                <a:solidFill>
                  <a:srgbClr val="000000"/>
                </a:solidFill>
                <a:latin typeface="Arial"/>
                <a:ea typeface="Arial"/>
                <a:cs typeface="Arial"/>
              </a:rPr>
              <a:t>Guarantee: minimum edge count</a:t>
            </a:r>
          </a:p>
        </p:txBody>
      </p:sp>
      <p:sp>
        <p:nvSpPr>
          <p:cNvPr id="4" name="Content-Placeholder-1-5">
            <a:extLst xmlns:a="http://schemas.openxmlformats.org/drawingml/2006/main">
              <a:ext uri="{FF2B5EF4-FFF2-40B4-BE49-F238E27FC236}">
                <a16:creationId xmlns:a16="http://schemas.microsoft.com/office/drawing/2014/main" id="{D634A5D3-3B1C-45D4-AB51-88CB6AD31F47}"/>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UCS | min g</a:t>
            </a:r>
          </a:p>
          <a:p xmlns:a="http://schemas.openxmlformats.org/drawingml/2006/main">
            <a:r>
              <a:rPr sz="1350" b="0">
                <a:solidFill>
                  <a:srgbClr val="000000"/>
                </a:solidFill>
                <a:latin typeface="Arial"/>
                <a:ea typeface="Arial"/>
                <a:cs typeface="Arial"/>
              </a:rPr>
              <a:t>Pop: A(0), C(1), D(2), G(3)</a:t>
            </a:r>
          </a:p>
          <a:p xmlns:a="http://schemas.openxmlformats.org/drawingml/2006/main">
            <a:r>
              <a:rPr sz="1350" b="0">
                <a:solidFill>
                  <a:srgbClr val="000000"/>
                </a:solidFill>
                <a:latin typeface="Arial"/>
                <a:ea typeface="Arial"/>
                <a:cs typeface="Arial"/>
              </a:rPr>
              <a:t>Frontier: C:1/B:8 -&gt; D:2/B:8</a:t>
            </a:r>
          </a:p>
          <a:p xmlns:a="http://schemas.openxmlformats.org/drawingml/2006/main">
            <a:r>
              <a:rPr sz="1350" b="0">
                <a:solidFill>
                  <a:srgbClr val="000000"/>
                </a:solidFill>
                <a:latin typeface="Arial"/>
                <a:ea typeface="Arial"/>
                <a:cs typeface="Arial"/>
              </a:rPr>
              <a:t>Path: A -&gt; C -&gt; D -&gt; G | cost 3</a:t>
            </a:r>
          </a:p>
          <a:p xmlns:a="http://schemas.openxmlformats.org/drawingml/2006/main">
            <a:r>
              <a:rPr sz="1350" b="0">
                <a:solidFill>
                  <a:srgbClr val="000000"/>
                </a:solidFill>
                <a:latin typeface="Arial"/>
                <a:ea typeface="Arial"/>
                <a:cs typeface="Arial"/>
              </a:rPr>
              <a:t>Optimal for non-negative costs</a:t>
            </a:r>
          </a:p>
        </p:txBody>
      </p:sp>
      <p:sp>
        <p:nvSpPr>
          <p:cNvPr id="5" name="Content-Placeholder-2-6">
            <a:extLst xmlns:a="http://schemas.openxmlformats.org/drawingml/2006/main">
              <a:ext uri="{FF2B5EF4-FFF2-40B4-BE49-F238E27FC236}">
                <a16:creationId xmlns:a16="http://schemas.microsoft.com/office/drawing/2014/main" id="{A2C6E042-7F97-4768-82CE-38399AB06B5D}"/>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DFS | LIFO</a:t>
            </a:r>
          </a:p>
          <a:p xmlns:a="http://schemas.openxmlformats.org/drawingml/2006/main">
            <a:r>
              <a:rPr sz="1350" b="0">
                <a:solidFill>
                  <a:srgbClr val="000000"/>
                </a:solidFill>
                <a:latin typeface="Arial"/>
                <a:ea typeface="Arial"/>
                <a:cs typeface="Arial"/>
              </a:rPr>
              <a:t>Expand: A, B, G</a:t>
            </a:r>
          </a:p>
          <a:p xmlns:a="http://schemas.openxmlformats.org/drawingml/2006/main">
            <a:r>
              <a:rPr sz="1350" b="0">
                <a:solidFill>
                  <a:srgbClr val="000000"/>
                </a:solidFill>
                <a:latin typeface="Arial"/>
                <a:ea typeface="Arial"/>
                <a:cs typeface="Arial"/>
              </a:rPr>
              <a:t>Stack: [C,B] -&gt; [C,G]</a:t>
            </a:r>
          </a:p>
          <a:p xmlns:a="http://schemas.openxmlformats.org/drawingml/2006/main">
            <a:r>
              <a:rPr sz="1350" b="0">
                <a:solidFill>
                  <a:srgbClr val="000000"/>
                </a:solidFill>
                <a:latin typeface="Arial"/>
                <a:ea typeface="Arial"/>
                <a:cs typeface="Arial"/>
              </a:rPr>
              <a:t>Path: A -&gt; B -&gt; G | cost 9</a:t>
            </a:r>
          </a:p>
          <a:p xmlns:a="http://schemas.openxmlformats.org/drawingml/2006/main">
            <a:r>
              <a:rPr sz="1350" b="0">
                <a:solidFill>
                  <a:srgbClr val="000000"/>
                </a:solidFill>
                <a:latin typeface="Arial"/>
                <a:ea typeface="Arial"/>
                <a:cs typeface="Arial"/>
              </a:rPr>
              <a:t>Guarantee: none for route quality</a:t>
            </a:r>
          </a:p>
        </p:txBody>
      </p:sp>
    </p:spTree>
    <p:extLst>
      <p:ext uri="{BB962C8B-B14F-4D97-AF65-F5344CB8AC3E}">
        <p14:creationId xmlns:p14="http://schemas.microsoft.com/office/powerpoint/2010/main" val="5005904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3A4ACE42-8896-4B05-AC02-6AB43514659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9</a:t>
            </a:r>
          </a:p>
        </p:txBody>
      </p:sp>
      <p:sp>
        <p:nvSpPr>
          <p:cNvPr id="2" name="Google-Shape-533-p58-3">
            <a:extLst xmlns:a="http://schemas.openxmlformats.org/drawingml/2006/main">
              <a:ext uri="{FF2B5EF4-FFF2-40B4-BE49-F238E27FC236}">
                <a16:creationId xmlns:a16="http://schemas.microsoft.com/office/drawing/2014/main" id="{F0CB2B04-42C9-4596-ADCF-0A421C5AC9B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A-star balances g+h; Greedy ignores accumulated cost</a:t>
            </a:r>
          </a:p>
        </p:txBody>
      </p:sp>
      <p:sp>
        <p:nvSpPr>
          <p:cNvPr id="3" name="Google-Shape-534-p58-4">
            <a:extLst xmlns:a="http://schemas.openxmlformats.org/drawingml/2006/main">
              <a:ext uri="{FF2B5EF4-FFF2-40B4-BE49-F238E27FC236}">
                <a16:creationId xmlns:a16="http://schemas.microsoft.com/office/drawing/2014/main" id="{D81FC0A7-8823-4A4F-8EFC-DA4B4AD296F7}"/>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A* | g+h</a:t>
            </a:r>
          </a:p>
          <a:p xmlns:a="http://schemas.openxmlformats.org/drawingml/2006/main">
            <a:r>
              <a:rPr sz="1350" b="0">
                <a:solidFill>
                  <a:srgbClr val="000000"/>
                </a:solidFill>
                <a:latin typeface="Arial"/>
                <a:ea typeface="Arial"/>
                <a:cs typeface="Arial"/>
              </a:rPr>
              <a:t>Pop f: A(2), C(3), D(3), G(3)</a:t>
            </a:r>
          </a:p>
          <a:p xmlns:a="http://schemas.openxmlformats.org/drawingml/2006/main">
            <a:r>
              <a:rPr sz="1350" b="0">
                <a:solidFill>
                  <a:srgbClr val="000000"/>
                </a:solidFill>
                <a:latin typeface="Arial"/>
                <a:ea typeface="Arial"/>
                <a:cs typeface="Arial"/>
              </a:rPr>
              <a:t>g/h/f: A 0/2/2; C 1/2/3</a:t>
            </a:r>
          </a:p>
          <a:p xmlns:a="http://schemas.openxmlformats.org/drawingml/2006/main">
            <a:r>
              <a:rPr sz="1350" b="0">
                <a:solidFill>
                  <a:srgbClr val="000000"/>
                </a:solidFill>
                <a:latin typeface="Arial"/>
                <a:ea typeface="Arial"/>
                <a:cs typeface="Arial"/>
              </a:rPr>
              <a:t>D 2/1/3; G 3/0/3 | cost 3</a:t>
            </a:r>
          </a:p>
          <a:p xmlns:a="http://schemas.openxmlformats.org/drawingml/2006/main">
            <a:r>
              <a:rPr sz="1350" b="0">
                <a:solidFill>
                  <a:srgbClr val="000000"/>
                </a:solidFill>
                <a:latin typeface="Arial"/>
                <a:ea typeface="Arial"/>
                <a:cs typeface="Arial"/>
              </a:rPr>
              <a:t>Optimal with admissible, consistent h</a:t>
            </a:r>
          </a:p>
        </p:txBody>
      </p:sp>
      <p:sp>
        <p:nvSpPr>
          <p:cNvPr id="4" name="Content-Placeholder-1-5">
            <a:extLst xmlns:a="http://schemas.openxmlformats.org/drawingml/2006/main">
              <a:ext uri="{FF2B5EF4-FFF2-40B4-BE49-F238E27FC236}">
                <a16:creationId xmlns:a16="http://schemas.microsoft.com/office/drawing/2014/main" id="{3ACAFC61-C5AB-45EF-A918-800FA2FFA34C}"/>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Greedy | h</a:t>
            </a:r>
          </a:p>
          <a:p xmlns:a="http://schemas.openxmlformats.org/drawingml/2006/main">
            <a:r>
              <a:rPr sz="1350" b="0">
                <a:solidFill>
                  <a:srgbClr val="000000"/>
                </a:solidFill>
                <a:latin typeface="Arial"/>
                <a:ea typeface="Arial"/>
                <a:cs typeface="Arial"/>
              </a:rPr>
              <a:t>Pop h: A(2), B(0), G(0)</a:t>
            </a:r>
          </a:p>
          <a:p xmlns:a="http://schemas.openxmlformats.org/drawingml/2006/main">
            <a:r>
              <a:rPr sz="1350" b="0">
                <a:solidFill>
                  <a:srgbClr val="000000"/>
                </a:solidFill>
                <a:latin typeface="Arial"/>
                <a:ea typeface="Arial"/>
                <a:cs typeface="Arial"/>
              </a:rPr>
              <a:t>Frontier: B:0/C:2 -&gt; G:0/C:2</a:t>
            </a:r>
          </a:p>
          <a:p xmlns:a="http://schemas.openxmlformats.org/drawingml/2006/main">
            <a:r>
              <a:rPr sz="1350" b="0">
                <a:solidFill>
                  <a:srgbClr val="000000"/>
                </a:solidFill>
                <a:latin typeface="Arial"/>
                <a:ea typeface="Arial"/>
                <a:cs typeface="Arial"/>
              </a:rPr>
              <a:t>Path: A -&gt; B -&gt; G | cost 9</a:t>
            </a:r>
          </a:p>
          <a:p xmlns:a="http://schemas.openxmlformats.org/drawingml/2006/main">
            <a:r>
              <a:rPr sz="1350" b="0">
                <a:solidFill>
                  <a:srgbClr val="000000"/>
                </a:solidFill>
                <a:latin typeface="Arial"/>
                <a:ea typeface="Arial"/>
                <a:cs typeface="Arial"/>
              </a:rPr>
              <a:t>Fast here, but not cost-optimal</a:t>
            </a:r>
          </a:p>
        </p:txBody>
      </p:sp>
      <p:sp>
        <p:nvSpPr>
          <p:cNvPr id="5" name="Content-Placeholder-2-6">
            <a:extLst xmlns:a="http://schemas.openxmlformats.org/drawingml/2006/main">
              <a:ext uri="{FF2B5EF4-FFF2-40B4-BE49-F238E27FC236}">
                <a16:creationId xmlns:a16="http://schemas.microsoft.com/office/drawing/2014/main" id="{BA8409B7-E633-48A3-BE34-13430C4BD8AB}"/>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Dijkstra | g</a:t>
            </a:r>
          </a:p>
          <a:p xmlns:a="http://schemas.openxmlformats.org/drawingml/2006/main">
            <a:r>
              <a:rPr sz="1350" b="0">
                <a:solidFill>
                  <a:srgbClr val="000000"/>
                </a:solidFill>
                <a:latin typeface="Arial"/>
                <a:ea typeface="Arial"/>
                <a:cs typeface="Arial"/>
              </a:rPr>
              <a:t>Pop: A(0), C(1), D(2), G(3)</a:t>
            </a:r>
          </a:p>
          <a:p xmlns:a="http://schemas.openxmlformats.org/drawingml/2006/main">
            <a:r>
              <a:rPr sz="1350" b="0">
                <a:solidFill>
                  <a:srgbClr val="000000"/>
                </a:solidFill>
                <a:latin typeface="Arial"/>
                <a:ea typeface="Arial"/>
                <a:cs typeface="Arial"/>
              </a:rPr>
              <a:t>Same one-goal order as UCS here</a:t>
            </a:r>
          </a:p>
          <a:p xmlns:a="http://schemas.openxmlformats.org/drawingml/2006/main">
            <a:r>
              <a:rPr sz="1350" b="0">
                <a:solidFill>
                  <a:srgbClr val="000000"/>
                </a:solidFill>
                <a:latin typeface="Arial"/>
                <a:ea typeface="Arial"/>
                <a:cs typeface="Arial"/>
              </a:rPr>
              <a:t>Path: A -&gt; C -&gt; D -&gt; G | cost 3</a:t>
            </a:r>
          </a:p>
          <a:p xmlns:a="http://schemas.openxmlformats.org/drawingml/2006/main">
            <a:r>
              <a:rPr sz="1350" b="0">
                <a:solidFill>
                  <a:srgbClr val="000000"/>
                </a:solidFill>
                <a:latin typeface="Arial"/>
                <a:ea typeface="Arial"/>
                <a:cs typeface="Arial"/>
              </a:rPr>
              <a:t>Also provides single-source caching</a:t>
            </a:r>
          </a:p>
        </p:txBody>
      </p:sp>
    </p:spTree>
    <p:extLst>
      <p:ext uri="{BB962C8B-B14F-4D97-AF65-F5344CB8AC3E}">
        <p14:creationId xmlns:p14="http://schemas.microsoft.com/office/powerpoint/2010/main" val="11280219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CCE1C40F-E17A-4E41-AD6E-2164867262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10</a:t>
            </a:r>
          </a:p>
        </p:txBody>
      </p:sp>
      <p:sp>
        <p:nvSpPr>
          <p:cNvPr id="2" name="Google-Shape-533-p58-3">
            <a:extLst xmlns:a="http://schemas.openxmlformats.org/drawingml/2006/main">
              <a:ext uri="{FF2B5EF4-FFF2-40B4-BE49-F238E27FC236}">
                <a16:creationId xmlns:a16="http://schemas.microsoft.com/office/drawing/2014/main" id="{95F7E85C-DA75-47BF-800C-0F95FA17421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Frontier priority determines the guarantee</a:t>
            </a:r>
          </a:p>
        </p:txBody>
      </p:sp>
      <p:sp>
        <p:nvSpPr>
          <p:cNvPr id="3" name="Content-Placeholder-15-4">
            <a:extLst xmlns:a="http://schemas.openxmlformats.org/drawingml/2006/main">
              <a:ext uri="{FF2B5EF4-FFF2-40B4-BE49-F238E27FC236}">
                <a16:creationId xmlns:a16="http://schemas.microsoft.com/office/drawing/2014/main" id="{812A26FC-B3E6-4E33-8287-B7460A886FA5}"/>
              </a:ext>
            </a:extLst>
          </p:cNvPr>
          <p:cNvSpPr>
            <a:spLocks xmlns:a="http://schemas.openxmlformats.org/drawingml/2006/main" noGrp="1"/>
          </p:cNvSpPr>
          <p:nvPr/>
        </p:nvSpPr>
        <p:spPr>
          <a:xfrm xmlns:a="http://schemas.openxmlformats.org/drawingml/2006/main">
            <a:off x="400907" y="1057466"/>
            <a:ext cx="11404568" cy="1012222"/>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THEORY</a:t>
            </a:r>
          </a:p>
          <a:p xmlns:a="http://schemas.openxmlformats.org/drawingml/2006/main">
            <a:r>
              <a:rPr sz="1500" b="0">
                <a:solidFill>
                  <a:srgbClr val="000000"/>
                </a:solidFill>
                <a:latin typeface="Arial"/>
                <a:ea typeface="Arial"/>
                <a:cs typeface="Arial"/>
              </a:rPr>
              <a:t>Finite graph, deterministic tie-breaking, non-negative edge costs; A* uses an admissible Haversine lower bound.</a:t>
            </a:r>
          </a:p>
        </p:txBody>
      </p:sp>
      <p:sp>
        <p:nvSpPr>
          <p:cNvPr id="5" name="">
            <a:extLst xmlns:a="http://schemas.openxmlformats.org/drawingml/2006/main">
              <a:ext uri="{FF2B5EF4-FFF2-40B4-BE49-F238E27FC236}">
                <a16:creationId xmlns:a16="http://schemas.microsoft.com/office/drawing/2014/main" id="{F72CE714-C176-4F7E-9347-8DCDE22CF888}"/>
              </a:ext>
            </a:extLst>
          </p:cNvPr>
          <p:cNvSpPr>
            <a:spLocks xmlns:a="http://schemas.openxmlformats.org/drawingml/2006/main" noGrp="1"/>
          </p:cNvSpPr>
          <p:nvPr/>
        </p:nvSpPr>
        <p:spPr>
          <a:xfrm xmlns:a="http://schemas.openxmlformats.org/drawingml/2006/main">
            <a:off x="333375" y="2143125"/>
            <a:ext cx="11525250" cy="4095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graphicFrame>
        <p:nvGraphicFramePr>
          <p:cNvPr id="14" name=""/>
          <p:cNvGraphicFramePr/>
          <p:nvPr/>
        </p:nvGraphicFramePr>
        <p:xfrm>
          <a:off xmlns:a="http://schemas.openxmlformats.org/drawingml/2006/main" x="400050" y="2247900"/>
          <a:ext xmlns:a="http://schemas.openxmlformats.org/drawingml/2006/main" cx="11391900" cy="3905250"/>
        </p:xfrm>
        <a:graphic xmlns:a="http://schemas.openxmlformats.org/drawingml/2006/main">
          <a:graphicData uri="http://schemas.openxmlformats.org/drawingml/2006/table">
            <a:tbl>
              <a:tblPr firstRow="1" bandRow="1"/>
              <a:tblGrid>
                <a:gridCol w="1809750"/>
                <a:gridCol w="1952625"/>
                <a:gridCol w="1762125"/>
                <a:gridCol w="2857500"/>
                <a:gridCol w="3009900"/>
              </a:tblGrid>
              <a:tr h="557893">
                <a:tc>
                  <a:txBody>
                    <a:bodyPr/>
                    <a:lstStyle/>
                    <a:p>
                      <a:r>
                        <a:rPr sz="1125" b="1">
                          <a:solidFill>
                            <a:srgbClr val="FFFFFF"/>
                          </a:solidFill>
                          <a:latin typeface="Arial"/>
                          <a:ea typeface="Arial"/>
                          <a:cs typeface="Arial"/>
                        </a:rPr>
                        <a:t>Algorithm</a:t>
                      </a:r>
                    </a:p>
                  </a:txBody>
                  <a:tcPr marL="76200" marR="76200" marT="66675" marB="66675" anchor="ctr">
                    <a:solidFill>
                      <a:srgbClr val="10241B"/>
                    </a:solidFill>
                  </a:tcPr>
                </a:tc>
                <a:tc>
                  <a:txBody>
                    <a:bodyPr/>
                    <a:lstStyle/>
                    <a:p>
                      <a:r>
                        <a:rPr sz="1125" b="1">
                          <a:solidFill>
                            <a:srgbClr val="FFFFFF"/>
                          </a:solidFill>
                          <a:latin typeface="Arial"/>
                          <a:ea typeface="Arial"/>
                          <a:cs typeface="Arial"/>
                        </a:rPr>
                        <a:t>Frontier key</a:t>
                      </a:r>
                    </a:p>
                  </a:txBody>
                  <a:tcPr marL="76200" marR="76200" marT="66675" marB="66675" anchor="ctr">
                    <a:solidFill>
                      <a:srgbClr val="10241B"/>
                    </a:solidFill>
                  </a:tcPr>
                </a:tc>
                <a:tc>
                  <a:txBody>
                    <a:bodyPr/>
                    <a:lstStyle/>
                    <a:p>
                      <a:r>
                        <a:rPr sz="1125" b="1">
                          <a:solidFill>
                            <a:srgbClr val="FFFFFF"/>
                          </a:solidFill>
                          <a:latin typeface="Arial"/>
                          <a:ea typeface="Arial"/>
                          <a:cs typeface="Arial"/>
                        </a:rPr>
                        <a:t>Complete here</a:t>
                      </a:r>
                    </a:p>
                  </a:txBody>
                  <a:tcPr marL="76200" marR="76200" marT="66675" marB="66675" anchor="ctr">
                    <a:solidFill>
                      <a:srgbClr val="10241B"/>
                    </a:solidFill>
                  </a:tcPr>
                </a:tc>
                <a:tc>
                  <a:txBody>
                    <a:bodyPr/>
                    <a:lstStyle/>
                    <a:p>
                      <a:r>
                        <a:rPr sz="1125" b="1">
                          <a:solidFill>
                            <a:srgbClr val="FFFFFF"/>
                          </a:solidFill>
                          <a:latin typeface="Arial"/>
                          <a:ea typeface="Arial"/>
                          <a:cs typeface="Arial"/>
                        </a:rPr>
                        <a:t>Optimality</a:t>
                      </a:r>
                    </a:p>
                  </a:txBody>
                  <a:tcPr marL="76200" marR="76200" marT="66675" marB="66675" anchor="ctr">
                    <a:solidFill>
                      <a:srgbClr val="10241B"/>
                    </a:solidFill>
                  </a:tcPr>
                </a:tc>
                <a:tc>
                  <a:txBody>
                    <a:bodyPr/>
                    <a:lstStyle/>
                    <a:p>
                      <a:r>
                        <a:rPr sz="1125" b="1">
                          <a:solidFill>
                            <a:srgbClr val="FFFFFF"/>
                          </a:solidFill>
                          <a:latin typeface="Arial"/>
                          <a:ea typeface="Arial"/>
                          <a:cs typeface="Arial"/>
                        </a:rPr>
                        <a:t>Worst-case time</a:t>
                      </a:r>
                    </a:p>
                  </a:txBody>
                  <a:tcPr marL="76200" marR="76200" marT="66675" marB="66675" anchor="ctr">
                    <a:solidFill>
                      <a:srgbClr val="10241B"/>
                    </a:solidFill>
                  </a:tcPr>
                </a:tc>
              </a:tr>
              <a:tr h="557893">
                <a:tc>
                  <a:txBody>
                    <a:bodyPr/>
                    <a:lstStyle/>
                    <a:p>
                      <a:r>
                        <a:rPr sz="1125">
                          <a:solidFill>
                            <a:srgbClr val="18211E"/>
                          </a:solidFill>
                          <a:latin typeface="Arial"/>
                          <a:ea typeface="Arial"/>
                          <a:cs typeface="Arial"/>
                        </a:rPr>
                        <a:t>BFS</a:t>
                      </a:r>
                    </a:p>
                  </a:txBody>
                  <a:tcPr marL="76200" marR="76200" marT="66675" marB="66675" anchor="ctr"/>
                </a:tc>
                <a:tc>
                  <a:txBody>
                    <a:bodyPr/>
                    <a:lstStyle/>
                    <a:p>
                      <a:r>
                        <a:rPr sz="1125">
                          <a:solidFill>
                            <a:srgbClr val="18211E"/>
                          </a:solidFill>
                          <a:latin typeface="Arial"/>
                          <a:ea typeface="Arial"/>
                          <a:cs typeface="Arial"/>
                        </a:rPr>
                        <a:t>FIFO depth</a:t>
                      </a:r>
                    </a:p>
                  </a:txBody>
                  <a:tcPr marL="76200" marR="76200" marT="66675" marB="66675" anchor="ctr"/>
                </a:tc>
                <a:tc>
                  <a:txBody>
                    <a:bodyPr/>
                    <a:lstStyle/>
                    <a:p>
                      <a:r>
                        <a:rPr sz="1125">
                          <a:solidFill>
                            <a:srgbClr val="18211E"/>
                          </a:solidFill>
                          <a:latin typeface="Arial"/>
                          <a:ea typeface="Arial"/>
                          <a:cs typeface="Arial"/>
                        </a:rPr>
                        <a:t>Yes</a:t>
                      </a:r>
                    </a:p>
                  </a:txBody>
                  <a:tcPr marL="76200" marR="76200" marT="66675" marB="66675" anchor="ctr"/>
                </a:tc>
                <a:tc>
                  <a:txBody>
                    <a:bodyPr/>
                    <a:lstStyle/>
                    <a:p>
                      <a:r>
                        <a:rPr sz="1125">
                          <a:solidFill>
                            <a:srgbClr val="18211E"/>
                          </a:solidFill>
                          <a:latin typeface="Arial"/>
                          <a:ea typeface="Arial"/>
                          <a:cs typeface="Arial"/>
                        </a:rPr>
                        <a:t>Edge count only</a:t>
                      </a:r>
                    </a:p>
                  </a:txBody>
                  <a:tcPr marL="76200" marR="76200" marT="66675" marB="66675" anchor="ctr"/>
                </a:tc>
                <a:tc>
                  <a:txBody>
                    <a:bodyPr/>
                    <a:lstStyle/>
                    <a:p>
                      <a:r>
                        <a:rPr sz="1125">
                          <a:solidFill>
                            <a:srgbClr val="18211E"/>
                          </a:solidFill>
                          <a:latin typeface="Arial"/>
                          <a:ea typeface="Arial"/>
                          <a:cs typeface="Arial"/>
                        </a:rPr>
                        <a:t>O(V + E)</a:t>
                      </a:r>
                    </a:p>
                  </a:txBody>
                  <a:tcPr marL="76200" marR="76200" marT="66675" marB="66675" anchor="ctr"/>
                </a:tc>
              </a:tr>
              <a:tr h="557893">
                <a:tc>
                  <a:txBody>
                    <a:bodyPr/>
                    <a:lstStyle/>
                    <a:p>
                      <a:r>
                        <a:rPr sz="1125">
                          <a:solidFill>
                            <a:srgbClr val="18211E"/>
                          </a:solidFill>
                          <a:latin typeface="Arial"/>
                          <a:ea typeface="Arial"/>
                          <a:cs typeface="Arial"/>
                        </a:rPr>
                        <a:t>DFS</a:t>
                      </a:r>
                    </a:p>
                  </a:txBody>
                  <a:tcPr marL="76200" marR="76200" marT="66675" marB="66675" anchor="ctr"/>
                </a:tc>
                <a:tc>
                  <a:txBody>
                    <a:bodyPr/>
                    <a:lstStyle/>
                    <a:p>
                      <a:r>
                        <a:rPr sz="1125">
                          <a:solidFill>
                            <a:srgbClr val="18211E"/>
                          </a:solidFill>
                          <a:latin typeface="Arial"/>
                          <a:ea typeface="Arial"/>
                          <a:cs typeface="Arial"/>
                        </a:rPr>
                        <a:t>LIFO depth</a:t>
                      </a:r>
                    </a:p>
                  </a:txBody>
                  <a:tcPr marL="76200" marR="76200" marT="66675" marB="66675" anchor="ctr"/>
                </a:tc>
                <a:tc>
                  <a:txBody>
                    <a:bodyPr/>
                    <a:lstStyle/>
                    <a:p>
                      <a:r>
                        <a:rPr sz="1125">
                          <a:solidFill>
                            <a:srgbClr val="18211E"/>
                          </a:solidFill>
                          <a:latin typeface="Arial"/>
                          <a:ea typeface="Arial"/>
                          <a:cs typeface="Arial"/>
                        </a:rPr>
                        <a:t>Yes, finite</a:t>
                      </a:r>
                    </a:p>
                  </a:txBody>
                  <a:tcPr marL="76200" marR="76200" marT="66675" marB="66675" anchor="ctr"/>
                </a:tc>
                <a:tc>
                  <a:txBody>
                    <a:bodyPr/>
                    <a:lstStyle/>
                    <a:p>
                      <a:r>
                        <a:rPr sz="1125">
                          <a:solidFill>
                            <a:srgbClr val="18211E"/>
                          </a:solidFill>
                          <a:latin typeface="Arial"/>
                          <a:ea typeface="Arial"/>
                          <a:cs typeface="Arial"/>
                        </a:rPr>
                        <a:t>No</a:t>
                      </a:r>
                    </a:p>
                  </a:txBody>
                  <a:tcPr marL="76200" marR="76200" marT="66675" marB="66675" anchor="ctr"/>
                </a:tc>
                <a:tc>
                  <a:txBody>
                    <a:bodyPr/>
                    <a:lstStyle/>
                    <a:p>
                      <a:r>
                        <a:rPr sz="1125">
                          <a:solidFill>
                            <a:srgbClr val="18211E"/>
                          </a:solidFill>
                          <a:latin typeface="Arial"/>
                          <a:ea typeface="Arial"/>
                          <a:cs typeface="Arial"/>
                        </a:rPr>
                        <a:t>O(V + E)</a:t>
                      </a:r>
                    </a:p>
                  </a:txBody>
                  <a:tcPr marL="76200" marR="76200" marT="66675" marB="66675" anchor="ctr"/>
                </a:tc>
              </a:tr>
              <a:tr h="557893">
                <a:tc>
                  <a:txBody>
                    <a:bodyPr/>
                    <a:lstStyle/>
                    <a:p>
                      <a:r>
                        <a:rPr sz="1125">
                          <a:solidFill>
                            <a:srgbClr val="18211E"/>
                          </a:solidFill>
                          <a:latin typeface="Arial"/>
                          <a:ea typeface="Arial"/>
                          <a:cs typeface="Arial"/>
                        </a:rPr>
                        <a:t>UCS</a:t>
                      </a:r>
                    </a:p>
                  </a:txBody>
                  <a:tcPr marL="76200" marR="76200" marT="66675" marB="66675" anchor="ctr"/>
                </a:tc>
                <a:tc>
                  <a:txBody>
                    <a:bodyPr/>
                    <a:lstStyle/>
                    <a:p>
                      <a:r>
                        <a:rPr sz="1125">
                          <a:solidFill>
                            <a:srgbClr val="18211E"/>
                          </a:solidFill>
                          <a:latin typeface="Arial"/>
                          <a:ea typeface="Arial"/>
                          <a:cs typeface="Arial"/>
                        </a:rPr>
                        <a:t>min g</a:t>
                      </a:r>
                    </a:p>
                  </a:txBody>
                  <a:tcPr marL="76200" marR="76200" marT="66675" marB="66675" anchor="ctr"/>
                </a:tc>
                <a:tc>
                  <a:txBody>
                    <a:bodyPr/>
                    <a:lstStyle/>
                    <a:p>
                      <a:r>
                        <a:rPr sz="1125">
                          <a:solidFill>
                            <a:srgbClr val="18211E"/>
                          </a:solidFill>
                          <a:latin typeface="Arial"/>
                          <a:ea typeface="Arial"/>
                          <a:cs typeface="Arial"/>
                        </a:rPr>
                        <a:t>Yes</a:t>
                      </a:r>
                    </a:p>
                  </a:txBody>
                  <a:tcPr marL="76200" marR="76200" marT="66675" marB="66675" anchor="ctr"/>
                </a:tc>
                <a:tc>
                  <a:txBody>
                    <a:bodyPr/>
                    <a:lstStyle/>
                    <a:p>
                      <a:r>
                        <a:rPr sz="1125">
                          <a:solidFill>
                            <a:srgbClr val="18211E"/>
                          </a:solidFill>
                          <a:latin typeface="Arial"/>
                          <a:ea typeface="Arial"/>
                          <a:cs typeface="Arial"/>
                        </a:rPr>
                        <a:t>Weighted cost</a:t>
                      </a:r>
                    </a:p>
                  </a:txBody>
                  <a:tcPr marL="76200" marR="76200" marT="66675" marB="66675" anchor="ctr"/>
                </a:tc>
                <a:tc>
                  <a:txBody>
                    <a:bodyPr/>
                    <a:lstStyle/>
                    <a:p>
                      <a:r>
                        <a:rPr sz="1125">
                          <a:solidFill>
                            <a:srgbClr val="18211E"/>
                          </a:solidFill>
                          <a:latin typeface="Arial"/>
                          <a:ea typeface="Arial"/>
                          <a:cs typeface="Arial"/>
                        </a:rPr>
                        <a:t>O((V+E) log V)</a:t>
                      </a:r>
                    </a:p>
                  </a:txBody>
                  <a:tcPr marL="76200" marR="76200" marT="66675" marB="66675" anchor="ctr"/>
                </a:tc>
              </a:tr>
              <a:tr h="557893">
                <a:tc>
                  <a:txBody>
                    <a:bodyPr/>
                    <a:lstStyle/>
                    <a:p>
                      <a:r>
                        <a:rPr sz="1125">
                          <a:solidFill>
                            <a:srgbClr val="18211E"/>
                          </a:solidFill>
                          <a:latin typeface="Arial"/>
                          <a:ea typeface="Arial"/>
                          <a:cs typeface="Arial"/>
                        </a:rPr>
                        <a:t>A*</a:t>
                      </a:r>
                    </a:p>
                  </a:txBody>
                  <a:tcPr marL="76200" marR="76200" marT="66675" marB="66675" anchor="ctr"/>
                </a:tc>
                <a:tc>
                  <a:txBody>
                    <a:bodyPr/>
                    <a:lstStyle/>
                    <a:p>
                      <a:r>
                        <a:rPr sz="1125">
                          <a:solidFill>
                            <a:srgbClr val="18211E"/>
                          </a:solidFill>
                          <a:latin typeface="Arial"/>
                          <a:ea typeface="Arial"/>
                          <a:cs typeface="Arial"/>
                        </a:rPr>
                        <a:t>min g+h</a:t>
                      </a:r>
                    </a:p>
                  </a:txBody>
                  <a:tcPr marL="76200" marR="76200" marT="66675" marB="66675" anchor="ctr"/>
                </a:tc>
                <a:tc>
                  <a:txBody>
                    <a:bodyPr/>
                    <a:lstStyle/>
                    <a:p>
                      <a:r>
                        <a:rPr sz="1125">
                          <a:solidFill>
                            <a:srgbClr val="18211E"/>
                          </a:solidFill>
                          <a:latin typeface="Arial"/>
                          <a:ea typeface="Arial"/>
                          <a:cs typeface="Arial"/>
                        </a:rPr>
                        <a:t>Yes</a:t>
                      </a:r>
                    </a:p>
                  </a:txBody>
                  <a:tcPr marL="76200" marR="76200" marT="66675" marB="66675" anchor="ctr"/>
                </a:tc>
                <a:tc>
                  <a:txBody>
                    <a:bodyPr/>
                    <a:lstStyle/>
                    <a:p>
                      <a:r>
                        <a:rPr sz="1125">
                          <a:solidFill>
                            <a:srgbClr val="18211E"/>
                          </a:solidFill>
                          <a:latin typeface="Arial"/>
                          <a:ea typeface="Arial"/>
                          <a:cs typeface="Arial"/>
                        </a:rPr>
                        <a:t>With admissible h</a:t>
                      </a:r>
                    </a:p>
                  </a:txBody>
                  <a:tcPr marL="76200" marR="76200" marT="66675" marB="66675" anchor="ctr"/>
                </a:tc>
                <a:tc>
                  <a:txBody>
                    <a:bodyPr/>
                    <a:lstStyle/>
                    <a:p>
                      <a:r>
                        <a:rPr sz="1125">
                          <a:solidFill>
                            <a:srgbClr val="18211E"/>
                          </a:solidFill>
                          <a:latin typeface="Arial"/>
                          <a:ea typeface="Arial"/>
                          <a:cs typeface="Arial"/>
                        </a:rPr>
                        <a:t>O((V+E) log V)</a:t>
                      </a:r>
                    </a:p>
                  </a:txBody>
                  <a:tcPr marL="76200" marR="76200" marT="66675" marB="66675" anchor="ctr"/>
                </a:tc>
              </a:tr>
              <a:tr h="557893">
                <a:tc>
                  <a:txBody>
                    <a:bodyPr/>
                    <a:lstStyle/>
                    <a:p>
                      <a:r>
                        <a:rPr sz="1125">
                          <a:solidFill>
                            <a:srgbClr val="18211E"/>
                          </a:solidFill>
                          <a:latin typeface="Arial"/>
                          <a:ea typeface="Arial"/>
                          <a:cs typeface="Arial"/>
                        </a:rPr>
                        <a:t>Dijkstra</a:t>
                      </a:r>
                    </a:p>
                  </a:txBody>
                  <a:tcPr marL="76200" marR="76200" marT="66675" marB="66675" anchor="ctr"/>
                </a:tc>
                <a:tc>
                  <a:txBody>
                    <a:bodyPr/>
                    <a:lstStyle/>
                    <a:p>
                      <a:r>
                        <a:rPr sz="1125">
                          <a:solidFill>
                            <a:srgbClr val="18211E"/>
                          </a:solidFill>
                          <a:latin typeface="Arial"/>
                          <a:ea typeface="Arial"/>
                          <a:cs typeface="Arial"/>
                        </a:rPr>
                        <a:t>min g</a:t>
                      </a:r>
                    </a:p>
                  </a:txBody>
                  <a:tcPr marL="76200" marR="76200" marT="66675" marB="66675" anchor="ctr"/>
                </a:tc>
                <a:tc>
                  <a:txBody>
                    <a:bodyPr/>
                    <a:lstStyle/>
                    <a:p>
                      <a:r>
                        <a:rPr sz="1125">
                          <a:solidFill>
                            <a:srgbClr val="18211E"/>
                          </a:solidFill>
                          <a:latin typeface="Arial"/>
                          <a:ea typeface="Arial"/>
                          <a:cs typeface="Arial"/>
                        </a:rPr>
                        <a:t>Yes</a:t>
                      </a:r>
                    </a:p>
                  </a:txBody>
                  <a:tcPr marL="76200" marR="76200" marT="66675" marB="66675" anchor="ctr"/>
                </a:tc>
                <a:tc>
                  <a:txBody>
                    <a:bodyPr/>
                    <a:lstStyle/>
                    <a:p>
                      <a:r>
                        <a:rPr sz="1125">
                          <a:solidFill>
                            <a:srgbClr val="18211E"/>
                          </a:solidFill>
                          <a:latin typeface="Arial"/>
                          <a:ea typeface="Arial"/>
                          <a:cs typeface="Arial"/>
                        </a:rPr>
                        <a:t>Weighted cost</a:t>
                      </a:r>
                    </a:p>
                  </a:txBody>
                  <a:tcPr marL="76200" marR="76200" marT="66675" marB="66675" anchor="ctr"/>
                </a:tc>
                <a:tc>
                  <a:txBody>
                    <a:bodyPr/>
                    <a:lstStyle/>
                    <a:p>
                      <a:r>
                        <a:rPr sz="1125">
                          <a:solidFill>
                            <a:srgbClr val="18211E"/>
                          </a:solidFill>
                          <a:latin typeface="Arial"/>
                          <a:ea typeface="Arial"/>
                          <a:cs typeface="Arial"/>
                        </a:rPr>
                        <a:t>O((V+E) log V)</a:t>
                      </a:r>
                    </a:p>
                  </a:txBody>
                  <a:tcPr marL="76200" marR="76200" marT="66675" marB="66675" anchor="ctr"/>
                </a:tc>
              </a:tr>
              <a:tr h="557893">
                <a:tc>
                  <a:txBody>
                    <a:bodyPr/>
                    <a:lstStyle/>
                    <a:p>
                      <a:r>
                        <a:rPr sz="1125">
                          <a:solidFill>
                            <a:srgbClr val="18211E"/>
                          </a:solidFill>
                          <a:latin typeface="Arial"/>
                          <a:ea typeface="Arial"/>
                          <a:cs typeface="Arial"/>
                        </a:rPr>
                        <a:t>Greedy</a:t>
                      </a:r>
                    </a:p>
                  </a:txBody>
                  <a:tcPr marL="76200" marR="76200" marT="66675" marB="66675" anchor="ctr"/>
                </a:tc>
                <a:tc>
                  <a:txBody>
                    <a:bodyPr/>
                    <a:lstStyle/>
                    <a:p>
                      <a:r>
                        <a:rPr sz="1125">
                          <a:solidFill>
                            <a:srgbClr val="18211E"/>
                          </a:solidFill>
                          <a:latin typeface="Arial"/>
                          <a:ea typeface="Arial"/>
                          <a:cs typeface="Arial"/>
                        </a:rPr>
                        <a:t>min h</a:t>
                      </a:r>
                    </a:p>
                  </a:txBody>
                  <a:tcPr marL="76200" marR="76200" marT="66675" marB="66675" anchor="ctr"/>
                </a:tc>
                <a:tc>
                  <a:txBody>
                    <a:bodyPr/>
                    <a:lstStyle/>
                    <a:p>
                      <a:r>
                        <a:rPr sz="1125">
                          <a:solidFill>
                            <a:srgbClr val="18211E"/>
                          </a:solidFill>
                          <a:latin typeface="Arial"/>
                          <a:ea typeface="Arial"/>
                          <a:cs typeface="Arial"/>
                        </a:rPr>
                        <a:t>Yes, finite</a:t>
                      </a:r>
                    </a:p>
                  </a:txBody>
                  <a:tcPr marL="76200" marR="76200" marT="66675" marB="66675" anchor="ctr"/>
                </a:tc>
                <a:tc>
                  <a:txBody>
                    <a:bodyPr/>
                    <a:lstStyle/>
                    <a:p>
                      <a:r>
                        <a:rPr sz="1125">
                          <a:solidFill>
                            <a:srgbClr val="18211E"/>
                          </a:solidFill>
                          <a:latin typeface="Arial"/>
                          <a:ea typeface="Arial"/>
                          <a:cs typeface="Arial"/>
                        </a:rPr>
                        <a:t>No</a:t>
                      </a:r>
                    </a:p>
                  </a:txBody>
                  <a:tcPr marL="76200" marR="76200" marT="66675" marB="66675" anchor="ctr"/>
                </a:tc>
                <a:tc>
                  <a:txBody>
                    <a:bodyPr/>
                    <a:lstStyle/>
                    <a:p>
                      <a:r>
                        <a:rPr sz="1125">
                          <a:solidFill>
                            <a:srgbClr val="18211E"/>
                          </a:solidFill>
                          <a:latin typeface="Arial"/>
                          <a:ea typeface="Arial"/>
                          <a:cs typeface="Arial"/>
                        </a:rPr>
                        <a:t>O((V+E) log V)</a:t>
                      </a:r>
                    </a:p>
                  </a:txBody>
                  <a:tcPr marL="76200" marR="76200" marT="66675" marB="66675" anchor="ctr"/>
                </a:tc>
              </a:tr>
            </a:tbl>
          </a:graphicData>
        </a:graphic>
      </p:graphicFrame>
    </p:spTree>
    <p:extLst>
      <p:ext uri="{BB962C8B-B14F-4D97-AF65-F5344CB8AC3E}">
        <p14:creationId xmlns:p14="http://schemas.microsoft.com/office/powerpoint/2010/main" val="212747910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AC7E55B-73BF-4D99-BCFE-9067390A1935}"/>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11</a:t>
            </a:r>
          </a:p>
        </p:txBody>
      </p:sp>
      <p:sp>
        <p:nvSpPr>
          <p:cNvPr id="2" name="Title-2-3">
            <a:extLst xmlns:a="http://schemas.openxmlformats.org/drawingml/2006/main">
              <a:ext uri="{FF2B5EF4-FFF2-40B4-BE49-F238E27FC236}">
                <a16:creationId xmlns:a16="http://schemas.microsoft.com/office/drawing/2014/main" id="{45FA14A7-86D8-4366-8635-C1F217EC6AA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One API contract connects interface and search</a:t>
            </a:r>
          </a:p>
        </p:txBody>
      </p:sp>
      <p:sp>
        <p:nvSpPr>
          <p:cNvPr id="3" name="Content-Placeholder-9-4">
            <a:extLst xmlns:a="http://schemas.openxmlformats.org/drawingml/2006/main">
              <a:ext uri="{FF2B5EF4-FFF2-40B4-BE49-F238E27FC236}">
                <a16:creationId xmlns:a16="http://schemas.microsoft.com/office/drawing/2014/main" id="{31944030-0922-40BF-BD11-5ADE68E2B6BB}"/>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1 | React + Leaflet</a:t>
            </a:r>
          </a:p>
          <a:p xmlns:a="http://schemas.openxmlformats.org/drawingml/2006/main">
            <a:r>
              <a:rPr sz="1650" b="0">
                <a:solidFill>
                  <a:srgbClr val="000000"/>
                </a:solidFill>
                <a:latin typeface="Arial"/>
                <a:ea typeface="Arial"/>
                <a:cs typeface="Arial"/>
              </a:rPr>
              <a:t>Select inputs, render the map, display route metrics, and replay the live search trace.</a:t>
            </a:r>
          </a:p>
        </p:txBody>
      </p:sp>
      <p:sp>
        <p:nvSpPr>
          <p:cNvPr id="4" name="Content-Placeholder-10-5">
            <a:extLst xmlns:a="http://schemas.openxmlformats.org/drawingml/2006/main">
              <a:ext uri="{FF2B5EF4-FFF2-40B4-BE49-F238E27FC236}">
                <a16:creationId xmlns:a16="http://schemas.microsoft.com/office/drawing/2014/main" id="{6F66355F-3330-4C90-9B2F-4956538C73E8}"/>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2 | FastAPI contract</a:t>
            </a:r>
          </a:p>
          <a:p xmlns:a="http://schemas.openxmlformats.org/drawingml/2006/main">
            <a:r>
              <a:rPr sz="1650" b="0">
                <a:solidFill>
                  <a:srgbClr val="000000"/>
                </a:solidFill>
                <a:latin typeface="Arial"/>
                <a:ea typeface="Arial"/>
                <a:cs typeface="Arial"/>
              </a:rPr>
              <a:t>REST serves bootstrap, compare, and multi results; WebSocket streams search steps.</a:t>
            </a:r>
          </a:p>
        </p:txBody>
      </p:sp>
      <p:sp>
        <p:nvSpPr>
          <p:cNvPr id="5" name="Content-Placeholder-9-6">
            <a:extLst xmlns:a="http://schemas.openxmlformats.org/drawingml/2006/main">
              <a:ext uri="{FF2B5EF4-FFF2-40B4-BE49-F238E27FC236}">
                <a16:creationId xmlns:a16="http://schemas.microsoft.com/office/drawing/2014/main" id="{90368695-F0E6-432E-9B0C-6982A57B3569}"/>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3 | Shared search core</a:t>
            </a:r>
          </a:p>
          <a:p xmlns:a="http://schemas.openxmlformats.org/drawingml/2006/main">
            <a:r>
              <a:rPr sz="1650" b="0">
                <a:solidFill>
                  <a:srgbClr val="000000"/>
                </a:solidFill>
                <a:latin typeface="Arial"/>
                <a:ea typeface="Arial"/>
                <a:cs typeface="Arial"/>
              </a:rPr>
              <a:t>One graph, cost function, and result contract drive all six independent algorithm entry points.</a:t>
            </a:r>
          </a:p>
        </p:txBody>
      </p:sp>
      <p:sp>
        <p:nvSpPr>
          <p:cNvPr id="6" name="Content-Placeholder-10-7">
            <a:extLst xmlns:a="http://schemas.openxmlformats.org/drawingml/2006/main">
              <a:ext uri="{FF2B5EF4-FFF2-40B4-BE49-F238E27FC236}">
                <a16:creationId xmlns:a16="http://schemas.microsoft.com/office/drawing/2014/main" id="{7DAAFF07-225E-40CC-A8E2-21C296FEE7EA}"/>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4 | Explanation + multi</a:t>
            </a:r>
          </a:p>
          <a:p xmlns:a="http://schemas.openxmlformats.org/drawingml/2006/main">
            <a:r>
              <a:rPr sz="1650" b="0">
                <a:solidFill>
                  <a:srgbClr val="000000"/>
                </a:solidFill>
                <a:latin typeface="Arial"/>
                <a:ea typeface="Arial"/>
                <a:cs typeface="Arial"/>
              </a:rPr>
              <a:t>Alternative-route facts and cached pairwise Dijkstra support explainable visiting-order optimization.</a:t>
            </a:r>
          </a:p>
        </p:txBody>
      </p:sp>
    </p:spTree>
    <p:extLst>
      <p:ext uri="{BB962C8B-B14F-4D97-AF65-F5344CB8AC3E}">
        <p14:creationId xmlns:p14="http://schemas.microsoft.com/office/powerpoint/2010/main" val="196981358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FD0F0539-ED0E-41D0-A8C8-F3DFE17C74B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12</a:t>
            </a:r>
          </a:p>
        </p:txBody>
      </p:sp>
      <p:sp>
        <p:nvSpPr>
          <p:cNvPr id="2" name="Google-Shape-533-p58-3">
            <a:extLst xmlns:a="http://schemas.openxmlformats.org/drawingml/2006/main">
              <a:ext uri="{FF2B5EF4-FFF2-40B4-BE49-F238E27FC236}">
                <a16:creationId xmlns:a16="http://schemas.microsoft.com/office/drawing/2014/main" id="{919E1813-F9DE-4D38-9823-F5AAA45FA7A8}"/>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A* saves 46 expansions; Greedy trades cost for speed</a:t>
            </a:r>
          </a:p>
        </p:txBody>
      </p:sp>
      <p:sp>
        <p:nvSpPr>
          <p:cNvPr id="3" name="Content-Placeholder-15-4">
            <a:extLst xmlns:a="http://schemas.openxmlformats.org/drawingml/2006/main">
              <a:ext uri="{FF2B5EF4-FFF2-40B4-BE49-F238E27FC236}">
                <a16:creationId xmlns:a16="http://schemas.microsoft.com/office/drawing/2014/main" id="{61E582CB-1A12-43EC-9EB0-57A84D77B331}"/>
              </a:ext>
            </a:extLst>
          </p:cNvPr>
          <p:cNvSpPr>
            <a:spLocks xmlns:a="http://schemas.openxmlformats.org/drawingml/2006/main" noGrp="1"/>
          </p:cNvSpPr>
          <p:nvPr/>
        </p:nvSpPr>
        <p:spPr>
          <a:xfrm xmlns:a="http://schemas.openxmlformats.org/drawingml/2006/main">
            <a:off x="400907" y="1057466"/>
            <a:ext cx="11404568" cy="1012222"/>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NOTRE DAME -&gt; SAIGON ZOO</a:t>
            </a:r>
          </a:p>
          <a:p xmlns:a="http://schemas.openxmlformats.org/drawingml/2006/main">
            <a:r>
              <a:rPr sz="1500" b="0">
                <a:solidFill>
                  <a:srgbClr val="000000"/>
                </a:solidFill>
                <a:latin typeface="Arial"/>
                <a:ea typeface="Arial"/>
                <a:cs typeface="Arial"/>
              </a:rPr>
              <a:t>Balanced criterion, normal traffic; median of 10 in-process runs on one development machine.</a:t>
            </a:r>
          </a:p>
        </p:txBody>
      </p:sp>
      <p:sp>
        <p:nvSpPr>
          <p:cNvPr id="5" name="">
            <a:extLst xmlns:a="http://schemas.openxmlformats.org/drawingml/2006/main">
              <a:ext uri="{FF2B5EF4-FFF2-40B4-BE49-F238E27FC236}">
                <a16:creationId xmlns:a16="http://schemas.microsoft.com/office/drawing/2014/main" id="{18D35EC9-A36A-4891-B17E-8D106751A237}"/>
              </a:ext>
            </a:extLst>
          </p:cNvPr>
          <p:cNvSpPr>
            <a:spLocks xmlns:a="http://schemas.openxmlformats.org/drawingml/2006/main" noGrp="1"/>
          </p:cNvSpPr>
          <p:nvPr/>
        </p:nvSpPr>
        <p:spPr>
          <a:xfrm xmlns:a="http://schemas.openxmlformats.org/drawingml/2006/main">
            <a:off x="333375" y="2143125"/>
            <a:ext cx="11525250" cy="4095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graphicFrame>
        <p:nvGraphicFramePr>
          <p:cNvPr id="14" name=""/>
          <p:cNvGraphicFramePr/>
          <p:nvPr/>
        </p:nvGraphicFramePr>
        <p:xfrm>
          <a:off xmlns:a="http://schemas.openxmlformats.org/drawingml/2006/main" x="400050" y="2247900"/>
          <a:ext xmlns:a="http://schemas.openxmlformats.org/drawingml/2006/main" cx="11391900" cy="3905250"/>
        </p:xfrm>
        <a:graphic xmlns:a="http://schemas.openxmlformats.org/drawingml/2006/main">
          <a:graphicData uri="http://schemas.openxmlformats.org/drawingml/2006/table">
            <a:tbl>
              <a:tblPr firstRow="1" bandRow="1"/>
              <a:tblGrid>
                <a:gridCol w="1809750"/>
                <a:gridCol w="1381125"/>
                <a:gridCol w="1381125"/>
                <a:gridCol w="1381125"/>
                <a:gridCol w="1714500"/>
                <a:gridCol w="1714500"/>
                <a:gridCol w="2009775"/>
              </a:tblGrid>
              <a:tr h="557893">
                <a:tc>
                  <a:txBody>
                    <a:bodyPr/>
                    <a:lstStyle/>
                    <a:p>
                      <a:r>
                        <a:rPr sz="1125" b="1">
                          <a:solidFill>
                            <a:srgbClr val="FFFFFF"/>
                          </a:solidFill>
                          <a:latin typeface="Arial"/>
                          <a:ea typeface="Arial"/>
                          <a:cs typeface="Arial"/>
                        </a:rPr>
                        <a:t>Algorithm</a:t>
                      </a:r>
                    </a:p>
                  </a:txBody>
                  <a:tcPr marL="76200" marR="76200" marT="66675" marB="66675" anchor="ctr">
                    <a:solidFill>
                      <a:srgbClr val="10241B"/>
                    </a:solidFill>
                  </a:tcPr>
                </a:tc>
                <a:tc>
                  <a:txBody>
                    <a:bodyPr/>
                    <a:lstStyle/>
                    <a:p>
                      <a:r>
                        <a:rPr sz="1125" b="1">
                          <a:solidFill>
                            <a:srgbClr val="FFFFFF"/>
                          </a:solidFill>
                          <a:latin typeface="Arial"/>
                          <a:ea typeface="Arial"/>
                          <a:cs typeface="Arial"/>
                        </a:rPr>
                        <a:t>Cost</a:t>
                      </a:r>
                    </a:p>
                  </a:txBody>
                  <a:tcPr marL="76200" marR="76200" marT="66675" marB="66675" anchor="ctr">
                    <a:solidFill>
                      <a:srgbClr val="10241B"/>
                    </a:solidFill>
                  </a:tcPr>
                </a:tc>
                <a:tc>
                  <a:txBody>
                    <a:bodyPr/>
                    <a:lstStyle/>
                    <a:p>
                      <a:r>
                        <a:rPr sz="1125" b="1">
                          <a:solidFill>
                            <a:srgbClr val="FFFFFF"/>
                          </a:solidFill>
                          <a:latin typeface="Arial"/>
                          <a:ea typeface="Arial"/>
                          <a:cs typeface="Arial"/>
                        </a:rPr>
                        <a:t>km</a:t>
                      </a:r>
                    </a:p>
                  </a:txBody>
                  <a:tcPr marL="76200" marR="76200" marT="66675" marB="66675" anchor="ctr">
                    <a:solidFill>
                      <a:srgbClr val="10241B"/>
                    </a:solidFill>
                  </a:tcPr>
                </a:tc>
                <a:tc>
                  <a:txBody>
                    <a:bodyPr/>
                    <a:lstStyle/>
                    <a:p>
                      <a:r>
                        <a:rPr sz="1125" b="1">
                          <a:solidFill>
                            <a:srgbClr val="FFFFFF"/>
                          </a:solidFill>
                          <a:latin typeface="Arial"/>
                          <a:ea typeface="Arial"/>
                          <a:cs typeface="Arial"/>
                        </a:rPr>
                        <a:t>min</a:t>
                      </a:r>
                    </a:p>
                  </a:txBody>
                  <a:tcPr marL="76200" marR="76200" marT="66675" marB="66675" anchor="ctr">
                    <a:solidFill>
                      <a:srgbClr val="10241B"/>
                    </a:solidFill>
                  </a:tcPr>
                </a:tc>
                <a:tc>
                  <a:txBody>
                    <a:bodyPr/>
                    <a:lstStyle/>
                    <a:p>
                      <a:r>
                        <a:rPr sz="1125" b="1">
                          <a:solidFill>
                            <a:srgbClr val="FFFFFF"/>
                          </a:solidFill>
                          <a:latin typeface="Arial"/>
                          <a:ea typeface="Arial"/>
                          <a:cs typeface="Arial"/>
                        </a:rPr>
                        <a:t>Expanded</a:t>
                      </a:r>
                    </a:p>
                  </a:txBody>
                  <a:tcPr marL="76200" marR="76200" marT="66675" marB="66675" anchor="ctr">
                    <a:solidFill>
                      <a:srgbClr val="10241B"/>
                    </a:solidFill>
                  </a:tcPr>
                </a:tc>
                <a:tc>
                  <a:txBody>
                    <a:bodyPr/>
                    <a:lstStyle/>
                    <a:p>
                      <a:r>
                        <a:rPr sz="1125" b="1">
                          <a:solidFill>
                            <a:srgbClr val="FFFFFF"/>
                          </a:solidFill>
                          <a:latin typeface="Arial"/>
                          <a:ea typeface="Arial"/>
                          <a:cs typeface="Arial"/>
                        </a:rPr>
                        <a:t>Generated</a:t>
                      </a:r>
                    </a:p>
                  </a:txBody>
                  <a:tcPr marL="76200" marR="76200" marT="66675" marB="66675" anchor="ctr">
                    <a:solidFill>
                      <a:srgbClr val="10241B"/>
                    </a:solidFill>
                  </a:tcPr>
                </a:tc>
                <a:tc>
                  <a:txBody>
                    <a:bodyPr/>
                    <a:lstStyle/>
                    <a:p>
                      <a:r>
                        <a:rPr sz="1125" b="1">
                          <a:solidFill>
                            <a:srgbClr val="FFFFFF"/>
                          </a:solidFill>
                          <a:latin typeface="Arial"/>
                          <a:ea typeface="Arial"/>
                          <a:cs typeface="Arial"/>
                        </a:rPr>
                        <a:t>Median ms</a:t>
                      </a:r>
                    </a:p>
                  </a:txBody>
                  <a:tcPr marL="76200" marR="76200" marT="66675" marB="66675" anchor="ctr">
                    <a:solidFill>
                      <a:srgbClr val="10241B"/>
                    </a:solidFill>
                  </a:tcPr>
                </a:tc>
              </a:tr>
              <a:tr h="557893">
                <a:tc>
                  <a:txBody>
                    <a:bodyPr/>
                    <a:lstStyle/>
                    <a:p>
                      <a:r>
                        <a:rPr sz="1125">
                          <a:solidFill>
                            <a:srgbClr val="18211E"/>
                          </a:solidFill>
                          <a:latin typeface="Arial"/>
                          <a:ea typeface="Arial"/>
                          <a:cs typeface="Arial"/>
                        </a:rPr>
                        <a:t>BFS</a:t>
                      </a:r>
                    </a:p>
                  </a:txBody>
                  <a:tcPr marL="76200" marR="76200" marT="66675" marB="66675" anchor="ctr"/>
                </a:tc>
                <a:tc>
                  <a:txBody>
                    <a:bodyPr/>
                    <a:lstStyle/>
                    <a:p>
                      <a:r>
                        <a:rPr sz="1125">
                          <a:solidFill>
                            <a:srgbClr val="18211E"/>
                          </a:solidFill>
                          <a:latin typeface="Arial"/>
                          <a:ea typeface="Arial"/>
                          <a:cs typeface="Arial"/>
                        </a:rPr>
                        <a:t>7.661</a:t>
                      </a:r>
                    </a:p>
                  </a:txBody>
                  <a:tcPr marL="76200" marR="76200" marT="66675" marB="66675" anchor="ctr"/>
                </a:tc>
                <a:tc>
                  <a:txBody>
                    <a:bodyPr/>
                    <a:lstStyle/>
                    <a:p>
                      <a:r>
                        <a:rPr sz="1125">
                          <a:solidFill>
                            <a:srgbClr val="18211E"/>
                          </a:solidFill>
                          <a:latin typeface="Arial"/>
                          <a:ea typeface="Arial"/>
                          <a:cs typeface="Arial"/>
                        </a:rPr>
                        <a:t>2.046</a:t>
                      </a:r>
                    </a:p>
                  </a:txBody>
                  <a:tcPr marL="76200" marR="76200" marT="66675" marB="66675" anchor="ctr"/>
                </a:tc>
                <a:tc>
                  <a:txBody>
                    <a:bodyPr/>
                    <a:lstStyle/>
                    <a:p>
                      <a:r>
                        <a:rPr sz="1125">
                          <a:solidFill>
                            <a:srgbClr val="18211E"/>
                          </a:solidFill>
                          <a:latin typeface="Arial"/>
                          <a:ea typeface="Arial"/>
                          <a:cs typeface="Arial"/>
                        </a:rPr>
                        <a:t>2.977</a:t>
                      </a:r>
                    </a:p>
                  </a:txBody>
                  <a:tcPr marL="76200" marR="76200" marT="66675" marB="66675" anchor="ctr"/>
                </a:tc>
                <a:tc>
                  <a:txBody>
                    <a:bodyPr/>
                    <a:lstStyle/>
                    <a:p>
                      <a:r>
                        <a:rPr sz="1125">
                          <a:solidFill>
                            <a:srgbClr val="18211E"/>
                          </a:solidFill>
                          <a:latin typeface="Arial"/>
                          <a:ea typeface="Arial"/>
                          <a:cs typeface="Arial"/>
                        </a:rPr>
                        <a:t>206</a:t>
                      </a:r>
                    </a:p>
                  </a:txBody>
                  <a:tcPr marL="76200" marR="76200" marT="66675" marB="66675" anchor="ctr"/>
                </a:tc>
                <a:tc>
                  <a:txBody>
                    <a:bodyPr/>
                    <a:lstStyle/>
                    <a:p>
                      <a:r>
                        <a:rPr sz="1125">
                          <a:solidFill>
                            <a:srgbClr val="18211E"/>
                          </a:solidFill>
                          <a:latin typeface="Arial"/>
                          <a:ea typeface="Arial"/>
                          <a:cs typeface="Arial"/>
                        </a:rPr>
                        <a:t>226</a:t>
                      </a:r>
                    </a:p>
                  </a:txBody>
                  <a:tcPr marL="76200" marR="76200" marT="66675" marB="66675" anchor="ctr"/>
                </a:tc>
                <a:tc>
                  <a:txBody>
                    <a:bodyPr/>
                    <a:lstStyle/>
                    <a:p>
                      <a:r>
                        <a:rPr sz="1125">
                          <a:solidFill>
                            <a:srgbClr val="18211E"/>
                          </a:solidFill>
                          <a:latin typeface="Arial"/>
                          <a:ea typeface="Arial"/>
                          <a:cs typeface="Arial"/>
                        </a:rPr>
                        <a:t>0.890</a:t>
                      </a:r>
                    </a:p>
                  </a:txBody>
                  <a:tcPr marL="76200" marR="76200" marT="66675" marB="66675" anchor="ctr"/>
                </a:tc>
              </a:tr>
              <a:tr h="557893">
                <a:tc>
                  <a:txBody>
                    <a:bodyPr/>
                    <a:lstStyle/>
                    <a:p>
                      <a:r>
                        <a:rPr sz="1125">
                          <a:solidFill>
                            <a:srgbClr val="18211E"/>
                          </a:solidFill>
                          <a:latin typeface="Arial"/>
                          <a:ea typeface="Arial"/>
                          <a:cs typeface="Arial"/>
                        </a:rPr>
                        <a:t>DFS</a:t>
                      </a:r>
                    </a:p>
                  </a:txBody>
                  <a:tcPr marL="76200" marR="76200" marT="66675" marB="66675" anchor="ctr"/>
                </a:tc>
                <a:tc>
                  <a:txBody>
                    <a:bodyPr/>
                    <a:lstStyle/>
                    <a:p>
                      <a:r>
                        <a:rPr sz="1125">
                          <a:solidFill>
                            <a:srgbClr val="18211E"/>
                          </a:solidFill>
                          <a:latin typeface="Arial"/>
                          <a:ea typeface="Arial"/>
                          <a:cs typeface="Arial"/>
                        </a:rPr>
                        <a:t>35.768</a:t>
                      </a:r>
                    </a:p>
                  </a:txBody>
                  <a:tcPr marL="76200" marR="76200" marT="66675" marB="66675" anchor="ctr"/>
                </a:tc>
                <a:tc>
                  <a:txBody>
                    <a:bodyPr/>
                    <a:lstStyle/>
                    <a:p>
                      <a:r>
                        <a:rPr sz="1125">
                          <a:solidFill>
                            <a:srgbClr val="18211E"/>
                          </a:solidFill>
                          <a:latin typeface="Arial"/>
                          <a:ea typeface="Arial"/>
                          <a:cs typeface="Arial"/>
                        </a:rPr>
                        <a:t>7.598</a:t>
                      </a:r>
                    </a:p>
                  </a:txBody>
                  <a:tcPr marL="76200" marR="76200" marT="66675" marB="66675" anchor="ctr"/>
                </a:tc>
                <a:tc>
                  <a:txBody>
                    <a:bodyPr/>
                    <a:lstStyle/>
                    <a:p>
                      <a:r>
                        <a:rPr sz="1125">
                          <a:solidFill>
                            <a:srgbClr val="18211E"/>
                          </a:solidFill>
                          <a:latin typeface="Arial"/>
                          <a:ea typeface="Arial"/>
                          <a:cs typeface="Arial"/>
                        </a:rPr>
                        <a:t>9.733</a:t>
                      </a:r>
                    </a:p>
                  </a:txBody>
                  <a:tcPr marL="76200" marR="76200" marT="66675" marB="66675" anchor="ctr"/>
                </a:tc>
                <a:tc>
                  <a:txBody>
                    <a:bodyPr/>
                    <a:lstStyle/>
                    <a:p>
                      <a:r>
                        <a:rPr sz="1125">
                          <a:solidFill>
                            <a:srgbClr val="18211E"/>
                          </a:solidFill>
                          <a:latin typeface="Arial"/>
                          <a:ea typeface="Arial"/>
                          <a:cs typeface="Arial"/>
                        </a:rPr>
                        <a:t>150</a:t>
                      </a:r>
                    </a:p>
                  </a:txBody>
                  <a:tcPr marL="76200" marR="76200" marT="66675" marB="66675" anchor="ctr"/>
                </a:tc>
                <a:tc>
                  <a:txBody>
                    <a:bodyPr/>
                    <a:lstStyle/>
                    <a:p>
                      <a:r>
                        <a:rPr sz="1125">
                          <a:solidFill>
                            <a:srgbClr val="18211E"/>
                          </a:solidFill>
                          <a:latin typeface="Arial"/>
                          <a:ea typeface="Arial"/>
                          <a:cs typeface="Arial"/>
                        </a:rPr>
                        <a:t>183</a:t>
                      </a:r>
                    </a:p>
                  </a:txBody>
                  <a:tcPr marL="76200" marR="76200" marT="66675" marB="66675" anchor="ctr"/>
                </a:tc>
                <a:tc>
                  <a:txBody>
                    <a:bodyPr/>
                    <a:lstStyle/>
                    <a:p>
                      <a:r>
                        <a:rPr sz="1125">
                          <a:solidFill>
                            <a:srgbClr val="18211E"/>
                          </a:solidFill>
                          <a:latin typeface="Arial"/>
                          <a:ea typeface="Arial"/>
                          <a:cs typeface="Arial"/>
                        </a:rPr>
                        <a:t>0.982</a:t>
                      </a:r>
                    </a:p>
                  </a:txBody>
                  <a:tcPr marL="76200" marR="76200" marT="66675" marB="66675" anchor="ctr"/>
                </a:tc>
              </a:tr>
              <a:tr h="557893">
                <a:tc>
                  <a:txBody>
                    <a:bodyPr/>
                    <a:lstStyle/>
                    <a:p>
                      <a:r>
                        <a:rPr sz="1125">
                          <a:solidFill>
                            <a:srgbClr val="18211E"/>
                          </a:solidFill>
                          <a:latin typeface="Arial"/>
                          <a:ea typeface="Arial"/>
                          <a:cs typeface="Arial"/>
                        </a:rPr>
                        <a:t>UCS</a:t>
                      </a:r>
                    </a:p>
                  </a:txBody>
                  <a:tcPr marL="76200" marR="76200" marT="66675" marB="66675" anchor="ctr"/>
                </a:tc>
                <a:tc>
                  <a:txBody>
                    <a:bodyPr/>
                    <a:lstStyle/>
                    <a:p>
                      <a:r>
                        <a:rPr sz="1125">
                          <a:solidFill>
                            <a:srgbClr val="18211E"/>
                          </a:solidFill>
                          <a:latin typeface="Arial"/>
                          <a:ea typeface="Arial"/>
                          <a:cs typeface="Arial"/>
                        </a:rPr>
                        <a:t>7.661</a:t>
                      </a:r>
                    </a:p>
                  </a:txBody>
                  <a:tcPr marL="76200" marR="76200" marT="66675" marB="66675" anchor="ctr"/>
                </a:tc>
                <a:tc>
                  <a:txBody>
                    <a:bodyPr/>
                    <a:lstStyle/>
                    <a:p>
                      <a:r>
                        <a:rPr sz="1125">
                          <a:solidFill>
                            <a:srgbClr val="18211E"/>
                          </a:solidFill>
                          <a:latin typeface="Arial"/>
                          <a:ea typeface="Arial"/>
                          <a:cs typeface="Arial"/>
                        </a:rPr>
                        <a:t>2.046</a:t>
                      </a:r>
                    </a:p>
                  </a:txBody>
                  <a:tcPr marL="76200" marR="76200" marT="66675" marB="66675" anchor="ctr"/>
                </a:tc>
                <a:tc>
                  <a:txBody>
                    <a:bodyPr/>
                    <a:lstStyle/>
                    <a:p>
                      <a:r>
                        <a:rPr sz="1125">
                          <a:solidFill>
                            <a:srgbClr val="18211E"/>
                          </a:solidFill>
                          <a:latin typeface="Arial"/>
                          <a:ea typeface="Arial"/>
                          <a:cs typeface="Arial"/>
                        </a:rPr>
                        <a:t>2.977</a:t>
                      </a:r>
                    </a:p>
                  </a:txBody>
                  <a:tcPr marL="76200" marR="76200" marT="66675" marB="66675" anchor="ctr"/>
                </a:tc>
                <a:tc>
                  <a:txBody>
                    <a:bodyPr/>
                    <a:lstStyle/>
                    <a:p>
                      <a:r>
                        <a:rPr sz="1125">
                          <a:solidFill>
                            <a:srgbClr val="18211E"/>
                          </a:solidFill>
                          <a:latin typeface="Arial"/>
                          <a:ea typeface="Arial"/>
                          <a:cs typeface="Arial"/>
                        </a:rPr>
                        <a:t>218</a:t>
                      </a:r>
                    </a:p>
                  </a:txBody>
                  <a:tcPr marL="76200" marR="76200" marT="66675" marB="66675" anchor="ctr"/>
                </a:tc>
                <a:tc>
                  <a:txBody>
                    <a:bodyPr/>
                    <a:lstStyle/>
                    <a:p>
                      <a:r>
                        <a:rPr sz="1125">
                          <a:solidFill>
                            <a:srgbClr val="18211E"/>
                          </a:solidFill>
                          <a:latin typeface="Arial"/>
                          <a:ea typeface="Arial"/>
                          <a:cs typeface="Arial"/>
                        </a:rPr>
                        <a:t>244</a:t>
                      </a:r>
                    </a:p>
                  </a:txBody>
                  <a:tcPr marL="76200" marR="76200" marT="66675" marB="66675" anchor="ctr"/>
                </a:tc>
                <a:tc>
                  <a:txBody>
                    <a:bodyPr/>
                    <a:lstStyle/>
                    <a:p>
                      <a:r>
                        <a:rPr sz="1125">
                          <a:solidFill>
                            <a:srgbClr val="18211E"/>
                          </a:solidFill>
                          <a:latin typeface="Arial"/>
                          <a:ea typeface="Arial"/>
                          <a:cs typeface="Arial"/>
                        </a:rPr>
                        <a:t>0.294</a:t>
                      </a:r>
                    </a:p>
                  </a:txBody>
                  <a:tcPr marL="76200" marR="76200" marT="66675" marB="66675" anchor="ctr"/>
                </a:tc>
              </a:tr>
              <a:tr h="557893">
                <a:tc>
                  <a:txBody>
                    <a:bodyPr/>
                    <a:lstStyle/>
                    <a:p>
                      <a:r>
                        <a:rPr sz="1125" b="1">
                          <a:solidFill>
                            <a:srgbClr val="1F7A62"/>
                          </a:solidFill>
                          <a:latin typeface="Arial"/>
                          <a:ea typeface="Arial"/>
                          <a:cs typeface="Arial"/>
                        </a:rPr>
                        <a:t>A*</a:t>
                      </a:r>
                    </a:p>
                  </a:txBody>
                  <a:tcPr marL="76200" marR="76200" marT="66675" marB="66675" anchor="ctr">
                    <a:solidFill>
                      <a:srgbClr val="EEF4F1"/>
                    </a:solidFill>
                  </a:tcPr>
                </a:tc>
                <a:tc>
                  <a:txBody>
                    <a:bodyPr/>
                    <a:lstStyle/>
                    <a:p>
                      <a:r>
                        <a:rPr sz="1125" b="1">
                          <a:solidFill>
                            <a:srgbClr val="1F7A62"/>
                          </a:solidFill>
                          <a:latin typeface="Arial"/>
                          <a:ea typeface="Arial"/>
                          <a:cs typeface="Arial"/>
                        </a:rPr>
                        <a:t>7.661</a:t>
                      </a:r>
                    </a:p>
                  </a:txBody>
                  <a:tcPr marL="76200" marR="76200" marT="66675" marB="66675" anchor="ctr">
                    <a:solidFill>
                      <a:srgbClr val="EEF4F1"/>
                    </a:solidFill>
                  </a:tcPr>
                </a:tc>
                <a:tc>
                  <a:txBody>
                    <a:bodyPr/>
                    <a:lstStyle/>
                    <a:p>
                      <a:r>
                        <a:rPr sz="1125" b="1">
                          <a:solidFill>
                            <a:srgbClr val="1F7A62"/>
                          </a:solidFill>
                          <a:latin typeface="Arial"/>
                          <a:ea typeface="Arial"/>
                          <a:cs typeface="Arial"/>
                        </a:rPr>
                        <a:t>2.046</a:t>
                      </a:r>
                    </a:p>
                  </a:txBody>
                  <a:tcPr marL="76200" marR="76200" marT="66675" marB="66675" anchor="ctr">
                    <a:solidFill>
                      <a:srgbClr val="EEF4F1"/>
                    </a:solidFill>
                  </a:tcPr>
                </a:tc>
                <a:tc>
                  <a:txBody>
                    <a:bodyPr/>
                    <a:lstStyle/>
                    <a:p>
                      <a:r>
                        <a:rPr sz="1125" b="1">
                          <a:solidFill>
                            <a:srgbClr val="1F7A62"/>
                          </a:solidFill>
                          <a:latin typeface="Arial"/>
                          <a:ea typeface="Arial"/>
                          <a:cs typeface="Arial"/>
                        </a:rPr>
                        <a:t>2.977</a:t>
                      </a:r>
                    </a:p>
                  </a:txBody>
                  <a:tcPr marL="76200" marR="76200" marT="66675" marB="66675" anchor="ctr">
                    <a:solidFill>
                      <a:srgbClr val="EEF4F1"/>
                    </a:solidFill>
                  </a:tcPr>
                </a:tc>
                <a:tc>
                  <a:txBody>
                    <a:bodyPr/>
                    <a:lstStyle/>
                    <a:p>
                      <a:r>
                        <a:rPr sz="1125" b="1">
                          <a:solidFill>
                            <a:srgbClr val="1F7A62"/>
                          </a:solidFill>
                          <a:latin typeface="Arial"/>
                          <a:ea typeface="Arial"/>
                          <a:cs typeface="Arial"/>
                        </a:rPr>
                        <a:t>172</a:t>
                      </a:r>
                    </a:p>
                  </a:txBody>
                  <a:tcPr marL="76200" marR="76200" marT="66675" marB="66675" anchor="ctr">
                    <a:solidFill>
                      <a:srgbClr val="EEF4F1"/>
                    </a:solidFill>
                  </a:tcPr>
                </a:tc>
                <a:tc>
                  <a:txBody>
                    <a:bodyPr/>
                    <a:lstStyle/>
                    <a:p>
                      <a:r>
                        <a:rPr sz="1125" b="1">
                          <a:solidFill>
                            <a:srgbClr val="1F7A62"/>
                          </a:solidFill>
                          <a:latin typeface="Arial"/>
                          <a:ea typeface="Arial"/>
                          <a:cs typeface="Arial"/>
                        </a:rPr>
                        <a:t>192</a:t>
                      </a:r>
                    </a:p>
                  </a:txBody>
                  <a:tcPr marL="76200" marR="76200" marT="66675" marB="66675" anchor="ctr">
                    <a:solidFill>
                      <a:srgbClr val="EEF4F1"/>
                    </a:solidFill>
                  </a:tcPr>
                </a:tc>
                <a:tc>
                  <a:txBody>
                    <a:bodyPr/>
                    <a:lstStyle/>
                    <a:p>
                      <a:r>
                        <a:rPr sz="1125" b="1">
                          <a:solidFill>
                            <a:srgbClr val="1F7A62"/>
                          </a:solidFill>
                          <a:latin typeface="Arial"/>
                          <a:ea typeface="Arial"/>
                          <a:cs typeface="Arial"/>
                        </a:rPr>
                        <a:t>0.570</a:t>
                      </a:r>
                    </a:p>
                  </a:txBody>
                  <a:tcPr marL="76200" marR="76200" marT="66675" marB="66675" anchor="ctr">
                    <a:solidFill>
                      <a:srgbClr val="EEF4F1"/>
                    </a:solidFill>
                  </a:tcPr>
                </a:tc>
              </a:tr>
              <a:tr h="557893">
                <a:tc>
                  <a:txBody>
                    <a:bodyPr/>
                    <a:lstStyle/>
                    <a:p>
                      <a:r>
                        <a:rPr sz="1125">
                          <a:solidFill>
                            <a:srgbClr val="18211E"/>
                          </a:solidFill>
                          <a:latin typeface="Arial"/>
                          <a:ea typeface="Arial"/>
                          <a:cs typeface="Arial"/>
                        </a:rPr>
                        <a:t>Dijkstra</a:t>
                      </a:r>
                    </a:p>
                  </a:txBody>
                  <a:tcPr marL="76200" marR="76200" marT="66675" marB="66675" anchor="ctr"/>
                </a:tc>
                <a:tc>
                  <a:txBody>
                    <a:bodyPr/>
                    <a:lstStyle/>
                    <a:p>
                      <a:r>
                        <a:rPr sz="1125">
                          <a:solidFill>
                            <a:srgbClr val="18211E"/>
                          </a:solidFill>
                          <a:latin typeface="Arial"/>
                          <a:ea typeface="Arial"/>
                          <a:cs typeface="Arial"/>
                        </a:rPr>
                        <a:t>7.661</a:t>
                      </a:r>
                    </a:p>
                  </a:txBody>
                  <a:tcPr marL="76200" marR="76200" marT="66675" marB="66675" anchor="ctr"/>
                </a:tc>
                <a:tc>
                  <a:txBody>
                    <a:bodyPr/>
                    <a:lstStyle/>
                    <a:p>
                      <a:r>
                        <a:rPr sz="1125">
                          <a:solidFill>
                            <a:srgbClr val="18211E"/>
                          </a:solidFill>
                          <a:latin typeface="Arial"/>
                          <a:ea typeface="Arial"/>
                          <a:cs typeface="Arial"/>
                        </a:rPr>
                        <a:t>2.046</a:t>
                      </a:r>
                    </a:p>
                  </a:txBody>
                  <a:tcPr marL="76200" marR="76200" marT="66675" marB="66675" anchor="ctr"/>
                </a:tc>
                <a:tc>
                  <a:txBody>
                    <a:bodyPr/>
                    <a:lstStyle/>
                    <a:p>
                      <a:r>
                        <a:rPr sz="1125">
                          <a:solidFill>
                            <a:srgbClr val="18211E"/>
                          </a:solidFill>
                          <a:latin typeface="Arial"/>
                          <a:ea typeface="Arial"/>
                          <a:cs typeface="Arial"/>
                        </a:rPr>
                        <a:t>2.977</a:t>
                      </a:r>
                    </a:p>
                  </a:txBody>
                  <a:tcPr marL="76200" marR="76200" marT="66675" marB="66675" anchor="ctr"/>
                </a:tc>
                <a:tc>
                  <a:txBody>
                    <a:bodyPr/>
                    <a:lstStyle/>
                    <a:p>
                      <a:r>
                        <a:rPr sz="1125">
                          <a:solidFill>
                            <a:srgbClr val="18211E"/>
                          </a:solidFill>
                          <a:latin typeface="Arial"/>
                          <a:ea typeface="Arial"/>
                          <a:cs typeface="Arial"/>
                        </a:rPr>
                        <a:t>218</a:t>
                      </a:r>
                    </a:p>
                  </a:txBody>
                  <a:tcPr marL="76200" marR="76200" marT="66675" marB="66675" anchor="ctr"/>
                </a:tc>
                <a:tc>
                  <a:txBody>
                    <a:bodyPr/>
                    <a:lstStyle/>
                    <a:p>
                      <a:r>
                        <a:rPr sz="1125">
                          <a:solidFill>
                            <a:srgbClr val="18211E"/>
                          </a:solidFill>
                          <a:latin typeface="Arial"/>
                          <a:ea typeface="Arial"/>
                          <a:cs typeface="Arial"/>
                        </a:rPr>
                        <a:t>244</a:t>
                      </a:r>
                    </a:p>
                  </a:txBody>
                  <a:tcPr marL="76200" marR="76200" marT="66675" marB="66675" anchor="ctr"/>
                </a:tc>
                <a:tc>
                  <a:txBody>
                    <a:bodyPr/>
                    <a:lstStyle/>
                    <a:p>
                      <a:r>
                        <a:rPr sz="1125">
                          <a:solidFill>
                            <a:srgbClr val="18211E"/>
                          </a:solidFill>
                          <a:latin typeface="Arial"/>
                          <a:ea typeface="Arial"/>
                          <a:cs typeface="Arial"/>
                        </a:rPr>
                        <a:t>0.292</a:t>
                      </a:r>
                    </a:p>
                  </a:txBody>
                  <a:tcPr marL="76200" marR="76200" marT="66675" marB="66675" anchor="ctr"/>
                </a:tc>
              </a:tr>
              <a:tr h="557893">
                <a:tc>
                  <a:txBody>
                    <a:bodyPr/>
                    <a:lstStyle/>
                    <a:p>
                      <a:r>
                        <a:rPr sz="1125">
                          <a:solidFill>
                            <a:srgbClr val="18211E"/>
                          </a:solidFill>
                          <a:latin typeface="Arial"/>
                          <a:ea typeface="Arial"/>
                          <a:cs typeface="Arial"/>
                        </a:rPr>
                        <a:t>Greedy</a:t>
                      </a:r>
                    </a:p>
                  </a:txBody>
                  <a:tcPr marL="76200" marR="76200" marT="66675" marB="66675" anchor="ctr"/>
                </a:tc>
                <a:tc>
                  <a:txBody>
                    <a:bodyPr/>
                    <a:lstStyle/>
                    <a:p>
                      <a:r>
                        <a:rPr sz="1125">
                          <a:solidFill>
                            <a:srgbClr val="18211E"/>
                          </a:solidFill>
                          <a:latin typeface="Arial"/>
                          <a:ea typeface="Arial"/>
                          <a:cs typeface="Arial"/>
                        </a:rPr>
                        <a:t>7.738</a:t>
                      </a:r>
                    </a:p>
                  </a:txBody>
                  <a:tcPr marL="76200" marR="76200" marT="66675" marB="66675" anchor="ctr"/>
                </a:tc>
                <a:tc>
                  <a:txBody>
                    <a:bodyPr/>
                    <a:lstStyle/>
                    <a:p>
                      <a:r>
                        <a:rPr sz="1125">
                          <a:solidFill>
                            <a:srgbClr val="18211E"/>
                          </a:solidFill>
                          <a:latin typeface="Arial"/>
                          <a:ea typeface="Arial"/>
                          <a:cs typeface="Arial"/>
                        </a:rPr>
                        <a:t>1.422</a:t>
                      </a:r>
                    </a:p>
                  </a:txBody>
                  <a:tcPr marL="76200" marR="76200" marT="66675" marB="66675" anchor="ctr"/>
                </a:tc>
                <a:tc>
                  <a:txBody>
                    <a:bodyPr/>
                    <a:lstStyle/>
                    <a:p>
                      <a:r>
                        <a:rPr sz="1125">
                          <a:solidFill>
                            <a:srgbClr val="18211E"/>
                          </a:solidFill>
                          <a:latin typeface="Arial"/>
                          <a:ea typeface="Arial"/>
                          <a:cs typeface="Arial"/>
                        </a:rPr>
                        <a:t>1.942</a:t>
                      </a:r>
                    </a:p>
                  </a:txBody>
                  <a:tcPr marL="76200" marR="76200" marT="66675" marB="66675" anchor="ctr"/>
                </a:tc>
                <a:tc>
                  <a:txBody>
                    <a:bodyPr/>
                    <a:lstStyle/>
                    <a:p>
                      <a:r>
                        <a:rPr sz="1125">
                          <a:solidFill>
                            <a:srgbClr val="18211E"/>
                          </a:solidFill>
                          <a:latin typeface="Arial"/>
                          <a:ea typeface="Arial"/>
                          <a:cs typeface="Arial"/>
                        </a:rPr>
                        <a:t>19</a:t>
                      </a:r>
                    </a:p>
                  </a:txBody>
                  <a:tcPr marL="76200" marR="76200" marT="66675" marB="66675" anchor="ctr"/>
                </a:tc>
                <a:tc>
                  <a:txBody>
                    <a:bodyPr/>
                    <a:lstStyle/>
                    <a:p>
                      <a:r>
                        <a:rPr sz="1125">
                          <a:solidFill>
                            <a:srgbClr val="18211E"/>
                          </a:solidFill>
                          <a:latin typeface="Arial"/>
                          <a:ea typeface="Arial"/>
                          <a:cs typeface="Arial"/>
                        </a:rPr>
                        <a:t>37</a:t>
                      </a:r>
                    </a:p>
                  </a:txBody>
                  <a:tcPr marL="76200" marR="76200" marT="66675" marB="66675" anchor="ctr"/>
                </a:tc>
                <a:tc>
                  <a:txBody>
                    <a:bodyPr/>
                    <a:lstStyle/>
                    <a:p>
                      <a:r>
                        <a:rPr sz="1125">
                          <a:solidFill>
                            <a:srgbClr val="18211E"/>
                          </a:solidFill>
                          <a:latin typeface="Arial"/>
                          <a:ea typeface="Arial"/>
                          <a:cs typeface="Arial"/>
                        </a:rPr>
                        <a:t>0.135</a:t>
                      </a:r>
                    </a:p>
                  </a:txBody>
                  <a:tcPr marL="76200" marR="76200" marT="66675" marB="66675" anchor="ctr"/>
                </a:tc>
              </a:tr>
            </a:tbl>
          </a:graphicData>
        </a:graphic>
      </p:graphicFrame>
    </p:spTree>
    <p:extLst>
      <p:ext uri="{BB962C8B-B14F-4D97-AF65-F5344CB8AC3E}">
        <p14:creationId xmlns:p14="http://schemas.microsoft.com/office/powerpoint/2010/main" val="27432405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1514C6E-29D8-4F2A-80D3-8973C7E7B4C3}"/>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13</a:t>
            </a:r>
          </a:p>
        </p:txBody>
      </p:sp>
      <p:sp>
        <p:nvSpPr>
          <p:cNvPr id="2" name="Title-2-3">
            <a:extLst xmlns:a="http://schemas.openxmlformats.org/drawingml/2006/main">
              <a:ext uri="{FF2B5EF4-FFF2-40B4-BE49-F238E27FC236}">
                <a16:creationId xmlns:a16="http://schemas.microsoft.com/office/drawing/2014/main" id="{7D9049AC-D217-4217-B32E-4837B2A0141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Rain changes the route; rush hour raises its cost</a:t>
            </a:r>
          </a:p>
        </p:txBody>
      </p:sp>
      <p:sp>
        <p:nvSpPr>
          <p:cNvPr id="3" name="Content-Placeholder-9-4">
            <a:extLst xmlns:a="http://schemas.openxmlformats.org/drawingml/2006/main">
              <a:ext uri="{FF2B5EF4-FFF2-40B4-BE49-F238E27FC236}">
                <a16:creationId xmlns:a16="http://schemas.microsoft.com/office/drawing/2014/main" id="{CBD676C1-88C3-4641-AC19-0E1FE95FE096}"/>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Normal</a:t>
            </a:r>
          </a:p>
          <a:p xmlns:a="http://schemas.openxmlformats.org/drawingml/2006/main">
            <a:r>
              <a:rPr sz="1575" b="0">
                <a:solidFill>
                  <a:srgbClr val="000000"/>
                </a:solidFill>
                <a:latin typeface="Arial"/>
                <a:ea typeface="Arial"/>
                <a:cs typeface="Arial"/>
              </a:rPr>
              <a:t>Cost 9.365</a:t>
            </a:r>
          </a:p>
          <a:p xmlns:a="http://schemas.openxmlformats.org/drawingml/2006/main">
            <a:r>
              <a:rPr sz="1575" b="0">
                <a:solidFill>
                  <a:srgbClr val="000000"/>
                </a:solidFill>
                <a:latin typeface="Arial"/>
                <a:ea typeface="Arial"/>
                <a:cs typeface="Arial"/>
              </a:rPr>
              <a:t>2.140 km | 3.223 min</a:t>
            </a:r>
          </a:p>
          <a:p xmlns:a="http://schemas.openxmlformats.org/drawingml/2006/main">
            <a:r>
              <a:rPr sz="1575" b="0">
                <a:solidFill>
                  <a:srgbClr val="000000"/>
                </a:solidFill>
                <a:latin typeface="Arial"/>
                <a:ea typeface="Arial"/>
                <a:cs typeface="Arial"/>
              </a:rPr>
              <a:t>Baseline road sequence</a:t>
            </a:r>
          </a:p>
        </p:txBody>
      </p:sp>
      <p:sp>
        <p:nvSpPr>
          <p:cNvPr id="4" name="Content-Placeholder-10-5">
            <a:extLst xmlns:a="http://schemas.openxmlformats.org/drawingml/2006/main">
              <a:ext uri="{FF2B5EF4-FFF2-40B4-BE49-F238E27FC236}">
                <a16:creationId xmlns:a16="http://schemas.microsoft.com/office/drawing/2014/main" id="{5C4162CD-06BA-4238-B715-C926CAA4FF8F}"/>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Rush hour</a:t>
            </a:r>
          </a:p>
          <a:p xmlns:a="http://schemas.openxmlformats.org/drawingml/2006/main">
            <a:r>
              <a:rPr sz="1575" b="0">
                <a:solidFill>
                  <a:srgbClr val="000000"/>
                </a:solidFill>
                <a:latin typeface="Arial"/>
                <a:ea typeface="Arial"/>
                <a:cs typeface="Arial"/>
              </a:rPr>
              <a:t>Cost 11.834</a:t>
            </a:r>
          </a:p>
          <a:p xmlns:a="http://schemas.openxmlformats.org/drawingml/2006/main">
            <a:r>
              <a:rPr sz="1575" b="0">
                <a:solidFill>
                  <a:srgbClr val="000000"/>
                </a:solidFill>
                <a:latin typeface="Arial"/>
                <a:ea typeface="Arial"/>
                <a:cs typeface="Arial"/>
              </a:rPr>
              <a:t>2.140 km | 5.394 min</a:t>
            </a:r>
          </a:p>
          <a:p xmlns:a="http://schemas.openxmlformats.org/drawingml/2006/main">
            <a:r>
              <a:rPr sz="1575" b="0">
                <a:solidFill>
                  <a:srgbClr val="000000"/>
                </a:solidFill>
                <a:latin typeface="Arial"/>
                <a:ea typeface="Arial"/>
                <a:cs typeface="Arial"/>
              </a:rPr>
              <a:t>Same roads; about 67% more time</a:t>
            </a:r>
          </a:p>
        </p:txBody>
      </p:sp>
      <p:sp>
        <p:nvSpPr>
          <p:cNvPr id="5" name="Content-Placeholder-9-6">
            <a:extLst xmlns:a="http://schemas.openxmlformats.org/drawingml/2006/main">
              <a:ext uri="{FF2B5EF4-FFF2-40B4-BE49-F238E27FC236}">
                <a16:creationId xmlns:a16="http://schemas.microsoft.com/office/drawing/2014/main" id="{A1E511B4-B755-4F64-9B58-697E26DF89DD}"/>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Rainy</a:t>
            </a:r>
          </a:p>
          <a:p xmlns:a="http://schemas.openxmlformats.org/drawingml/2006/main">
            <a:r>
              <a:rPr sz="1575" b="0">
                <a:solidFill>
                  <a:srgbClr val="000000"/>
                </a:solidFill>
                <a:latin typeface="Arial"/>
                <a:ea typeface="Arial"/>
                <a:cs typeface="Arial"/>
              </a:rPr>
              <a:t>Cost 13.184</a:t>
            </a:r>
          </a:p>
          <a:p xmlns:a="http://schemas.openxmlformats.org/drawingml/2006/main">
            <a:r>
              <a:rPr sz="1575" b="0">
                <a:solidFill>
                  <a:srgbClr val="000000"/>
                </a:solidFill>
                <a:latin typeface="Arial"/>
                <a:ea typeface="Arial"/>
                <a:cs typeface="Arial"/>
              </a:rPr>
              <a:t>2.145 km | 4.409 min</a:t>
            </a:r>
          </a:p>
          <a:p xmlns:a="http://schemas.openxmlformats.org/drawingml/2006/main">
            <a:r>
              <a:rPr sz="1575" b="0">
                <a:solidFill>
                  <a:srgbClr val="000000"/>
                </a:solidFill>
                <a:latin typeface="Arial"/>
                <a:ea typeface="Arial"/>
                <a:cs typeface="Arial"/>
              </a:rPr>
              <a:t>Changes via Ly Tu Trong / Hai Ba Trung</a:t>
            </a:r>
          </a:p>
        </p:txBody>
      </p:sp>
      <p:sp>
        <p:nvSpPr>
          <p:cNvPr id="6" name="Content-Placeholder-10-7">
            <a:extLst xmlns:a="http://schemas.openxmlformats.org/drawingml/2006/main">
              <a:ext uri="{FF2B5EF4-FFF2-40B4-BE49-F238E27FC236}">
                <a16:creationId xmlns:a16="http://schemas.microsoft.com/office/drawing/2014/main" id="{2D549742-0E1C-4CA7-BFB4-27287D8014E2}"/>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Across the graph</a:t>
            </a:r>
          </a:p>
          <a:p xmlns:a="http://schemas.openxmlformats.org/drawingml/2006/main">
            <a:r>
              <a:rPr sz="1575" b="0">
                <a:solidFill>
                  <a:srgbClr val="000000"/>
                </a:solidFill>
                <a:latin typeface="Arial"/>
                <a:ea typeface="Arial"/>
                <a:cs typeface="Arial"/>
              </a:rPr>
              <a:t>177 of 552 ordered pairs</a:t>
            </a:r>
          </a:p>
          <a:p xmlns:a="http://schemas.openxmlformats.org/drawingml/2006/main">
            <a:r>
              <a:rPr sz="1575" b="0">
                <a:solidFill>
                  <a:srgbClr val="000000"/>
                </a:solidFill>
                <a:latin typeface="Arial"/>
                <a:ea typeface="Arial"/>
                <a:cs typeface="Arial"/>
              </a:rPr>
              <a:t>change path in at least one profile</a:t>
            </a:r>
          </a:p>
          <a:p xmlns:a="http://schemas.openxmlformats.org/drawingml/2006/main">
            <a:r>
              <a:rPr sz="1575" b="0">
                <a:solidFill>
                  <a:srgbClr val="000000"/>
                </a:solidFill>
                <a:latin typeface="Arial"/>
                <a:ea typeface="Arial"/>
                <a:cs typeface="Arial"/>
              </a:rPr>
              <a:t>Scenario: Ben Thanh -&gt; Independence Palace</a:t>
            </a:r>
          </a:p>
        </p:txBody>
      </p:sp>
    </p:spTree>
    <p:extLst>
      <p:ext uri="{BB962C8B-B14F-4D97-AF65-F5344CB8AC3E}">
        <p14:creationId xmlns:p14="http://schemas.microsoft.com/office/powerpoint/2010/main" val="149928715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0E1E8156-C999-4A61-978C-09733E241A6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14</a:t>
            </a:r>
          </a:p>
        </p:txBody>
      </p:sp>
      <p:sp>
        <p:nvSpPr>
          <p:cNvPr id="2" name="Google-Shape-533-p58-3">
            <a:extLst xmlns:a="http://schemas.openxmlformats.org/drawingml/2006/main">
              <a:ext uri="{FF2B5EF4-FFF2-40B4-BE49-F238E27FC236}">
                <a16:creationId xmlns:a16="http://schemas.microsoft.com/office/drawing/2014/main" id="{F606820C-E712-447A-AC43-A210A12CA38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Single mode explains route, alternative, and live trace</a:t>
            </a:r>
          </a:p>
        </p:txBody>
      </p:sp>
      <p:sp>
        <p:nvSpPr>
          <p:cNvPr id="5" name="">
            <a:extLst xmlns:a="http://schemas.openxmlformats.org/drawingml/2006/main">
              <a:ext uri="{FF2B5EF4-FFF2-40B4-BE49-F238E27FC236}">
                <a16:creationId xmlns:a16="http://schemas.microsoft.com/office/drawing/2014/main" id="{29141E3C-0333-448F-B7EB-8DFACC5D8807}"/>
              </a:ext>
            </a:extLst>
          </p:cNvPr>
          <p:cNvSpPr>
            <a:spLocks xmlns:a="http://schemas.openxmlformats.org/drawingml/2006/main" noGrp="1"/>
          </p:cNvSpPr>
          <p:nvPr/>
        </p:nvSpPr>
        <p:spPr>
          <a:xfrm xmlns:a="http://schemas.openxmlformats.org/drawingml/2006/main">
            <a:off x="333375" y="1352550"/>
            <a:ext cx="11506200" cy="4857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99bb14c5f3441e9"/>
          <a:stretch xmlns:a="http://schemas.openxmlformats.org/drawingml/2006/main"/>
        </p:blipFill>
        <p:spPr>
          <a:xfrm xmlns:a="http://schemas.openxmlformats.org/drawingml/2006/main">
            <a:off x="1524000" y="1428750"/>
            <a:ext cx="9144000" cy="5143500"/>
          </a:xfrm>
          <a:prstGeom xmlns:a="http://schemas.openxmlformats.org/drawingml/2006/main" prst="rect">
            <a:avLst/>
          </a:prstGeom>
        </p:spPr>
      </p:pic>
    </p:spTree>
    <p:extLst>
      <p:ext uri="{BB962C8B-B14F-4D97-AF65-F5344CB8AC3E}">
        <p14:creationId xmlns:p14="http://schemas.microsoft.com/office/powerpoint/2010/main" val="196258444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48994D0F-038B-4513-9484-45B804F5689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15</a:t>
            </a:r>
          </a:p>
        </p:txBody>
      </p:sp>
      <p:sp>
        <p:nvSpPr>
          <p:cNvPr id="2" name="Google-Shape-533-p58-3">
            <a:extLst xmlns:a="http://schemas.openxmlformats.org/drawingml/2006/main">
              <a:ext uri="{FF2B5EF4-FFF2-40B4-BE49-F238E27FC236}">
                <a16:creationId xmlns:a16="http://schemas.microsoft.com/office/drawing/2014/main" id="{DB48DC3C-F5F5-4791-8E78-6C7D70096CC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Compare mode holds every control constant</a:t>
            </a:r>
          </a:p>
        </p:txBody>
      </p:sp>
      <p:sp>
        <p:nvSpPr>
          <p:cNvPr id="5" name="">
            <a:extLst xmlns:a="http://schemas.openxmlformats.org/drawingml/2006/main">
              <a:ext uri="{FF2B5EF4-FFF2-40B4-BE49-F238E27FC236}">
                <a16:creationId xmlns:a16="http://schemas.microsoft.com/office/drawing/2014/main" id="{410502C1-B4F3-4DA3-A70D-05F7BFF5BD19}"/>
              </a:ext>
            </a:extLst>
          </p:cNvPr>
          <p:cNvSpPr>
            <a:spLocks xmlns:a="http://schemas.openxmlformats.org/drawingml/2006/main" noGrp="1"/>
          </p:cNvSpPr>
          <p:nvPr/>
        </p:nvSpPr>
        <p:spPr>
          <a:xfrm xmlns:a="http://schemas.openxmlformats.org/drawingml/2006/main">
            <a:off x="333375" y="1352550"/>
            <a:ext cx="11506200" cy="4857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21278f2cc094981"/>
          <a:stretch xmlns:a="http://schemas.openxmlformats.org/drawingml/2006/main"/>
        </p:blipFill>
        <p:spPr>
          <a:xfrm xmlns:a="http://schemas.openxmlformats.org/drawingml/2006/main">
            <a:off x="1524000" y="1428750"/>
            <a:ext cx="9144000" cy="5143500"/>
          </a:xfrm>
          <a:prstGeom xmlns:a="http://schemas.openxmlformats.org/drawingml/2006/main" prst="rect">
            <a:avLst/>
          </a:prstGeom>
        </p:spPr>
      </p:pic>
    </p:spTree>
    <p:extLst>
      <p:ext uri="{BB962C8B-B14F-4D97-AF65-F5344CB8AC3E}">
        <p14:creationId xmlns:p14="http://schemas.microsoft.com/office/powerpoint/2010/main" val="19212804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AC7E55B-73BF-4D99-BCFE-9067390A1935}"/>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16</a:t>
            </a:r>
          </a:p>
        </p:txBody>
      </p:sp>
      <p:sp>
        <p:nvSpPr>
          <p:cNvPr id="2" name="Title-2-3">
            <a:extLst xmlns:a="http://schemas.openxmlformats.org/drawingml/2006/main">
              <a:ext uri="{FF2B5EF4-FFF2-40B4-BE49-F238E27FC236}">
                <a16:creationId xmlns:a16="http://schemas.microsoft.com/office/drawing/2014/main" id="{45FA14A7-86D8-4366-8635-C1F217EC6AA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Multi-routing compares speed with exact proof</a:t>
            </a:r>
          </a:p>
        </p:txBody>
      </p:sp>
      <p:sp>
        <p:nvSpPr>
          <p:cNvPr id="3" name="Content-Placeholder-9-4">
            <a:extLst xmlns:a="http://schemas.openxmlformats.org/drawingml/2006/main">
              <a:ext uri="{FF2B5EF4-FFF2-40B4-BE49-F238E27FC236}">
                <a16:creationId xmlns:a16="http://schemas.microsoft.com/office/drawing/2014/main" id="{31944030-0922-40BF-BD11-5ADE68E2B6BB}"/>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Nearest Neighbor</a:t>
            </a:r>
          </a:p>
          <a:p xmlns:a="http://schemas.openxmlformats.org/drawingml/2006/main">
            <a:r>
              <a:rPr sz="1650" b="0">
                <a:solidFill>
                  <a:srgbClr val="000000"/>
                </a:solidFill>
                <a:latin typeface="Arial"/>
                <a:ea typeface="Arial"/>
                <a:cs typeface="Arial"/>
              </a:rPr>
              <a:t>Visit the cheapest unvisited waypoint at each step. O(k^2) route-choice work; fast but approximate.</a:t>
            </a:r>
          </a:p>
        </p:txBody>
      </p:sp>
      <p:sp>
        <p:nvSpPr>
          <p:cNvPr id="4" name="Content-Placeholder-10-5">
            <a:extLst xmlns:a="http://schemas.openxmlformats.org/drawingml/2006/main">
              <a:ext uri="{FF2B5EF4-FFF2-40B4-BE49-F238E27FC236}">
                <a16:creationId xmlns:a16="http://schemas.microsoft.com/office/drawing/2014/main" id="{6F66355F-3330-4C90-9B2F-4956538C73E8}"/>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Exact Brute Force</a:t>
            </a:r>
          </a:p>
          <a:p xmlns:a="http://schemas.openxmlformats.org/drawingml/2006/main">
            <a:r>
              <a:rPr sz="1650" b="0">
                <a:solidFill>
                  <a:srgbClr val="000000"/>
                </a:solidFill>
                <a:latin typeface="Arial"/>
                <a:ea typeface="Arial"/>
                <a:cs typeface="Arial"/>
              </a:rPr>
              <a:t>Evaluate every waypoint permutation. O(k!) ordering work; exact for the reduced pairwise problem.</a:t>
            </a:r>
          </a:p>
        </p:txBody>
      </p:sp>
      <p:sp>
        <p:nvSpPr>
          <p:cNvPr id="5" name="Content-Placeholder-9-6">
            <a:extLst xmlns:a="http://schemas.openxmlformats.org/drawingml/2006/main">
              <a:ext uri="{FF2B5EF4-FFF2-40B4-BE49-F238E27FC236}">
                <a16:creationId xmlns:a16="http://schemas.microsoft.com/office/drawing/2014/main" id="{90368695-F0E6-432E-9B0C-6982A57B3569}"/>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Shared preprocessing</a:t>
            </a:r>
          </a:p>
          <a:p xmlns:a="http://schemas.openxmlformats.org/drawingml/2006/main">
            <a:r>
              <a:rPr sz="1650" b="0">
                <a:solidFill>
                  <a:srgbClr val="000000"/>
                </a:solidFill>
                <a:latin typeface="Arial"/>
                <a:ea typeface="Arial"/>
                <a:cs typeface="Arial"/>
              </a:rPr>
              <a:t>Cached single-source Dijkstra runs build the important-node pairwise path and cost matrix.</a:t>
            </a:r>
          </a:p>
        </p:txBody>
      </p:sp>
      <p:sp>
        <p:nvSpPr>
          <p:cNvPr id="6" name="Content-Placeholder-10-7">
            <a:extLst xmlns:a="http://schemas.openxmlformats.org/drawingml/2006/main">
              <a:ext uri="{FF2B5EF4-FFF2-40B4-BE49-F238E27FC236}">
                <a16:creationId xmlns:a16="http://schemas.microsoft.com/office/drawing/2014/main" id="{7DAAFF07-225E-40CC-A8E2-21C296FEE7EA}"/>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Route constraints</a:t>
            </a:r>
          </a:p>
          <a:p xmlns:a="http://schemas.openxmlformats.org/drawingml/2006/main">
            <a:r>
              <a:rPr sz="1650" b="0">
                <a:solidFill>
                  <a:srgbClr val="000000"/>
                </a:solidFill>
                <a:latin typeface="Arial"/>
                <a:ea typeface="Arial"/>
                <a:cs typeface="Arial"/>
              </a:rPr>
              <a:t>Fixed end, return to start, duplicate removal, and explicit failure for unreachable mandatory segments.</a:t>
            </a:r>
          </a:p>
        </p:txBody>
      </p:sp>
    </p:spTree>
    <p:extLst>
      <p:ext uri="{BB962C8B-B14F-4D97-AF65-F5344CB8AC3E}">
        <p14:creationId xmlns:p14="http://schemas.microsoft.com/office/powerpoint/2010/main" val="196981358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31B46E97-16A4-491B-BDA7-34F8D517963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17</a:t>
            </a:r>
          </a:p>
        </p:txBody>
      </p:sp>
      <p:sp>
        <p:nvSpPr>
          <p:cNvPr id="2" name="Google-Shape-533-p58-3">
            <a:extLst xmlns:a="http://schemas.openxmlformats.org/drawingml/2006/main">
              <a:ext uri="{FF2B5EF4-FFF2-40B4-BE49-F238E27FC236}">
                <a16:creationId xmlns:a16="http://schemas.microsoft.com/office/drawing/2014/main" id="{C7A59359-9862-40CB-BF9F-BFDD7F2D219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Exact beats nearest neighbor by 20.88%</a:t>
            </a:r>
          </a:p>
        </p:txBody>
      </p:sp>
      <p:sp>
        <p:nvSpPr>
          <p:cNvPr id="5" name="">
            <a:extLst xmlns:a="http://schemas.openxmlformats.org/drawingml/2006/main">
              <a:ext uri="{FF2B5EF4-FFF2-40B4-BE49-F238E27FC236}">
                <a16:creationId xmlns:a16="http://schemas.microsoft.com/office/drawing/2014/main" id="{90D18E17-49E1-45A8-A6B9-B23A2F293758}"/>
              </a:ext>
            </a:extLst>
          </p:cNvPr>
          <p:cNvSpPr>
            <a:spLocks xmlns:a="http://schemas.openxmlformats.org/drawingml/2006/main" noGrp="1"/>
          </p:cNvSpPr>
          <p:nvPr/>
        </p:nvSpPr>
        <p:spPr>
          <a:xfrm xmlns:a="http://schemas.openxmlformats.org/drawingml/2006/main">
            <a:off x="333375" y="1352550"/>
            <a:ext cx="11506200" cy="4857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3bb63e2969d456b"/>
          <a:stretch xmlns:a="http://schemas.openxmlformats.org/drawingml/2006/main"/>
        </p:blipFill>
        <p:spPr>
          <a:xfrm xmlns:a="http://schemas.openxmlformats.org/drawingml/2006/main">
            <a:off x="1524000" y="1428750"/>
            <a:ext cx="9144000" cy="5143500"/>
          </a:xfrm>
          <a:prstGeom xmlns:a="http://schemas.openxmlformats.org/drawingml/2006/main" prst="rect">
            <a:avLst/>
          </a:prstGeom>
        </p:spPr>
      </p:pic>
    </p:spTree>
    <p:extLst>
      <p:ext uri="{BB962C8B-B14F-4D97-AF65-F5344CB8AC3E}">
        <p14:creationId xmlns:p14="http://schemas.microsoft.com/office/powerpoint/2010/main" val="211747403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D53DF30C-6F65-4FAA-BF2F-C4505BCF5DAA}"/>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18</a:t>
            </a:r>
          </a:p>
        </p:txBody>
      </p:sp>
      <p:sp>
        <p:nvSpPr>
          <p:cNvPr id="2" name="Title-2-3">
            <a:extLst xmlns:a="http://schemas.openxmlformats.org/drawingml/2006/main">
              <a:ext uri="{FF2B5EF4-FFF2-40B4-BE49-F238E27FC236}">
                <a16:creationId xmlns:a16="http://schemas.microsoft.com/office/drawing/2014/main" id="{991F0040-9C9C-42AD-B2FF-A257D4789CA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Verification covers algorithms, APIs, UI, and all pairs</a:t>
            </a:r>
          </a:p>
        </p:txBody>
      </p:sp>
      <p:sp>
        <p:nvSpPr>
          <p:cNvPr id="3" name="Content-Placeholder-9-4">
            <a:extLst xmlns:a="http://schemas.openxmlformats.org/drawingml/2006/main">
              <a:ext uri="{FF2B5EF4-FFF2-40B4-BE49-F238E27FC236}">
                <a16:creationId xmlns:a16="http://schemas.microsoft.com/office/drawing/2014/main" id="{D0607E9F-FD92-416D-A6DB-E900FD468630}"/>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83 automated tests</a:t>
            </a:r>
          </a:p>
          <a:p xmlns:a="http://schemas.openxmlformats.org/drawingml/2006/main">
            <a:r>
              <a:rPr sz="1650" b="0">
                <a:solidFill>
                  <a:srgbClr val="000000"/>
                </a:solidFill>
                <a:latin typeface="Arial"/>
                <a:ea typeface="Arial"/>
                <a:cs typeface="Arial"/>
              </a:rPr>
              <a:t>70 backend and 13 frontend tests cover algorithms, contracts, validation, WebSocket, and UI lifecycle.</a:t>
            </a:r>
          </a:p>
        </p:txBody>
      </p:sp>
      <p:sp>
        <p:nvSpPr>
          <p:cNvPr id="4" name="Content-Placeholder-10-5">
            <a:extLst xmlns:a="http://schemas.openxmlformats.org/drawingml/2006/main">
              <a:ext uri="{FF2B5EF4-FFF2-40B4-BE49-F238E27FC236}">
                <a16:creationId xmlns:a16="http://schemas.microsoft.com/office/drawing/2014/main" id="{F224A7AB-14F0-4394-91CB-895F11ED71E3}"/>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552 / 552 pairs</a:t>
            </a:r>
          </a:p>
          <a:p xmlns:a="http://schemas.openxmlformats.org/drawingml/2006/main">
            <a:r>
              <a:rPr sz="1650" b="0">
                <a:solidFill>
                  <a:srgbClr val="000000"/>
                </a:solidFill>
                <a:latin typeface="Arial"/>
                <a:ea typeface="Arial"/>
                <a:cs typeface="Arial"/>
              </a:rPr>
              <a:t>Every ordered landmark pair is reachable; UCS, A*, and Dijkstra match optimal cost on all pairs.</a:t>
            </a:r>
          </a:p>
        </p:txBody>
      </p:sp>
      <p:sp>
        <p:nvSpPr>
          <p:cNvPr id="5" name="Content-Placeholder-9-6">
            <a:extLst xmlns:a="http://schemas.openxmlformats.org/drawingml/2006/main">
              <a:ext uri="{FF2B5EF4-FFF2-40B4-BE49-F238E27FC236}">
                <a16:creationId xmlns:a16="http://schemas.microsoft.com/office/drawing/2014/main" id="{87C01210-BC9D-46F5-8CD8-008931AD43D9}"/>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A* audit</a:t>
            </a:r>
          </a:p>
          <a:p xmlns:a="http://schemas.openxmlformats.org/drawingml/2006/main">
            <a:r>
              <a:rPr sz="1650" b="0">
                <a:solidFill>
                  <a:srgbClr val="000000"/>
                </a:solidFill>
                <a:latin typeface="Arial"/>
                <a:ea typeface="Arial"/>
                <a:cs typeface="Arial"/>
              </a:rPr>
              <a:t>Zero consistency violations across 995 directed edges, 24 goals, and five weight presets.</a:t>
            </a:r>
          </a:p>
        </p:txBody>
      </p:sp>
      <p:sp>
        <p:nvSpPr>
          <p:cNvPr id="6" name="Content-Placeholder-10-7">
            <a:extLst xmlns:a="http://schemas.openxmlformats.org/drawingml/2006/main">
              <a:ext uri="{FF2B5EF4-FFF2-40B4-BE49-F238E27FC236}">
                <a16:creationId xmlns:a16="http://schemas.microsoft.com/office/drawing/2014/main" id="{E6A6B400-6E55-400E-AED7-9D043F8CF26A}"/>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Release checks</a:t>
            </a:r>
          </a:p>
          <a:p xmlns:a="http://schemas.openxmlformats.org/drawingml/2006/main">
            <a:r>
              <a:rPr sz="1650" b="0">
                <a:solidFill>
                  <a:srgbClr val="000000"/>
                </a:solidFill>
                <a:latin typeface="Arial"/>
                <a:ea typeface="Arial"/>
                <a:cs typeface="Arial"/>
              </a:rPr>
              <a:t>TypeScript build, desktop/mobile workflows, clean console, stale-request control, and fault handling all pass.</a:t>
            </a:r>
          </a:p>
        </p:txBody>
      </p:sp>
    </p:spTree>
    <p:extLst>
      <p:ext uri="{BB962C8B-B14F-4D97-AF65-F5344CB8AC3E}">
        <p14:creationId xmlns:p14="http://schemas.microsoft.com/office/powerpoint/2010/main" val="138374060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D53DF30C-6F65-4FAA-BF2F-C4505BCF5DAA}"/>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spcAft>
                <a:spcPts val="0"/>
              </a:spcAft>
              <a:buNone/>
              <a:defRPr sz="1000">
                <a:solidFill>
                  <a:srgbClr val="000000"/>
                </a:solidFill>
                <a:latin typeface="Helvetica Neue"/>
                <a:ea typeface="Helvetica Neue"/>
                <a:cs typeface="Helvetica Neue"/>
              </a:defRPr>
            </a:pPr>
            <a:r>
              <a:rPr sz="975" b="0">
                <a:solidFill>
                  <a:srgbClr val="000000"/>
                </a:solidFill>
                <a:latin typeface="Arial"/>
                <a:ea typeface="Arial"/>
                <a:cs typeface="Arial"/>
              </a:rPr>
              <a:t>19</a:t>
            </a:r>
          </a:p>
        </p:txBody>
      </p:sp>
      <p:sp>
        <p:nvSpPr>
          <p:cNvPr id="2" name="Title-2-3">
            <a:extLst xmlns:a="http://schemas.openxmlformats.org/drawingml/2006/main">
              <a:ext uri="{FF2B5EF4-FFF2-40B4-BE49-F238E27FC236}">
                <a16:creationId xmlns:a16="http://schemas.microsoft.com/office/drawing/2014/main" id="{991F0040-9C9C-42AD-B2FF-A257D4789CA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2925" b="1">
                <a:solidFill>
                  <a:srgbClr val="000000"/>
                </a:solidFill>
                <a:latin typeface="Arial"/>
                <a:ea typeface="Arial"/>
                <a:cs typeface="Arial"/>
              </a:rPr>
              <a:t>Known limits define the next engineering steps</a:t>
            </a:r>
          </a:p>
        </p:txBody>
      </p:sp>
      <p:sp>
        <p:nvSpPr>
          <p:cNvPr id="3" name="Content-Placeholder-9-4">
            <a:extLst xmlns:a="http://schemas.openxmlformats.org/drawingml/2006/main">
              <a:ext uri="{FF2B5EF4-FFF2-40B4-BE49-F238E27FC236}">
                <a16:creationId xmlns:a16="http://schemas.microsoft.com/office/drawing/2014/main" id="{D0607E9F-FD92-416D-A6DB-E900FD468630}"/>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Traffic realism</a:t>
            </a:r>
          </a:p>
          <a:p xmlns:a="http://schemas.openxmlformats.org/drawingml/2006/main">
            <a:r>
              <a:rPr sz="1650" b="0">
                <a:solidFill>
                  <a:srgbClr val="000000"/>
                </a:solidFill>
                <a:latin typeface="Arial"/>
                <a:ea typeface="Arial"/>
                <a:cs typeface="Arial"/>
              </a:rPr>
              <a:t>Current profiles are derived, not live. Next: integrate congestion, incident, and flooding feeds.</a:t>
            </a:r>
          </a:p>
        </p:txBody>
      </p:sp>
      <p:sp>
        <p:nvSpPr>
          <p:cNvPr id="4" name="Content-Placeholder-10-5">
            <a:extLst xmlns:a="http://schemas.openxmlformats.org/drawingml/2006/main">
              <a:ext uri="{FF2B5EF4-FFF2-40B4-BE49-F238E27FC236}">
                <a16:creationId xmlns:a16="http://schemas.microsoft.com/office/drawing/2014/main" id="{F224A7AB-14F0-4394-91CB-895F11ED71E3}"/>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Landmark access</a:t>
            </a:r>
          </a:p>
          <a:p xmlns:a="http://schemas.openxmlformats.org/drawingml/2006/main">
            <a:r>
              <a:rPr sz="1650" b="0">
                <a:solidFill>
                  <a:srgbClr val="000000"/>
                </a:solidFill>
                <a:latin typeface="Arial"/>
                <a:ea typeface="Arial"/>
                <a:cs typeface="Arial"/>
              </a:rPr>
              <a:t>Six offsets exceed 100 m; maximum is 383.5 m. Next: project landmarks to real road edges.</a:t>
            </a:r>
          </a:p>
        </p:txBody>
      </p:sp>
      <p:sp>
        <p:nvSpPr>
          <p:cNvPr id="5" name="Content-Placeholder-9-6">
            <a:extLst xmlns:a="http://schemas.openxmlformats.org/drawingml/2006/main">
              <a:ext uri="{FF2B5EF4-FFF2-40B4-BE49-F238E27FC236}">
                <a16:creationId xmlns:a16="http://schemas.microsoft.com/office/drawing/2014/main" id="{87C01210-BC9D-46F5-8CD8-008931AD43D9}"/>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Network scope</a:t>
            </a:r>
          </a:p>
          <a:p xmlns:a="http://schemas.openxmlformats.org/drawingml/2006/main">
            <a:r>
              <a:rPr sz="1650" b="0">
                <a:solidFill>
                  <a:srgbClr val="000000"/>
                </a:solidFill>
                <a:latin typeface="Arial"/>
                <a:ea typeface="Arial"/>
                <a:cs typeface="Arial"/>
              </a:rPr>
              <a:t>One transparent boundary connector joins two extracts. Next: use one continuous OSM study area.</a:t>
            </a:r>
          </a:p>
        </p:txBody>
      </p:sp>
      <p:sp>
        <p:nvSpPr>
          <p:cNvPr id="6" name="Content-Placeholder-10-7">
            <a:extLst xmlns:a="http://schemas.openxmlformats.org/drawingml/2006/main">
              <a:ext uri="{FF2B5EF4-FFF2-40B4-BE49-F238E27FC236}">
                <a16:creationId xmlns:a16="http://schemas.microsoft.com/office/drawing/2014/main" id="{E6A6B400-6E55-400E-AED7-9D043F8CF26A}"/>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spcAft>
                <a:spcPts val="5"/>
              </a:spcAft>
            </a:pPr>
            <a:r>
              <a:rPr sz="1800" b="1">
                <a:solidFill>
                  <a:srgbClr val="000000"/>
                </a:solidFill>
                <a:latin typeface="Arial"/>
                <a:ea typeface="Arial"/>
                <a:cs typeface="Arial"/>
              </a:rPr>
              <a:t>Multi-stop scaling</a:t>
            </a:r>
          </a:p>
          <a:p xmlns:a="http://schemas.openxmlformats.org/drawingml/2006/main">
            <a:r>
              <a:rPr sz="1650" b="0">
                <a:solidFill>
                  <a:srgbClr val="000000"/>
                </a:solidFill>
                <a:latin typeface="Arial"/>
                <a:ea typeface="Arial"/>
                <a:cs typeface="Arial"/>
              </a:rPr>
              <a:t>Exact search is capped at eight waypoints. Next: dynamic programming, metaheuristics, and multiple vehicles.</a:t>
            </a:r>
          </a:p>
        </p:txBody>
      </p:sp>
    </p:spTree>
    <p:extLst>
      <p:ext uri="{BB962C8B-B14F-4D97-AF65-F5344CB8AC3E}">
        <p14:creationId xmlns:p14="http://schemas.microsoft.com/office/powerpoint/2010/main" val="138374060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AC041B8-4227-453F-9541-8E60328B2F28}"/>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90000"/>
              </a:lnSpc>
              <a:buNone/>
              <a:defRPr sz="6000">
                <a:solidFill>
                  <a:srgbClr val="000000"/>
                </a:solidFill>
                <a:latin typeface="Helvetica Neue"/>
                <a:ea typeface="Helvetica Neue"/>
                <a:cs typeface="Helvetica Neue"/>
              </a:defRPr>
            </a:pPr>
            <a:r>
              <a:rPr sz="4050" b="1">
                <a:solidFill>
                  <a:srgbClr val="000000"/>
                </a:solidFill>
                <a:latin typeface="Arial"/>
                <a:ea typeface="Arial"/>
                <a:cs typeface="Arial"/>
              </a:rPr>
              <a:t>Search strategy changes</a:t>
            </a:r>
          </a:p>
          <a:p xmlns:a="http://schemas.openxmlformats.org/drawingml/2006/main">
            <a:pPr algn="l">
              <a:lnSpc>
                <a:spcPct val="90000"/>
              </a:lnSpc>
              <a:buNone/>
              <a:defRPr sz="6000">
                <a:solidFill>
                  <a:srgbClr val="000000"/>
                </a:solidFill>
                <a:latin typeface="Helvetica Neue"/>
                <a:ea typeface="Helvetica Neue"/>
                <a:cs typeface="Helvetica Neue"/>
              </a:defRPr>
            </a:pPr>
            <a:r>
              <a:rPr sz="4050" b="1">
                <a:solidFill>
                  <a:srgbClr val="000000"/>
                </a:solidFill>
                <a:latin typeface="Arial"/>
                <a:ea typeface="Arial"/>
                <a:cs typeface="Arial"/>
              </a:rPr>
              <a:t>route quality</a:t>
            </a:r>
          </a:p>
        </p:txBody>
      </p:sp>
      <p:sp>
        <p:nvSpPr>
          <p:cNvPr id="2" name="Subtitle-4-2">
            <a:extLst xmlns:a="http://schemas.openxmlformats.org/drawingml/2006/main">
              <a:ext uri="{FF2B5EF4-FFF2-40B4-BE49-F238E27FC236}">
                <a16:creationId xmlns:a16="http://schemas.microsoft.com/office/drawing/2014/main" id="{9398149B-2B19-42CA-A7CB-76DB9B112D6E}"/>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spcAft>
                <a:spcPts val="0"/>
              </a:spcAft>
              <a:buNone/>
              <a:defRPr sz="2400">
                <a:solidFill>
                  <a:srgbClr val="000000"/>
                </a:solidFill>
                <a:latin typeface="Helvetica Neue"/>
                <a:ea typeface="Helvetica Neue"/>
                <a:cs typeface="Helvetica Neue"/>
              </a:defRPr>
            </a:pPr>
            <a:r>
              <a:rPr sz="1500" b="1">
                <a:solidFill>
                  <a:srgbClr val="000000"/>
                </a:solidFill>
                <a:latin typeface="Arial"/>
                <a:ea typeface="Arial"/>
                <a:cs typeface="Arial"/>
              </a:rPr>
              <a:t>Six algorithms under one model</a:t>
            </a:r>
          </a:p>
          <a:p xmlns:a="http://schemas.openxmlformats.org/drawingml/2006/main">
            <a:pPr algn="l">
              <a:lnSpc>
                <a:spcPct val="100000"/>
              </a:lnSpc>
              <a:spcAft>
                <a:spcPts val="0"/>
              </a:spcAft>
              <a:buNone/>
              <a:defRPr sz="2400">
                <a:solidFill>
                  <a:srgbClr val="000000"/>
                </a:solidFill>
                <a:latin typeface="Helvetica Neue"/>
                <a:ea typeface="Helvetica Neue"/>
                <a:cs typeface="Helvetica Neue"/>
              </a:defRPr>
            </a:pPr>
            <a:r>
              <a:rPr sz="1500" b="1">
                <a:solidFill>
                  <a:srgbClr val="000000"/>
                </a:solidFill>
                <a:latin typeface="Arial"/>
                <a:ea typeface="Arial"/>
                <a:cs typeface="Arial"/>
              </a:rPr>
              <a:t>Real HCMC traffic context</a:t>
            </a:r>
          </a:p>
          <a:p xmlns:a="http://schemas.openxmlformats.org/drawingml/2006/main">
            <a:pPr algn="l">
              <a:lnSpc>
                <a:spcPct val="100000"/>
              </a:lnSpc>
              <a:spcAft>
                <a:spcPts val="0"/>
              </a:spcAft>
              <a:buNone/>
              <a:defRPr sz="2400">
                <a:solidFill>
                  <a:srgbClr val="000000"/>
                </a:solidFill>
                <a:latin typeface="Helvetica Neue"/>
                <a:ea typeface="Helvetica Neue"/>
                <a:cs typeface="Helvetica Neue"/>
              </a:defRPr>
            </a:pPr>
            <a:r>
              <a:rPr sz="1500" b="1">
                <a:solidFill>
                  <a:srgbClr val="000000"/>
                </a:solidFill>
                <a:latin typeface="Arial"/>
                <a:ea typeface="Arial"/>
                <a:cs typeface="Arial"/>
              </a:rPr>
              <a:t>Explained, benchmarked, verified</a:t>
            </a:r>
          </a:p>
        </p:txBody>
      </p:sp>
      <p:sp>
        <p:nvSpPr>
          <p:cNvPr id="3" name="Subtitle-4-3">
            <a:extLst xmlns:a="http://schemas.openxmlformats.org/drawingml/2006/main">
              <a:ext uri="{FF2B5EF4-FFF2-40B4-BE49-F238E27FC236}">
                <a16:creationId xmlns:a16="http://schemas.microsoft.com/office/drawing/2014/main" id="{C4D3803A-B4D9-4078-B62B-89BCC6CBEFB1}"/>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spcAft>
                <a:spcPts val="0"/>
              </a:spcAft>
              <a:buNone/>
              <a:defRPr sz="2400">
                <a:solidFill>
                  <a:srgbClr val="000000"/>
                </a:solidFill>
                <a:latin typeface="Helvetica Neue"/>
                <a:ea typeface="Helvetica Neue"/>
                <a:cs typeface="Helvetica Neue"/>
              </a:defRPr>
            </a:pPr>
            <a:r>
              <a:rPr sz="1200" b="1">
                <a:solidFill>
                  <a:srgbClr val="18815D"/>
                </a:solidFill>
                <a:latin typeface="Arial"/>
                <a:ea typeface="Arial"/>
                <a:cs typeface="Arial"/>
              </a:rPr>
              <a:t>CONCLUSION</a:t>
            </a:r>
          </a:p>
        </p:txBody>
      </p:sp>
    </p:spTree>
    <p:extLst>
      <p:ext uri="{BB962C8B-B14F-4D97-AF65-F5344CB8AC3E}">
        <p14:creationId xmlns:p14="http://schemas.microsoft.com/office/powerpoint/2010/main" val="20369381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2026-08-10T07:40:22.0810000Z</dcterms:created>
  <dcterms:modified xsi:type="dcterms:W3CDTF">2026-08-10T07:40:22.0820000Z</dcterms:modified>
</coreProperties>
</file>
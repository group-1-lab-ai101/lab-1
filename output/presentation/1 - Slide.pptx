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fc9baf99efc4842" /><Relationship Type="http://schemas.openxmlformats.org/officeDocument/2006/relationships/extended-properties" Target="/docProps/app.xml" Id="R20699c4231d74fc9" /><Relationship Type="http://schemas.openxmlformats.org/officeDocument/2006/relationships/officeDocument" Target="/ppt/presentation.xml" Id="R1b2e2935566f494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09c260b15b84900"/>
  </p:sldMasterIdLst>
  <p:notesMasterIdLst>
    <p:notesMasterId xmlns:r="http://schemas.openxmlformats.org/officeDocument/2006/relationships" r:id="R7abde8eaa760486c"/>
  </p:notesMasterIdLst>
  <p:sldIdLst>
    <p:sldId xmlns:r="http://schemas.openxmlformats.org/officeDocument/2006/relationships" id="256" r:id="R43854f7dcb884853"/>
    <p:sldId xmlns:r="http://schemas.openxmlformats.org/officeDocument/2006/relationships" id="257" r:id="R96c375109bf14287"/>
    <p:sldId xmlns:r="http://schemas.openxmlformats.org/officeDocument/2006/relationships" id="258" r:id="R1d313688d2a742f5"/>
    <p:sldId xmlns:r="http://schemas.openxmlformats.org/officeDocument/2006/relationships" id="259" r:id="R3173fe1e4f2e48bf"/>
    <p:sldId xmlns:r="http://schemas.openxmlformats.org/officeDocument/2006/relationships" id="260" r:id="R38884c825e194f79"/>
    <p:sldId xmlns:r="http://schemas.openxmlformats.org/officeDocument/2006/relationships" id="261" r:id="Rd8fd6883fc4a4be1"/>
    <p:sldId xmlns:r="http://schemas.openxmlformats.org/officeDocument/2006/relationships" id="262" r:id="Re1a76597358b4f31"/>
    <p:sldId xmlns:r="http://schemas.openxmlformats.org/officeDocument/2006/relationships" id="263" r:id="R6b4f22fe344a4367"/>
    <p:sldId xmlns:r="http://schemas.openxmlformats.org/officeDocument/2006/relationships" id="264" r:id="Rad297a08139e4f54"/>
    <p:sldId xmlns:r="http://schemas.openxmlformats.org/officeDocument/2006/relationships" id="265" r:id="R813158f13e8a4eea"/>
    <p:sldId xmlns:r="http://schemas.openxmlformats.org/officeDocument/2006/relationships" id="266" r:id="R6a13300f0d5c416a"/>
    <p:sldId xmlns:r="http://schemas.openxmlformats.org/officeDocument/2006/relationships" id="267" r:id="R6c8dd8e3b2694e57"/>
    <p:sldId xmlns:r="http://schemas.openxmlformats.org/officeDocument/2006/relationships" id="268" r:id="R95d7a42417e44fa1"/>
    <p:sldId xmlns:r="http://schemas.openxmlformats.org/officeDocument/2006/relationships" id="269" r:id="R4ecd8b4f69424463"/>
    <p:sldId xmlns:r="http://schemas.openxmlformats.org/officeDocument/2006/relationships" id="270" r:id="R88f22a84b9004f6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35333a861ba47f8" /><Relationship Type="http://schemas.openxmlformats.org/officeDocument/2006/relationships/slideMaster" Target="/ppt/slideMasters/slideMaster1.xml" Id="R109c260b15b84900" /><Relationship Type="http://schemas.openxmlformats.org/officeDocument/2006/relationships/notesMaster" Target="/ppt/notesMasters/notesMaster1.xml" Id="R7abde8eaa760486c" /><Relationship Type="http://schemas.openxmlformats.org/officeDocument/2006/relationships/presProps" Target="/ppt/presProps.xml" Id="Rcf35b13986d246aa" /><Relationship Type="http://schemas.openxmlformats.org/officeDocument/2006/relationships/tableStyles" Target="/ppt/tableStyles.xml" Id="Rc1c0268ce9e24b65" /><Relationship Type="http://schemas.openxmlformats.org/officeDocument/2006/relationships/slide" Target="/ppt/slides/slide1.xml" Id="R43854f7dcb884853" /><Relationship Type="http://schemas.openxmlformats.org/officeDocument/2006/relationships/slide" Target="/ppt/slides/slide2.xml" Id="R96c375109bf14287" /><Relationship Type="http://schemas.openxmlformats.org/officeDocument/2006/relationships/slide" Target="/ppt/slides/slide3.xml" Id="R1d313688d2a742f5" /><Relationship Type="http://schemas.openxmlformats.org/officeDocument/2006/relationships/slide" Target="/ppt/slides/slide4.xml" Id="R3173fe1e4f2e48bf" /><Relationship Type="http://schemas.openxmlformats.org/officeDocument/2006/relationships/slide" Target="/ppt/slides/slide5.xml" Id="R38884c825e194f79" /><Relationship Type="http://schemas.openxmlformats.org/officeDocument/2006/relationships/slide" Target="/ppt/slides/slide6.xml" Id="Rd8fd6883fc4a4be1" /><Relationship Type="http://schemas.openxmlformats.org/officeDocument/2006/relationships/slide" Target="/ppt/slides/slide7.xml" Id="Re1a76597358b4f31" /><Relationship Type="http://schemas.openxmlformats.org/officeDocument/2006/relationships/slide" Target="/ppt/slides/slide8.xml" Id="R6b4f22fe344a4367" /><Relationship Type="http://schemas.openxmlformats.org/officeDocument/2006/relationships/slide" Target="/ppt/slides/slide9.xml" Id="Rad297a08139e4f54" /><Relationship Type="http://schemas.openxmlformats.org/officeDocument/2006/relationships/slide" Target="/ppt/slides/slide10.xml" Id="R813158f13e8a4eea" /><Relationship Type="http://schemas.openxmlformats.org/officeDocument/2006/relationships/slide" Target="/ppt/slides/slide11.xml" Id="R6a13300f0d5c416a" /><Relationship Type="http://schemas.openxmlformats.org/officeDocument/2006/relationships/slide" Target="/ppt/slides/slide12.xml" Id="R6c8dd8e3b2694e57" /><Relationship Type="http://schemas.openxmlformats.org/officeDocument/2006/relationships/slide" Target="/ppt/slides/slide13.xml" Id="R95d7a42417e44fa1" /><Relationship Type="http://schemas.openxmlformats.org/officeDocument/2006/relationships/slide" Target="/ppt/slides/slide14.xml" Id="R4ecd8b4f69424463" /><Relationship Type="http://schemas.openxmlformats.org/officeDocument/2006/relationships/slide" Target="/ppt/slides/slide15.xml" Id="R88f22a84b9004f6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2ee956a2f2b469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459d4af82e045ce" /><Relationship Type="http://schemas.openxmlformats.org/officeDocument/2006/relationships/notesMaster" Target="/ppt/notesMasters/notesMaster1.xml" Id="Racb3497570a6407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ee66ed97c624c49" /><Relationship Type="http://schemas.openxmlformats.org/officeDocument/2006/relationships/notesMaster" Target="/ppt/notesMasters/notesMaster1.xml" Id="Ra6f808c507d249d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64e2fbd80dd45ef" /><Relationship Type="http://schemas.openxmlformats.org/officeDocument/2006/relationships/notesMaster" Target="/ppt/notesMasters/notesMaster1.xml" Id="Rf196f002964445f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3e00d54e8a84ca2" /><Relationship Type="http://schemas.openxmlformats.org/officeDocument/2006/relationships/notesMaster" Target="/ppt/notesMasters/notesMaster1.xml" Id="R8c7f9672961c48e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b5624f61d3c45ed" /><Relationship Type="http://schemas.openxmlformats.org/officeDocument/2006/relationships/notesMaster" Target="/ppt/notesMasters/notesMaster1.xml" Id="Re628f31d08304b8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2bab106200e4c85" /><Relationship Type="http://schemas.openxmlformats.org/officeDocument/2006/relationships/notesMaster" Target="/ppt/notesMasters/notesMaster1.xml" Id="R751c22c76e164ad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6cd4198eb7142f4" /><Relationship Type="http://schemas.openxmlformats.org/officeDocument/2006/relationships/notesMaster" Target="/ppt/notesMasters/notesMaster1.xml" Id="R8a80d12ea5064f0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1822e1fe0944ab6" /><Relationship Type="http://schemas.openxmlformats.org/officeDocument/2006/relationships/notesMaster" Target="/ppt/notesMasters/notesMaster1.xml" Id="R9b1994beee86482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20e7cec621745d1" /><Relationship Type="http://schemas.openxmlformats.org/officeDocument/2006/relationships/notesMaster" Target="/ppt/notesMasters/notesMaster1.xml" Id="R61cf7fc57543451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99369b98b424984" /><Relationship Type="http://schemas.openxmlformats.org/officeDocument/2006/relationships/notesMaster" Target="/ppt/notesMasters/notesMaster1.xml" Id="Raa4ef84223d543b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51f7efa8a004801" /><Relationship Type="http://schemas.openxmlformats.org/officeDocument/2006/relationships/notesMaster" Target="/ppt/notesMasters/notesMaster1.xml" Id="Rf4468b09a15a47f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6ee7082bbe84638" /><Relationship Type="http://schemas.openxmlformats.org/officeDocument/2006/relationships/notesMaster" Target="/ppt/notesMasters/notesMaster1.xml" Id="R741f2d58ee92487d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5dbcc98735f43ca" /><Relationship Type="http://schemas.openxmlformats.org/officeDocument/2006/relationships/notesMaster" Target="/ppt/notesMasters/notesMaster1.xml" Id="Rde8b48208e9f4322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1017cd10b2ad4edb" /><Relationship Type="http://schemas.openxmlformats.org/officeDocument/2006/relationships/notesMaster" Target="/ppt/notesMasters/notesMaster1.xml" Id="R93589c222a6d4c7b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9992ca045ce74961" /><Relationship Type="http://schemas.openxmlformats.org/officeDocument/2006/relationships/notesMaster" Target="/ppt/notesMasters/notesMaster1.xml" Id="R35e0b845ddcb4a3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problem: route quality depends on distance, time, congestion, and risk.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C:/Users/Admin/Documents/AI01/lab-1/docs/TECHNICAL_REPORT.md</a:t>
            </a:r>
          </a:p>
          <a:p xmlns:a="http://schemas.openxmlformats.org/drawingml/2006/main">
            <a:r>
              <a:t>C:/Users/Admin/Documents/AI01/lab-1/docs/benchmark_results.json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Preview the logical sequence; the algorithm example comes before the GUI demo.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C:/Users/Admin/Documents/AI01/lab-1/docs/TECHNICAL_REPORT.md</a:t>
            </a:r>
          </a:p>
          <a:p xmlns:a="http://schemas.openxmlformats.org/drawingml/2006/main">
            <a:r>
              <a:t>C:/Users/Admin/Documents/AI01/lab-1/docs/benchmark_results.json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State that 24 landmarks map to 24 distinct routable nodes.</a:t>
            </a:r>
          </a:p>
          <a:p xmlns:a="http://schemas.openxmlformats.org/drawingml/2006/main">
            <a:r>
              <a:t>Disclose the hybrid data assumptions later: simulated traffic and one boundary connector.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C:/Users/Admin/Documents/AI01/lab-1/docs/TECHNICAL_REPORT.md</a:t>
            </a:r>
          </a:p>
          <a:p xmlns:a="http://schemas.openxmlformats.org/drawingml/2006/main">
            <a:r>
              <a:t>C:/Users/Admin/Documents/AI01/lab-1/docs/benchmark_results.json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Emphasize that comparison mode gives every algorithm the same graph, endpoints, weights, and traffic profile.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C:/Users/Admin/Documents/AI01/lab-1/docs/TECHNICAL_REPORT.md</a:t>
            </a:r>
          </a:p>
          <a:p xmlns:a="http://schemas.openxmlformats.org/drawingml/2006/main">
            <a:r>
              <a:t>C:/Users/Admin/Documents/AI01/lab-1/docs/benchmark_results.json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this graph to show expansion order, frontier, parent updates, and final path for every algorithm.</a:t>
            </a:r>
          </a:p>
          <a:p xmlns:a="http://schemas.openxmlformats.org/drawingml/2006/main">
            <a:r>
              <a:t>C:/Users/Admin/Documents/AI01/lab-1/docs/ALGORITHM_WALKTHROUGH.md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C:/Users/Admin/Documents/AI01/lab-1/docs/TECHNICAL_REPORT.md</a:t>
            </a:r>
          </a:p>
          <a:p xmlns:a="http://schemas.openxmlformats.org/drawingml/2006/main">
            <a:r>
              <a:t>C:/Users/Admin/Documents/AI01/lab-1/docs/benchmark_results.json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Read the frontier after each pop from ALGORITHM_WALKTHROUGH.md; do not only state the final routes.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C:/Users/Admin/Documents/AI01/lab-1/docs/TECHNICAL_REPORT.md</a:t>
            </a:r>
          </a:p>
          <a:p xmlns:a="http://schemas.openxmlformats.org/drawingml/2006/main">
            <a:r>
              <a:t>C:/Users/Admin/Documents/AI01/lab-1/docs/benchmark_results.json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g, h, and f explicitly for A*; show h and the missing g term for Greedy.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C:/Users/Admin/Documents/AI01/lab-1/docs/TECHNICAL_REPORT.md</a:t>
            </a:r>
          </a:p>
          <a:p xmlns:a="http://schemas.openxmlformats.org/drawingml/2006/main">
            <a:r>
              <a:t>C:/Users/Admin/Documents/AI01/lab-1/docs/benchmark_results.json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Tie each guarantee back to the group-designed graph before moving to real-map results.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C:/Users/Admin/Documents/AI01/lab-1/docs/TECHNICAL_REPORT.md</a:t>
            </a:r>
          </a:p>
          <a:p xmlns:a="http://schemas.openxmlformats.org/drawingml/2006/main">
            <a:r>
              <a:t>C:/Users/Admin/Documents/AI01/lab-1/docs/benchmark_results.json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Do not claim universal runtime superiority from one machine.</a:t>
            </a:r>
          </a:p>
          <a:p xmlns:a="http://schemas.openxmlformats.org/drawingml/2006/main">
            <a:r>
              <a:t>C:/Users/Admin/Documents/AI01/lab-1/lab-1-backend/docs/benchmark_results.json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C:/Users/Admin/Documents/AI01/lab-1/docs/TECHNICAL_REPORT.md</a:t>
            </a:r>
          </a:p>
          <a:p xmlns:a="http://schemas.openxmlformats.org/drawingml/2006/main">
            <a:r>
              <a:t>C:/Users/Admin/Documents/AI01/lab-1/docs/benchmark_results.json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Demo Ben Thanh Market to Independence Palace under normal and rainy profiles.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C:/Users/Admin/Documents/AI01/lab-1/docs/TECHNICAL_REPORT.md</a:t>
            </a:r>
          </a:p>
          <a:p xmlns:a="http://schemas.openxmlformats.org/drawingml/2006/main">
            <a:r>
              <a:t>C:/Users/Admin/Documents/AI01/lab-1/docs/benchmark_results.json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 visible interface as evidence for: Single search explains path, congestion, alternative, and trace.</a:t>
            </a:r>
          </a:p>
          <a:p xmlns:a="http://schemas.openxmlformats.org/drawingml/2006/main">
            <a:r>
              <a:t>C:/Users/Admin/Documents/AI01/lab-1/docs/images/single-search.jpg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C:/Users/Admin/Documents/AI01/lab-1/docs/TECHNICAL_REPORT.md</a:t>
            </a:r>
          </a:p>
          <a:p xmlns:a="http://schemas.openxmlformats.org/drawingml/2006/main">
            <a:r>
              <a:t>C:/Users/Admin/Documents/AI01/lab-1/docs/benchmark_results.json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 visible interface as evidence for: Six algorithms remain comparable under identical controls.</a:t>
            </a:r>
          </a:p>
          <a:p xmlns:a="http://schemas.openxmlformats.org/drawingml/2006/main">
            <a:r>
              <a:t>C:/Users/Admin/Documents/AI01/lab-1/docs/images/algorithm-comparison.jpg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C:/Users/Admin/Documents/AI01/lab-1/docs/TECHNICAL_REPORT.md</a:t>
            </a:r>
          </a:p>
          <a:p xmlns:a="http://schemas.openxmlformats.org/drawingml/2006/main">
            <a:r>
              <a:t>C:/Users/Admin/Documents/AI01/lab-1/docs/benchmark_results.json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 visible interface as evidence for: Exact beats nearest neighbor by 20.88%.</a:t>
            </a:r>
          </a:p>
          <a:p xmlns:a="http://schemas.openxmlformats.org/drawingml/2006/main">
            <a:r>
              <a:t>C:/Users/Admin/Documents/AI01/lab-1/docs/images/multi-route.jpg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C:/Users/Admin/Documents/AI01/lab-1/docs/TECHNICAL_REPORT.md</a:t>
            </a:r>
          </a:p>
          <a:p xmlns:a="http://schemas.openxmlformats.org/drawingml/2006/main">
            <a:r>
              <a:t>C:/Users/Admin/Documents/AI01/lab-1/docs/benchmark_results.json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State limitations before the conclusion; this keeps the optimality and realism claims precise.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C:/Users/Admin/Documents/AI01/lab-1/docs/TECHNICAL_REPORT.md</a:t>
            </a:r>
          </a:p>
          <a:p xmlns:a="http://schemas.openxmlformats.org/drawingml/2006/main">
            <a:r>
              <a:t>C:/Users/Admin/Documents/AI01/lab-1/docs/benchmark_results.json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by connecting algorithm guarantees, traffic-aware costs, multi-stop optimization, and transparent evidence.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C:/Users/Admin/Documents/AI01/lab-1/docs/TECHNICAL_REPORT.md</a:t>
            </a:r>
          </a:p>
          <a:p xmlns:a="http://schemas.openxmlformats.org/drawingml/2006/main">
            <a:r>
              <a:t>C:/Users/Admin/Documents/AI01/lab-1/docs/benchmark_results.json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7cf760102654f9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e2155afd2e24ce0" /><Relationship Type="http://schemas.openxmlformats.org/officeDocument/2006/relationships/slideLayout" Target="/ppt/slideLayouts/slideLayout1.xml" Id="Rcedf9f5933004eb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edf9f5933004eb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b2177b9d9447d1" /><Relationship Type="http://schemas.openxmlformats.org/officeDocument/2006/relationships/notesSlide" Target="/ppt/notesSlides/notesSlide1.xml" Id="R1d56ada4563841b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8a7767cce84b58" /><Relationship Type="http://schemas.openxmlformats.org/officeDocument/2006/relationships/notesSlide" Target="/ppt/notesSlides/notesSlide2.xml" Id="R648d08c5a1604ef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d8f67cbd7f4ee5" /><Relationship Type="http://schemas.openxmlformats.org/officeDocument/2006/relationships/notesSlide" Target="/ppt/notesSlides/notesSlide3.xml" Id="Rbb2a31b2b938415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8f3620e58b4333" /><Relationship Type="http://schemas.openxmlformats.org/officeDocument/2006/relationships/notesSlide" Target="/ppt/notesSlides/notesSlide4.xml" Id="Rccb75f7f09b54d5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39e98aa6c04b0a" /><Relationship Type="http://schemas.openxmlformats.org/officeDocument/2006/relationships/notesSlide" Target="/ppt/notesSlides/notesSlide5.xml" Id="R4d290c5924dc405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a21d6027274052" /><Relationship Type="http://schemas.openxmlformats.org/officeDocument/2006/relationships/notesSlide" Target="/ppt/notesSlides/notesSlide6.xml" Id="R72eae7af25ad41f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0561709d2b408b" /><Relationship Type="http://schemas.openxmlformats.org/officeDocument/2006/relationships/notesSlide" Target="/ppt/notesSlides/notesSlide7.xml" Id="R6eff7cdf0ece4ac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9231974d594f01" /><Relationship Type="http://schemas.openxmlformats.org/officeDocument/2006/relationships/notesSlide" Target="/ppt/notesSlides/notesSlide8.xml" Id="Re047098cf193429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25bcd395f24385" /><Relationship Type="http://schemas.openxmlformats.org/officeDocument/2006/relationships/notesSlide" Target="/ppt/notesSlides/notesSlide9.xml" Id="Rffbf537b6d4c4cb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0032098e54446b" /><Relationship Type="http://schemas.openxmlformats.org/officeDocument/2006/relationships/notesSlide" Target="/ppt/notesSlides/notesSlide10.xml" Id="Rb3e223387a124e2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bcce4209364a75" /><Relationship Type="http://schemas.openxmlformats.org/officeDocument/2006/relationships/image" Target="/ppt/media/image.jpeg" Id="R54cf7f660e2843d5" /><Relationship Type="http://schemas.openxmlformats.org/officeDocument/2006/relationships/notesSlide" Target="/ppt/notesSlides/notesSlide11.xml" Id="R92aa62d4253c49a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87100ca97b4036" /><Relationship Type="http://schemas.openxmlformats.org/officeDocument/2006/relationships/image" Target="/ppt/media/image2.jpeg" Id="R3e61ac0c26b741e1" /><Relationship Type="http://schemas.openxmlformats.org/officeDocument/2006/relationships/notesSlide" Target="/ppt/notesSlides/notesSlide12.xml" Id="R9c61d3b90a3947ef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cd416bc843498b" /><Relationship Type="http://schemas.openxmlformats.org/officeDocument/2006/relationships/image" Target="/ppt/media/image3.jpeg" Id="R6ed1cc9843984b77" /><Relationship Type="http://schemas.openxmlformats.org/officeDocument/2006/relationships/notesSlide" Target="/ppt/notesSlides/notesSlide13.xml" Id="R551719d346ec4067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53b7b4093446bd" /><Relationship Type="http://schemas.openxmlformats.org/officeDocument/2006/relationships/notesSlide" Target="/ppt/notesSlides/notesSlide14.xml" Id="R69b7b52c4f284069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c8813db3df473b" /><Relationship Type="http://schemas.openxmlformats.org/officeDocument/2006/relationships/notesSlide" Target="/ppt/notesSlides/notesSlide15.xml" Id="R24421c0846af444f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-3-1">
            <a:extLst xmlns:a="http://schemas.openxmlformats.org/drawingml/2006/main">
              <a:ext uri="{FF2B5EF4-FFF2-40B4-BE49-F238E27FC236}">
                <a16:creationId xmlns:a16="http://schemas.microsoft.com/office/drawing/2014/main" id="{6741C5F5-FB5B-42D1-AD7F-32A152EB5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38789"/>
            <a:ext cx="9448800" cy="24914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6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5700" b="1">
                <a:latin typeface="Arial"/>
                <a:ea typeface="Arial"/>
                <a:cs typeface="Arial"/>
              </a:rPr>
              <a:t>Saigon Route Lab</a:t>
            </a:r>
          </a:p>
        </p:txBody>
      </p:sp>
      <p:sp>
        <p:nvSpPr>
          <p:cNvPr id="2" name="Subtitle-4-2">
            <a:extLst xmlns:a="http://schemas.openxmlformats.org/drawingml/2006/main">
              <a:ext uri="{FF2B5EF4-FFF2-40B4-BE49-F238E27FC236}">
                <a16:creationId xmlns:a16="http://schemas.microsoft.com/office/drawing/2014/main" id="{36449AA6-6DE4-4C9D-9E59-7129F4307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742212"/>
            <a:ext cx="5702332" cy="10802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Tourist route planning across multiple Ho Chi Minh City landmarks</a:t>
            </a:r>
          </a:p>
        </p:txBody>
      </p:sp>
      <p:sp>
        <p:nvSpPr>
          <p:cNvPr id="3" name="Subtitle-4-3">
            <a:extLst xmlns:a="http://schemas.openxmlformats.org/drawingml/2006/main">
              <a:ext uri="{FF2B5EF4-FFF2-40B4-BE49-F238E27FC236}">
                <a16:creationId xmlns:a16="http://schemas.microsoft.com/office/drawing/2014/main" id="{9E1CAF74-650C-49C6-BCC1-AB4493ECC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92240"/>
            <a:ext cx="5702332" cy="6491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F7A62"/>
                </a:solidFill>
                <a:latin typeface="Arial"/>
                <a:ea typeface="Arial"/>
                <a:cs typeface="Arial"/>
              </a:rPr>
              <a:t>GROUP 1 | AI101 LAB 1</a:t>
            </a:r>
          </a:p>
        </p:txBody>
      </p:sp>
    </p:spTree>
    <p:extLst>
      <p:ext uri="{BB962C8B-B14F-4D97-AF65-F5344CB8AC3E}">
        <p14:creationId xmlns:p14="http://schemas.microsoft.com/office/powerpoint/2010/main" val="586939411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Slide-Number-Placeholder-1-2">
            <a:extLst xmlns:a="http://schemas.openxmlformats.org/drawingml/2006/main">
              <a:ext uri="{FF2B5EF4-FFF2-40B4-BE49-F238E27FC236}">
                <a16:creationId xmlns:a16="http://schemas.microsoft.com/office/drawing/2014/main" id="{E51F1EE0-4EBC-456B-B699-152E23007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Aft>
                <a:spcPts val="0"/>
              </a:spcAft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" name="Title-2-3">
            <a:extLst xmlns:a="http://schemas.openxmlformats.org/drawingml/2006/main">
              <a:ext uri="{FF2B5EF4-FFF2-40B4-BE49-F238E27FC236}">
                <a16:creationId xmlns:a16="http://schemas.microsoft.com/office/drawing/2014/main" id="{197D832E-B6FE-40CE-AA68-075F943F0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Aft>
                <a:spcPts val="0"/>
              </a:spcAft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 complete search study, not only an app demo</a:t>
            </a:r>
          </a:p>
        </p:txBody>
      </p:sp>
      <p:graphicFrame>
        <p:nvGraphicFramePr>
          <p:cNvPr id="8" name="Table-3-4"/>
          <p:cNvGraphicFramePr/>
          <p:nvPr/>
        </p:nvGraphicFramePr>
        <p:xfrm>
          <a:off xmlns:a="http://schemas.openxmlformats.org/drawingml/2006/main" x="393668" y="2079974"/>
          <a:ext xmlns:a="http://schemas.openxmlformats.org/drawingml/2006/main" cx="11404664" cy="3914394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878491"/>
                <a:gridCol w="10526078"/>
              </a:tblGrid>
              <a:tr h="652399">
                <a:tc>
                  <a:txBody>
                    <a:bodyPr/>
                    <a:lstStyle/>
                    <a:p>
                      <a:r>
                        <a:t>01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Agenda item one</a:t>
                      </a:r>
                    </a:p>
                  </a:txBody>
                  <a:tcPr marL="91440" marR="91440" marT="45720" marB="45720"/>
                </a:tc>
              </a:tr>
              <a:tr h="652399">
                <a:tc>
                  <a:txBody>
                    <a:bodyPr/>
                    <a:lstStyle/>
                    <a:p>
                      <a:r>
                        <a:t>02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Agenda item two</a:t>
                      </a:r>
                    </a:p>
                  </a:txBody>
                  <a:tcPr marL="91440" marR="91440" marT="45720" marB="45720"/>
                </a:tc>
              </a:tr>
              <a:tr h="652399">
                <a:tc>
                  <a:txBody>
                    <a:bodyPr/>
                    <a:lstStyle/>
                    <a:p>
                      <a:r>
                        <a:t>03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Agenda item three</a:t>
                      </a:r>
                    </a:p>
                  </a:txBody>
                  <a:tcPr marL="91440" marR="91440" marT="45720" marB="45720"/>
                </a:tc>
              </a:tr>
              <a:tr h="652399">
                <a:tc>
                  <a:txBody>
                    <a:bodyPr/>
                    <a:lstStyle/>
                    <a:p>
                      <a:r>
                        <a:t>04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Agenda item four</a:t>
                      </a:r>
                    </a:p>
                  </a:txBody>
                  <a:tcPr marL="91440" marR="91440" marT="45720" marB="45720"/>
                </a:tc>
              </a:tr>
              <a:tr h="652399">
                <a:tc>
                  <a:txBody>
                    <a:bodyPr/>
                    <a:lstStyle/>
                    <a:p>
                      <a:r>
                        <a:t>05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Agenda item five</a:t>
                      </a:r>
                    </a:p>
                  </a:txBody>
                  <a:tcPr marL="91440" marR="91440" marT="45720" marB="45720"/>
                </a:tc>
              </a:tr>
              <a:tr h="652399">
                <a:tc>
                  <a:txBody>
                    <a:bodyPr/>
                    <a:lstStyle/>
                    <a:p>
                      <a:r>
                        <a:t>06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Agenda item six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D8CDE7-0126-4E39-AD4C-0E554B3F2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" y="1952625"/>
            <a:ext cx="11525250" cy="414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400050" y="2095500"/>
          <a:ext xmlns:a="http://schemas.openxmlformats.org/drawingml/2006/main" cx="11391900" cy="3810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952500"/>
                <a:gridCol w="10439400"/>
              </a:tblGrid>
              <a:tr h="7620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01</a:t>
                      </a:r>
                    </a:p>
                  </a:txBody>
                  <a:tcPr marL="76200" marR="76200" marT="66675" marB="66675" anchor="ctr">
                    <a:solidFill>
                      <a:srgbClr val="10241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Vietnamese route problem and graph model</a:t>
                      </a:r>
                    </a:p>
                  </a:txBody>
                  <a:tcPr marL="76200" marR="76200" marT="66675" marB="66675" anchor="ctr">
                    <a:solidFill>
                      <a:srgbClr val="10241B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8211E"/>
                          </a:solidFill>
                          <a:latin typeface="Arial"/>
                          <a:ea typeface="Arial"/>
                          <a:cs typeface="Arial"/>
                        </a:rPr>
                        <a:t>02</a:t>
                      </a:r>
                    </a:p>
                  </a:txBody>
                  <a:tcPr marL="76200" marR="76200" marT="66675" marB="66675" anchor="ctr"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8211E"/>
                          </a:solidFill>
                          <a:latin typeface="Arial"/>
                          <a:ea typeface="Arial"/>
                          <a:cs typeface="Arial"/>
                        </a:rPr>
                        <a:t>BFS, DFS, UCS, A*, Dijkstra, and Greedy</a:t>
                      </a:r>
                    </a:p>
                  </a:txBody>
                  <a:tcPr marL="76200" marR="76200" marT="66675" marB="66675" anchor="ctr"/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8211E"/>
                          </a:solidFill>
                          <a:latin typeface="Arial"/>
                          <a:ea typeface="Arial"/>
                          <a:cs typeface="Arial"/>
                        </a:rPr>
                        <a:t>03</a:t>
                      </a:r>
                    </a:p>
                  </a:txBody>
                  <a:tcPr marL="76200" marR="76200" marT="66675" marB="66675" anchor="ctr"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8211E"/>
                          </a:solidFill>
                          <a:latin typeface="Arial"/>
                          <a:ea typeface="Arial"/>
                          <a:cs typeface="Arial"/>
                        </a:rPr>
                        <a:t>Controlled benchmark and traffic effects</a:t>
                      </a:r>
                    </a:p>
                  </a:txBody>
                  <a:tcPr marL="76200" marR="76200" marT="66675" marB="66675" anchor="ctr"/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8211E"/>
                          </a:solidFill>
                          <a:latin typeface="Arial"/>
                          <a:ea typeface="Arial"/>
                          <a:cs typeface="Arial"/>
                        </a:rPr>
                        <a:t>04</a:t>
                      </a:r>
                    </a:p>
                  </a:txBody>
                  <a:tcPr marL="76200" marR="76200" marT="66675" marB="66675" anchor="ctr"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8211E"/>
                          </a:solidFill>
                          <a:latin typeface="Arial"/>
                          <a:ea typeface="Arial"/>
                          <a:cs typeface="Arial"/>
                        </a:rPr>
                        <a:t>Nearest Neighbor versus Exact multi-stop routing</a:t>
                      </a:r>
                    </a:p>
                  </a:txBody>
                  <a:tcPr marL="76200" marR="76200" marT="66675" marB="66675" anchor="ctr"/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8211E"/>
                          </a:solidFill>
                          <a:latin typeface="Arial"/>
                          <a:ea typeface="Arial"/>
                          <a:cs typeface="Arial"/>
                        </a:rPr>
                        <a:t>05</a:t>
                      </a:r>
                    </a:p>
                  </a:txBody>
                  <a:tcPr marL="76200" marR="76200" marT="66675" marB="66675" anchor="ctr"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8211E"/>
                          </a:solidFill>
                          <a:latin typeface="Arial"/>
                          <a:ea typeface="Arial"/>
                          <a:cs typeface="Arial"/>
                        </a:rPr>
                        <a:t>GUI trace, explanation, verification, and limitations</a:t>
                      </a:r>
                    </a:p>
                  </a:txBody>
                  <a:tcPr marL="76200" marR="76200" marT="66675" marB="66675" anchor="ctr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8428406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Rounded-Rectangle-5-1">
            <a:extLst xmlns:a="http://schemas.openxmlformats.org/drawingml/2006/main">
              <a:ext uri="{FF2B5EF4-FFF2-40B4-BE49-F238E27FC236}">
                <a16:creationId xmlns:a16="http://schemas.microsoft.com/office/drawing/2014/main" id="{AEE7BC5F-F538-4227-9AFE-5F46FF6EA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2" name="Rounded-Rectangle-6-2">
            <a:extLst xmlns:a="http://schemas.openxmlformats.org/drawingml/2006/main">
              <a:ext uri="{FF2B5EF4-FFF2-40B4-BE49-F238E27FC236}">
                <a16:creationId xmlns:a16="http://schemas.microsoft.com/office/drawing/2014/main" id="{9C154A4F-649B-44F6-844D-1B7BCA905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682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3" name="Rounded-Rectangle-7-3">
            <a:extLst xmlns:a="http://schemas.openxmlformats.org/drawingml/2006/main">
              <a:ext uri="{FF2B5EF4-FFF2-40B4-BE49-F238E27FC236}">
                <a16:creationId xmlns:a16="http://schemas.microsoft.com/office/drawing/2014/main" id="{80731F04-0243-45D1-9917-79EEC7992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2267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4" name="Slide-Number-Placeholder-1-4">
            <a:extLst xmlns:a="http://schemas.openxmlformats.org/drawingml/2006/main">
              <a:ext uri="{FF2B5EF4-FFF2-40B4-BE49-F238E27FC236}">
                <a16:creationId xmlns:a16="http://schemas.microsoft.com/office/drawing/2014/main" id="{EF87057B-7BB0-463C-9BC8-47C3C0B04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Aft>
                <a:spcPts val="0"/>
              </a:spcAft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5" name="Title-2-5">
            <a:extLst xmlns:a="http://schemas.openxmlformats.org/drawingml/2006/main">
              <a:ext uri="{FF2B5EF4-FFF2-40B4-BE49-F238E27FC236}">
                <a16:creationId xmlns:a16="http://schemas.microsoft.com/office/drawing/2014/main" id="{16708DFA-F6D4-4235-B585-0F1C18165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Aft>
                <a:spcPts val="0"/>
              </a:spcAft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 real HCMC road graph makes search choices measurable</a:t>
            </a:r>
          </a:p>
        </p:txBody>
      </p:sp>
      <p:sp>
        <p:nvSpPr>
          <p:cNvPr id="6" name="Content-Placeholder-9-6">
            <a:extLst xmlns:a="http://schemas.openxmlformats.org/drawingml/2006/main">
              <a:ext uri="{FF2B5EF4-FFF2-40B4-BE49-F238E27FC236}">
                <a16:creationId xmlns:a16="http://schemas.microsoft.com/office/drawing/2014/main" id="{60111738-25ED-41C3-9373-EA02CDCA6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landmarks</a:t>
            </a:r>
          </a:p>
        </p:txBody>
      </p:sp>
      <p:sp>
        <p:nvSpPr>
          <p:cNvPr id="7" name="Content-Placeholder-10-7">
            <a:extLst xmlns:a="http://schemas.openxmlformats.org/drawingml/2006/main">
              <a:ext uri="{FF2B5EF4-FFF2-40B4-BE49-F238E27FC236}">
                <a16:creationId xmlns:a16="http://schemas.microsoft.com/office/drawing/2014/main" id="{BF60899C-0E67-49E9-A7C2-54D21DDA6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1830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directed edges</a:t>
            </a:r>
          </a:p>
        </p:txBody>
      </p:sp>
      <p:sp>
        <p:nvSpPr>
          <p:cNvPr id="8" name="Content-Placeholder-11-8">
            <a:extLst xmlns:a="http://schemas.openxmlformats.org/drawingml/2006/main">
              <a:ext uri="{FF2B5EF4-FFF2-40B4-BE49-F238E27FC236}">
                <a16:creationId xmlns:a16="http://schemas.microsoft.com/office/drawing/2014/main" id="{00801603-0033-494E-87B3-73327AE6D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124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routable nodes</a:t>
            </a:r>
          </a:p>
        </p:txBody>
      </p:sp>
      <p:sp>
        <p:nvSpPr>
          <p:cNvPr id="9" name="Content-Placeholder-9-9">
            <a:extLst xmlns:a="http://schemas.openxmlformats.org/drawingml/2006/main">
              <a:ext uri="{FF2B5EF4-FFF2-40B4-BE49-F238E27FC236}">
                <a16:creationId xmlns:a16="http://schemas.microsoft.com/office/drawing/2014/main" id="{C17FADE0-BE51-437B-9BF8-16F7EB18D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4800" b="1">
                <a:solidFill>
                  <a:srgbClr val="1F7A62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sp>
        <p:nvSpPr>
          <p:cNvPr id="10" name="Content-Placeholder-9-10">
            <a:extLst xmlns:a="http://schemas.openxmlformats.org/drawingml/2006/main">
              <a:ext uri="{FF2B5EF4-FFF2-40B4-BE49-F238E27FC236}">
                <a16:creationId xmlns:a16="http://schemas.microsoft.com/office/drawing/2014/main" id="{B9160E55-CA93-4BA4-8804-F354E08B5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2958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4800" b="1">
                <a:solidFill>
                  <a:srgbClr val="1F7A62"/>
                </a:solidFill>
                <a:latin typeface="Arial"/>
                <a:ea typeface="Arial"/>
                <a:cs typeface="Arial"/>
              </a:rPr>
              <a:t>481</a:t>
            </a:r>
          </a:p>
        </p:txBody>
      </p:sp>
      <p:sp>
        <p:nvSpPr>
          <p:cNvPr id="11" name="Content-Placeholder-9-11">
            <a:extLst xmlns:a="http://schemas.openxmlformats.org/drawingml/2006/main">
              <a:ext uri="{FF2B5EF4-FFF2-40B4-BE49-F238E27FC236}">
                <a16:creationId xmlns:a16="http://schemas.microsoft.com/office/drawing/2014/main" id="{A4771295-E859-43C6-BE03-095DFF2AA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40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4800" b="1">
                <a:solidFill>
                  <a:srgbClr val="1F7A62"/>
                </a:solidFill>
                <a:latin typeface="Arial"/>
                <a:ea typeface="Arial"/>
                <a:cs typeface="Arial"/>
              </a:rPr>
              <a:t>995</a:t>
            </a:r>
          </a:p>
        </p:txBody>
      </p:sp>
      <p:sp>
        <p:nvSpPr>
          <p:cNvPr id="12" name="Content-Placeholder-15-12">
            <a:extLst xmlns:a="http://schemas.openxmlformats.org/drawingml/2006/main">
              <a:ext uri="{FF2B5EF4-FFF2-40B4-BE49-F238E27FC236}">
                <a16:creationId xmlns:a16="http://schemas.microsoft.com/office/drawing/2014/main" id="{AE0A8D16-7E51-4169-8984-E2E1723CA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138333"/>
            <a:ext cx="11404568" cy="15994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Aft>
                <a:spcPts val="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F7A62"/>
                </a:solidFill>
                <a:latin typeface="Arial"/>
                <a:ea typeface="Arial"/>
                <a:cs typeface="Arial"/>
              </a:rPr>
              <a:t>MODEL</a:t>
            </a:r>
          </a:p>
          <a:p xmlns:a="http://schemas.openxmlformats.org/drawingml/2006/main">
            <a:pPr algn="l">
              <a:lnSpc>
                <a:spcPct val="100000"/>
              </a:lnSpc>
              <a:spcAft>
                <a:spcPts val="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Directed OSM-derived roads connect tourist landmarks. Every edge carries distance, estimated time, congestion, risk, road type, and geometry.</a:t>
            </a:r>
          </a:p>
        </p:txBody>
      </p:sp>
    </p:spTree>
    <p:extLst>
      <p:ext uri="{BB962C8B-B14F-4D97-AF65-F5344CB8AC3E}">
        <p14:creationId xmlns:p14="http://schemas.microsoft.com/office/powerpoint/2010/main" val="1314678524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lide-Number-Placeholder-1-2">
            <a:extLst xmlns:a="http://schemas.openxmlformats.org/drawingml/2006/main">
              <a:ext uri="{FF2B5EF4-FFF2-40B4-BE49-F238E27FC236}">
                <a16:creationId xmlns:a16="http://schemas.microsoft.com/office/drawing/2014/main" id="{8AC7E55B-73BF-4D99-BCFE-9067390A1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219" y="6278594"/>
            <a:ext cx="519113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Aft>
                <a:spcPts val="0"/>
              </a:spcAft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" name="Title-2-3">
            <a:extLst xmlns:a="http://schemas.openxmlformats.org/drawingml/2006/main">
              <a:ext uri="{FF2B5EF4-FFF2-40B4-BE49-F238E27FC236}">
                <a16:creationId xmlns:a16="http://schemas.microsoft.com/office/drawing/2014/main" id="{45FA14A7-86D8-4366-8635-C1F217EC6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Aft>
                <a:spcPts val="0"/>
              </a:spcAft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 shared model keeps all algorithms comparable</a:t>
            </a:r>
          </a:p>
        </p:txBody>
      </p:sp>
      <p:sp>
        <p:nvSpPr>
          <p:cNvPr id="3" name="Content-Placeholder-9-4">
            <a:extLst xmlns:a="http://schemas.openxmlformats.org/drawingml/2006/main">
              <a:ext uri="{FF2B5EF4-FFF2-40B4-BE49-F238E27FC236}">
                <a16:creationId xmlns:a16="http://schemas.microsoft.com/office/drawing/2014/main" id="{31944030-0922-40BF-BD11-5ADE68E2B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031968"/>
            <a:ext cx="5537168" cy="16430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Aft>
                <a:spcPts val="7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Directed state space</a:t>
            </a:r>
          </a:p>
          <a:p xmlns:a="http://schemas.openxmlformats.org/drawingml/2006/main">
            <a:pPr algn="l">
              <a:lnSpc>
                <a:spcPct val="108000"/>
              </a:lnSpc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State = road node. Action = follow an outgoing road edge. Goal = destination node.</a:t>
            </a:r>
          </a:p>
        </p:txBody>
      </p:sp>
      <p:sp>
        <p:nvSpPr>
          <p:cNvPr id="4" name="Content-Placeholder-10-5">
            <a:extLst xmlns:a="http://schemas.openxmlformats.org/drawingml/2006/main">
              <a:ext uri="{FF2B5EF4-FFF2-40B4-BE49-F238E27FC236}">
                <a16:creationId xmlns:a16="http://schemas.microsoft.com/office/drawing/2014/main" id="{6F66355F-3330-4C90-9B2F-4956538C7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6592" y="2031968"/>
            <a:ext cx="5537168" cy="16430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Aft>
                <a:spcPts val="7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Weighted cost</a:t>
            </a:r>
          </a:p>
          <a:p xmlns:a="http://schemas.openxmlformats.org/drawingml/2006/main">
            <a:pPr algn="l">
              <a:lnSpc>
                <a:spcPct val="108000"/>
              </a:lnSpc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alpha*distance + beta*time + gamma*congestion + delta*risk; all terms are non-negative.</a:t>
            </a:r>
          </a:p>
        </p:txBody>
      </p:sp>
      <p:sp>
        <p:nvSpPr>
          <p:cNvPr id="5" name="Content-Placeholder-9-6">
            <a:extLst xmlns:a="http://schemas.openxmlformats.org/drawingml/2006/main">
              <a:ext uri="{FF2B5EF4-FFF2-40B4-BE49-F238E27FC236}">
                <a16:creationId xmlns:a16="http://schemas.microsoft.com/office/drawing/2014/main" id="{90368695-F0E6-432E-9B0C-6982A57B3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016978"/>
            <a:ext cx="5537168" cy="164315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Aft>
                <a:spcPts val="7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Traffic scenarios</a:t>
            </a:r>
          </a:p>
          <a:p xmlns:a="http://schemas.openxmlformats.org/drawingml/2006/main">
            <a:pPr algn="l">
              <a:lnSpc>
                <a:spcPct val="108000"/>
              </a:lnSpc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Normal, rush hour, and rainy profiles deterministically change edge penalties.</a:t>
            </a:r>
          </a:p>
        </p:txBody>
      </p:sp>
      <p:sp>
        <p:nvSpPr>
          <p:cNvPr id="6" name="Content-Placeholder-10-7">
            <a:extLst xmlns:a="http://schemas.openxmlformats.org/drawingml/2006/main">
              <a:ext uri="{FF2B5EF4-FFF2-40B4-BE49-F238E27FC236}">
                <a16:creationId xmlns:a16="http://schemas.microsoft.com/office/drawing/2014/main" id="{7DAAFF07-225E-40CC-A8E2-21C296FEE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6592" y="4016978"/>
            <a:ext cx="5537168" cy="164315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Aft>
                <a:spcPts val="7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 API contract</a:t>
            </a:r>
          </a:p>
          <a:p xmlns:a="http://schemas.openxmlformats.org/drawingml/2006/main">
            <a:pPr algn="l">
              <a:lnSpc>
                <a:spcPct val="108000"/>
              </a:lnSpc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REST returns paths and metrics; WebSocket streams visited, frontier, current, g, h, and f.</a:t>
            </a:r>
          </a:p>
        </p:txBody>
      </p:sp>
    </p:spTree>
    <p:extLst>
      <p:ext uri="{BB962C8B-B14F-4D97-AF65-F5344CB8AC3E}">
        <p14:creationId xmlns:p14="http://schemas.microsoft.com/office/powerpoint/2010/main" val="1969813585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E4D404FF-1062-467E-B77D-9CB884F8B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Aft>
                <a:spcPts val="0"/>
              </a:spcAft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9C91BC5C-E940-4A18-9CFB-6B9D3110A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Aft>
                <a:spcPts val="0"/>
              </a:spcAft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</a:p>
        </p:txBody>
      </p:sp>
      <p:sp>
        <p:nvSpPr>
          <p:cNvPr id="3" name="Picture-3-4-backing">
            <a:extLst xmlns:a="http://schemas.openxmlformats.org/drawingml/2006/main">
              <a:ext uri="{FF2B5EF4-FFF2-40B4-BE49-F238E27FC236}">
                <a16:creationId xmlns:a16="http://schemas.microsoft.com/office/drawing/2014/main" id="{8587180D-A627-4D11-9D27-809ED493A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9069" y="396431"/>
            <a:ext cx="5539740" cy="5602034"/>
          </a:xfrm>
          <a:prstGeom xmlns:a="http://schemas.openxmlformats.org/drawingml/2006/main" prst="roundRect">
            <a:avLst>
              <a:gd name="adj" fmla="val 1376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Google-Shape-534-p58-5">
            <a:extLst xmlns:a="http://schemas.openxmlformats.org/drawingml/2006/main">
              <a:ext uri="{FF2B5EF4-FFF2-40B4-BE49-F238E27FC236}">
                <a16:creationId xmlns:a16="http://schemas.microsoft.com/office/drawing/2014/main" id="{F3BFA73A-1AD4-4ACB-86CE-35E197BF1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031968"/>
            <a:ext cx="5537168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Aft>
                <a:spcPts val="7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Two competing routes</a:t>
            </a:r>
          </a:p>
          <a:p xmlns:a="http://schemas.openxmlformats.org/drawingml/2006/main">
            <a:pPr algn="l">
              <a:lnSpc>
                <a:spcPct val="108000"/>
              </a:lnSpc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 -&gt; B -&gt; G has 2 edges and cost 9.
A -&gt; C -&gt; D -&gt; G has 3 edges and cost 3.
Heuristic h: A=2, B=0, C=2, D=1, G=0.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2F1BEA-5A29-4BAD-9631-83B9F6A30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23850"/>
            <a:ext cx="5667375" cy="577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1018F6-E3D4-4CA5-AC23-8EDFB10B9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2900"/>
            <a:ext cx="1140142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000000"/>
                </a:solidFill>
              </a:defRPr>
            </a:pPr>
            <a:r>
              <a:rPr sz="2925" b="1">
                <a:solidFill>
                  <a:srgbClr val="000000"/>
                </a:solidFill>
              </a:rPr>
              <a:t>One example graph exposes every guarantee</a:t>
            </a:r>
          </a:p>
        </p:txBody>
      </p:sp>
      <p:sp>
        <p:nvSpPr>
          <p:cNvPr id="8" name="node-A">
            <a:extLst xmlns:a="http://schemas.openxmlformats.org/drawingml/2006/main">
              <a:ext uri="{FF2B5EF4-FFF2-40B4-BE49-F238E27FC236}">
                <a16:creationId xmlns:a16="http://schemas.microsoft.com/office/drawing/2014/main" id="{80EC1D2C-5984-4BE6-8B11-084C7D07C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781300"/>
            <a:ext cx="628650" cy="628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241B"/>
          </a:solidFill>
          <a:ln xmlns:a="http://schemas.openxmlformats.org/drawingml/2006/main" w="19050">
            <a:solidFill>
              <a:srgbClr val="10241B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9" name="node-B">
            <a:extLst xmlns:a="http://schemas.openxmlformats.org/drawingml/2006/main">
              <a:ext uri="{FF2B5EF4-FFF2-40B4-BE49-F238E27FC236}">
                <a16:creationId xmlns:a16="http://schemas.microsoft.com/office/drawing/2014/main" id="{9541B00D-16E7-4E27-A7AA-56924EA4F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1571625"/>
            <a:ext cx="628650" cy="628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7A62"/>
          </a:solidFill>
          <a:ln xmlns:a="http://schemas.openxmlformats.org/drawingml/2006/main" w="19050">
            <a:solidFill>
              <a:srgbClr val="10241B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10" name="node-C">
            <a:extLst xmlns:a="http://schemas.openxmlformats.org/drawingml/2006/main">
              <a:ext uri="{FF2B5EF4-FFF2-40B4-BE49-F238E27FC236}">
                <a16:creationId xmlns:a16="http://schemas.microsoft.com/office/drawing/2014/main" id="{B7E335F0-E8BA-44D1-BA5B-B0D4FFCC8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000500"/>
            <a:ext cx="628650" cy="628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7A62"/>
          </a:solidFill>
          <a:ln xmlns:a="http://schemas.openxmlformats.org/drawingml/2006/main" w="19050">
            <a:solidFill>
              <a:srgbClr val="10241B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1" name="node-D">
            <a:extLst xmlns:a="http://schemas.openxmlformats.org/drawingml/2006/main">
              <a:ext uri="{FF2B5EF4-FFF2-40B4-BE49-F238E27FC236}">
                <a16:creationId xmlns:a16="http://schemas.microsoft.com/office/drawing/2014/main" id="{6D20BBE0-8717-4295-AFBC-7C6B9CCBD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000500"/>
            <a:ext cx="628650" cy="628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7A62"/>
          </a:solidFill>
          <a:ln xmlns:a="http://schemas.openxmlformats.org/drawingml/2006/main" w="19050">
            <a:solidFill>
              <a:srgbClr val="10241B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D</a:t>
            </a:r>
          </a:p>
        </p:txBody>
      </p:sp>
      <p:sp>
        <p:nvSpPr>
          <p:cNvPr id="12" name="node-G">
            <a:extLst xmlns:a="http://schemas.openxmlformats.org/drawingml/2006/main">
              <a:ext uri="{FF2B5EF4-FFF2-40B4-BE49-F238E27FC236}">
                <a16:creationId xmlns:a16="http://schemas.microsoft.com/office/drawing/2014/main" id="{48FE8BCC-D854-4FA2-A8D7-60306608D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2781300"/>
            <a:ext cx="628650" cy="628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4938"/>
          </a:solidFill>
          <a:ln xmlns:a="http://schemas.openxmlformats.org/drawingml/2006/main" w="19050">
            <a:solidFill>
              <a:srgbClr val="10241B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G</a:t>
            </a:r>
          </a:p>
        </p:txBody>
      </p:sp>
      <p:cxnSp>
        <p:nvCxnSpPr>
          <p:cNvPr id="34" name=""/>
          <p:cNvCxnSpPr>
            <a:stCxn xmlns:a="http://schemas.openxmlformats.org/drawingml/2006/main" id="8" idx="6"/>
            <a:endCxn xmlns:a="http://schemas.openxmlformats.org/drawingml/2006/main" id="9" idx="2"/>
          </p:cNvCxnSpPr>
          <p:nvPr/>
        </p:nvCxnSpPr>
        <p:spPr>
          <a:xfrm xmlns:a="http://schemas.openxmlformats.org/drawingml/2006/main" flipV="1">
            <a:off x="7105650" y="1885950"/>
            <a:ext cx="942975" cy="1209675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6C7772"/>
            </a:solidFill>
            <a:prstDash val="solid"/>
            <a:tailEnd type="triangle" w="sm" len="sm"/>
          </a:ln>
        </p:spPr>
      </p:cxnSp>
      <p:cxnSp>
        <p:nvCxnSpPr>
          <p:cNvPr id="35" name=""/>
          <p:cNvCxnSpPr>
            <a:stCxn xmlns:a="http://schemas.openxmlformats.org/drawingml/2006/main" id="8" idx="6"/>
            <a:endCxn xmlns:a="http://schemas.openxmlformats.org/drawingml/2006/main" id="10" idx="2"/>
          </p:cNvCxnSpPr>
          <p:nvPr/>
        </p:nvCxnSpPr>
        <p:spPr>
          <a:xfrm xmlns:a="http://schemas.openxmlformats.org/drawingml/2006/main">
            <a:off x="7105650" y="3095625"/>
            <a:ext cx="942975" cy="121920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6C7772"/>
            </a:solidFill>
            <a:prstDash val="solid"/>
            <a:tailEnd type="triangle" w="sm" len="sm"/>
          </a:ln>
        </p:spPr>
      </p:cxnSp>
      <p:cxnSp>
        <p:nvCxnSpPr>
          <p:cNvPr id="36" name=""/>
          <p:cNvCxnSpPr>
            <a:stCxn xmlns:a="http://schemas.openxmlformats.org/drawingml/2006/main" id="9" idx="6"/>
            <a:endCxn xmlns:a="http://schemas.openxmlformats.org/drawingml/2006/main" id="12" idx="0"/>
          </p:cNvCxnSpPr>
          <p:nvPr/>
        </p:nvCxnSpPr>
        <p:spPr>
          <a:xfrm xmlns:a="http://schemas.openxmlformats.org/drawingml/2006/main">
            <a:off x="8677275" y="1885950"/>
            <a:ext cx="2543175" cy="89535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6C7772"/>
            </a:solidFill>
            <a:prstDash val="solid"/>
            <a:tailEnd type="triangle" w="sm" len="sm"/>
          </a:ln>
        </p:spPr>
      </p:cxnSp>
      <p:cxnSp>
        <p:nvCxnSpPr>
          <p:cNvPr id="37" name=""/>
          <p:cNvCxnSpPr>
            <a:stCxn xmlns:a="http://schemas.openxmlformats.org/drawingml/2006/main" id="10" idx="6"/>
            <a:endCxn xmlns:a="http://schemas.openxmlformats.org/drawingml/2006/main" id="11" idx="2"/>
          </p:cNvCxnSpPr>
          <p:nvPr/>
        </p:nvCxnSpPr>
        <p:spPr>
          <a:xfrm xmlns:a="http://schemas.openxmlformats.org/drawingml/2006/main">
            <a:off x="8677275" y="4314825"/>
            <a:ext cx="847725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6C7772"/>
            </a:solidFill>
            <a:prstDash val="solid"/>
            <a:tailEnd type="triangle" w="sm" len="sm"/>
          </a:ln>
        </p:spPr>
      </p:cxnSp>
      <p:cxnSp>
        <p:nvCxnSpPr>
          <p:cNvPr id="38" name=""/>
          <p:cNvCxnSpPr>
            <a:stCxn xmlns:a="http://schemas.openxmlformats.org/drawingml/2006/main" id="11" idx="6"/>
            <a:endCxn xmlns:a="http://schemas.openxmlformats.org/drawingml/2006/main" id="12" idx="4"/>
          </p:cNvCxnSpPr>
          <p:nvPr/>
        </p:nvCxnSpPr>
        <p:spPr>
          <a:xfrm xmlns:a="http://schemas.openxmlformats.org/drawingml/2006/main" flipV="1">
            <a:off x="10153650" y="3409950"/>
            <a:ext cx="1066800" cy="904875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6C7772"/>
            </a:solidFill>
            <a:prstDash val="solid"/>
            <a:tailEnd type="triangle" w="sm" len="sm"/>
          </a:ln>
        </p:spPr>
      </p:cxn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8352365-794D-433B-AE49-B53C7C55C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000250"/>
            <a:ext cx="762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DD4938"/>
                </a:solidFill>
              </a:defRPr>
            </a:pPr>
            <a:r>
              <a:rPr sz="1125" b="1">
                <a:solidFill>
                  <a:srgbClr val="DD4938"/>
                </a:solidFill>
              </a:rPr>
              <a:t>cost 8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A89A494-08E8-4F4C-AE39-DA6EE15DD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790950"/>
            <a:ext cx="762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DD4938"/>
                </a:solidFill>
              </a:defRPr>
            </a:pPr>
            <a:r>
              <a:rPr sz="1125" b="1">
                <a:solidFill>
                  <a:srgbClr val="DD4938"/>
                </a:solidFill>
              </a:rPr>
              <a:t>cost 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A8ED42F-EA51-43A5-AF30-71669B1AA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1790700"/>
            <a:ext cx="762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DD4938"/>
                </a:solidFill>
              </a:defRPr>
            </a:pPr>
            <a:r>
              <a:rPr sz="1125" b="1">
                <a:solidFill>
                  <a:srgbClr val="DD4938"/>
                </a:solidFill>
              </a:rPr>
              <a:t>cost 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FE22457-5D04-4BBD-9093-5DAB21D59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171950"/>
            <a:ext cx="762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DD4938"/>
                </a:solidFill>
              </a:defRPr>
            </a:pPr>
            <a:r>
              <a:rPr sz="1125" b="1">
                <a:solidFill>
                  <a:srgbClr val="DD4938"/>
                </a:solidFill>
              </a:rPr>
              <a:t>cost 1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2015951-708E-4012-BEB6-ED921DA4A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3771900"/>
            <a:ext cx="762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DD4938"/>
                </a:solidFill>
              </a:defRPr>
            </a:pPr>
            <a:r>
              <a:rPr sz="1125" b="1">
                <a:solidFill>
                  <a:srgbClr val="DD4938"/>
                </a:solidFill>
              </a:rPr>
              <a:t>cost 1</a:t>
            </a:r>
          </a:p>
        </p:txBody>
      </p:sp>
    </p:spTree>
    <p:extLst>
      <p:ext uri="{BB962C8B-B14F-4D97-AF65-F5344CB8AC3E}">
        <p14:creationId xmlns:p14="http://schemas.microsoft.com/office/powerpoint/2010/main" val="794174504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77DC7515-F24F-4C1F-8179-7F1B3E0FF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Aft>
                <a:spcPts val="0"/>
              </a:spcAft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8AF4C550-5299-453C-A404-755CED012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Aft>
                <a:spcPts val="0"/>
              </a:spcAft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BFS and DFS follow structure; UCS follows accumulated cost</a:t>
            </a:r>
          </a:p>
        </p:txBody>
      </p:sp>
      <p:sp>
        <p:nvSpPr>
          <p:cNvPr id="3" name="Google-Shape-534-p58-4">
            <a:extLst xmlns:a="http://schemas.openxmlformats.org/drawingml/2006/main">
              <a:ext uri="{FF2B5EF4-FFF2-40B4-BE49-F238E27FC236}">
                <a16:creationId xmlns:a16="http://schemas.microsoft.com/office/drawing/2014/main" id="{21B7BA18-52F0-4E02-B7C2-34561268D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365468"/>
            <a:ext cx="3568732" cy="2628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Aft>
                <a:spcPts val="7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BFS | FIFO</a:t>
            </a:r>
          </a:p>
          <a:p xmlns:a="http://schemas.openxmlformats.org/drawingml/2006/main">
            <a:pPr algn="l">
              <a:lnSpc>
                <a:spcPct val="108000"/>
              </a:lnSpc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Pop: A, B, C, G
Path: A -&gt; B -&gt; G
Cost: 9
Guarantee: minimum edge count</a:t>
            </a:r>
          </a:p>
        </p:txBody>
      </p:sp>
      <p:sp>
        <p:nvSpPr>
          <p:cNvPr id="4" name="Content-Placeholder-1-5">
            <a:extLst xmlns:a="http://schemas.openxmlformats.org/drawingml/2006/main">
              <a:ext uri="{FF2B5EF4-FFF2-40B4-BE49-F238E27FC236}">
                <a16:creationId xmlns:a16="http://schemas.microsoft.com/office/drawing/2014/main" id="{D634A5D3-3B1C-45D4-AB51-88CB6AD31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365468"/>
            <a:ext cx="3568732" cy="2628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Aft>
                <a:spcPts val="7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UCS | min g</a:t>
            </a:r>
          </a:p>
          <a:p xmlns:a="http://schemas.openxmlformats.org/drawingml/2006/main">
            <a:pPr algn="l">
              <a:lnSpc>
                <a:spcPct val="108000"/>
              </a:lnSpc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Pop: A(0), C(1), D(2), G(3)
Path: A -&gt; C -&gt; D -&gt; G
Cost: 3
Optimal with non-negative costs</a:t>
            </a:r>
          </a:p>
        </p:txBody>
      </p:sp>
      <p:sp>
        <p:nvSpPr>
          <p:cNvPr id="5" name="Content-Placeholder-2-6">
            <a:extLst xmlns:a="http://schemas.openxmlformats.org/drawingml/2006/main">
              <a:ext uri="{FF2B5EF4-FFF2-40B4-BE49-F238E27FC236}">
                <a16:creationId xmlns:a16="http://schemas.microsoft.com/office/drawing/2014/main" id="{A2C6E042-7F97-4768-82CE-38399AB06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682" y="3365468"/>
            <a:ext cx="3568732" cy="2628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Aft>
                <a:spcPts val="7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DFS | LIFO</a:t>
            </a:r>
          </a:p>
          <a:p xmlns:a="http://schemas.openxmlformats.org/drawingml/2006/main">
            <a:pPr algn="l">
              <a:lnSpc>
                <a:spcPct val="108000"/>
              </a:lnSpc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Pop: A, B, G
Path: A -&gt; B -&gt; G
Cost: 9
Guarantee: none for route quality</a:t>
            </a:r>
          </a:p>
        </p:txBody>
      </p:sp>
    </p:spTree>
    <p:extLst>
      <p:ext uri="{BB962C8B-B14F-4D97-AF65-F5344CB8AC3E}">
        <p14:creationId xmlns:p14="http://schemas.microsoft.com/office/powerpoint/2010/main" val="500590479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3A4ACE42-8896-4B05-AC02-6AB435146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Aft>
                <a:spcPts val="0"/>
              </a:spcAft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F0CB2B04-42C9-4596-ADCF-0A421C5AC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Aft>
                <a:spcPts val="0"/>
              </a:spcAft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A* balances g+h; Greedy ignores accumulated cost</a:t>
            </a:r>
          </a:p>
        </p:txBody>
      </p:sp>
      <p:sp>
        <p:nvSpPr>
          <p:cNvPr id="3" name="Google-Shape-534-p58-4">
            <a:extLst xmlns:a="http://schemas.openxmlformats.org/drawingml/2006/main">
              <a:ext uri="{FF2B5EF4-FFF2-40B4-BE49-F238E27FC236}">
                <a16:creationId xmlns:a16="http://schemas.microsoft.com/office/drawing/2014/main" id="{D81FC0A7-8823-4A4F-8EFC-DA4B4AD29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365468"/>
            <a:ext cx="3568732" cy="2628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Aft>
                <a:spcPts val="7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A* | min g+h</a:t>
            </a:r>
          </a:p>
          <a:p xmlns:a="http://schemas.openxmlformats.org/drawingml/2006/main">
            <a:pPr algn="l">
              <a:lnSpc>
                <a:spcPct val="108000"/>
              </a:lnSpc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 order: A(2), C(3), D(3), G(3)
Path cost: 3
Admissible, consistent Haversine</a:t>
            </a:r>
          </a:p>
        </p:txBody>
      </p:sp>
      <p:sp>
        <p:nvSpPr>
          <p:cNvPr id="4" name="Content-Placeholder-1-5">
            <a:extLst xmlns:a="http://schemas.openxmlformats.org/drawingml/2006/main">
              <a:ext uri="{FF2B5EF4-FFF2-40B4-BE49-F238E27FC236}">
                <a16:creationId xmlns:a16="http://schemas.microsoft.com/office/drawing/2014/main" id="{3ACAFC61-C5AB-45EF-A918-800FA2FFA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365468"/>
            <a:ext cx="3568732" cy="2628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Aft>
                <a:spcPts val="7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Greedy | min h</a:t>
            </a:r>
          </a:p>
          <a:p xmlns:a="http://schemas.openxmlformats.org/drawingml/2006/main">
            <a:pPr algn="l">
              <a:lnSpc>
                <a:spcPct val="108000"/>
              </a:lnSpc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 order: A(2), B(0), G(0)
Path cost: 9
Fast in this case, but not cost-optimal</a:t>
            </a:r>
          </a:p>
        </p:txBody>
      </p:sp>
      <p:sp>
        <p:nvSpPr>
          <p:cNvPr id="5" name="Content-Placeholder-2-6">
            <a:extLst xmlns:a="http://schemas.openxmlformats.org/drawingml/2006/main">
              <a:ext uri="{FF2B5EF4-FFF2-40B4-BE49-F238E27FC236}">
                <a16:creationId xmlns:a16="http://schemas.microsoft.com/office/drawing/2014/main" id="{BA8409B7-E633-48A3-BE34-13430C4BD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682" y="3365468"/>
            <a:ext cx="3568732" cy="2628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Aft>
                <a:spcPts val="7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Dijkstra | min g</a:t>
            </a:r>
          </a:p>
          <a:p xmlns:a="http://schemas.openxmlformats.org/drawingml/2006/main">
            <a:pPr algn="l">
              <a:lnSpc>
                <a:spcPct val="108000"/>
              </a:lnSpc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Order: A(0), C(1), D(2), G(3)
Path cost: 3
Single-source pairwise cache</a:t>
            </a:r>
          </a:p>
        </p:txBody>
      </p:sp>
    </p:spTree>
    <p:extLst>
      <p:ext uri="{BB962C8B-B14F-4D97-AF65-F5344CB8AC3E}">
        <p14:creationId xmlns:p14="http://schemas.microsoft.com/office/powerpoint/2010/main" val="1128021986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CCE1C40F-E17A-4E41-AD6E-216486726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Aft>
                <a:spcPts val="0"/>
              </a:spcAft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95F7E85C-DA75-47BF-800C-0F95FA174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Aft>
                <a:spcPts val="0"/>
              </a:spcAft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guarantees depend on what each frontier prioritizes</a:t>
            </a:r>
          </a:p>
        </p:txBody>
      </p:sp>
      <p:sp>
        <p:nvSpPr>
          <p:cNvPr id="3" name="Content-Placeholder-15-4">
            <a:extLst xmlns:a="http://schemas.openxmlformats.org/drawingml/2006/main">
              <a:ext uri="{FF2B5EF4-FFF2-40B4-BE49-F238E27FC236}">
                <a16:creationId xmlns:a16="http://schemas.microsoft.com/office/drawing/2014/main" id="{812A26FC-B3E6-4E33-8287-B7460A886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907" y="1057466"/>
            <a:ext cx="11404568" cy="101222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Aft>
                <a:spcPts val="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F7A62"/>
                </a:solidFill>
                <a:latin typeface="Arial"/>
                <a:ea typeface="Arial"/>
                <a:cs typeface="Arial"/>
              </a:rPr>
              <a:t>THEORY</a:t>
            </a:r>
          </a:p>
          <a:p xmlns:a="http://schemas.openxmlformats.org/drawingml/2006/main">
            <a:pPr algn="l">
              <a:lnSpc>
                <a:spcPct val="100000"/>
              </a:lnSpc>
              <a:spcAft>
                <a:spcPts val="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Finite graph, deterministic tie-breaking, non-negative edge costs.</a:t>
            </a:r>
          </a:p>
        </p:txBody>
      </p:sp>
      <p:graphicFrame>
        <p:nvGraphicFramePr>
          <p:cNvPr id="10" name="Google-Shape-644-p93-5"/>
          <p:cNvGraphicFramePr/>
          <p:nvPr/>
        </p:nvGraphicFramePr>
        <p:xfrm>
          <a:off xmlns:a="http://schemas.openxmlformats.org/drawingml/2006/main" x="393668" y="2251043"/>
          <a:ext xmlns:a="http://schemas.openxmlformats.org/drawingml/2006/main" cx="11404568" cy="3932587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906107"/>
                <a:gridCol w="1874615"/>
                <a:gridCol w="1874615"/>
                <a:gridCol w="1874615"/>
                <a:gridCol w="1874615"/>
              </a:tblGrid>
              <a:tr h="436954">
                <a:tc>
                  <a:txBody>
                    <a:bodyPr/>
                    <a:lstStyle/>
                    <a:p>
                      <a:r>
                        <a:t>Column Label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Column Label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Column Label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Column Label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Column Label</a:t>
                      </a:r>
                    </a:p>
                  </a:txBody>
                  <a:tcPr marL="91440" marR="91440" marT="45720" marB="45720"/>
                </a:tc>
              </a:tr>
              <a:tr h="436954">
                <a:tc>
                  <a:txBody>
                    <a:bodyPr/>
                    <a:lstStyle/>
                    <a:p>
                      <a:r>
                        <a:t>Data Point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$00.000 / item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Yes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1,000,000k / 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0.00023862381</a:t>
                      </a:r>
                    </a:p>
                  </a:txBody>
                  <a:tcPr marL="91440" marR="91440" marT="45720" marB="45720"/>
                </a:tc>
              </a:tr>
              <a:tr h="436954">
                <a:tc>
                  <a:txBody>
                    <a:bodyPr/>
                    <a:lstStyle/>
                    <a:p>
                      <a:r>
                        <a:t>Data Point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$00.000 / item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No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1,000,000k / 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0.00023862381</a:t>
                      </a:r>
                    </a:p>
                  </a:txBody>
                  <a:tcPr marL="91440" marR="91440" marT="45720" marB="45720"/>
                </a:tc>
              </a:tr>
              <a:tr h="436954">
                <a:tc>
                  <a:txBody>
                    <a:bodyPr/>
                    <a:lstStyle/>
                    <a:p>
                      <a:r>
                        <a:t>Data Point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$00.000 / item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Yes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1,000,000k / 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0.00023862381</a:t>
                      </a:r>
                    </a:p>
                  </a:txBody>
                  <a:tcPr marL="91440" marR="91440" marT="45720" marB="45720"/>
                </a:tc>
              </a:tr>
              <a:tr h="436954">
                <a:tc>
                  <a:txBody>
                    <a:bodyPr/>
                    <a:lstStyle/>
                    <a:p>
                      <a:r>
                        <a:t>Data Point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$00.000 / item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No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1,000,000k / 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0.00023862381</a:t>
                      </a:r>
                    </a:p>
                  </a:txBody>
                  <a:tcPr marL="91440" marR="91440" marT="45720" marB="45720"/>
                </a:tc>
              </a:tr>
              <a:tr h="436954">
                <a:tc>
                  <a:txBody>
                    <a:bodyPr/>
                    <a:lstStyle/>
                    <a:p>
                      <a:r>
                        <a:t>Data Point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$00.000 / item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Yes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1,000,000k / 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0.00023862381</a:t>
                      </a:r>
                    </a:p>
                  </a:txBody>
                  <a:tcPr marL="91440" marR="91440" marT="45720" marB="45720"/>
                </a:tc>
              </a:tr>
              <a:tr h="436954">
                <a:tc>
                  <a:txBody>
                    <a:bodyPr/>
                    <a:lstStyle/>
                    <a:p>
                      <a:r>
                        <a:t>Data Point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$00.000 / item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No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1,000,000k / 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0.00023862381</a:t>
                      </a:r>
                    </a:p>
                  </a:txBody>
                  <a:tcPr marL="91440" marR="91440" marT="45720" marB="45720"/>
                </a:tc>
              </a:tr>
              <a:tr h="436954">
                <a:tc>
                  <a:txBody>
                    <a:bodyPr/>
                    <a:lstStyle/>
                    <a:p>
                      <a:r>
                        <a:t>Data Point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$00.000 / item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Yes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1,000,000k / 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0.00023862381</a:t>
                      </a:r>
                    </a:p>
                  </a:txBody>
                  <a:tcPr marL="91440" marR="91440" marT="45720" marB="45720"/>
                </a:tc>
              </a:tr>
              <a:tr h="436954">
                <a:tc>
                  <a:txBody>
                    <a:bodyPr/>
                    <a:lstStyle/>
                    <a:p>
                      <a:r>
                        <a:t>Data Point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$00.000 / item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Yes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1,000,000k / 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0.00023862381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2CE714-C176-4F7E-9347-8DCDE22CF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" y="2143125"/>
            <a:ext cx="1152525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400050" y="2247900"/>
          <a:ext xmlns:a="http://schemas.openxmlformats.org/drawingml/2006/main" cx="11391900" cy="390525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1809750"/>
                <a:gridCol w="1952625"/>
                <a:gridCol w="1762125"/>
                <a:gridCol w="2857500"/>
                <a:gridCol w="3009900"/>
              </a:tblGrid>
              <a:tr h="557893"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Algorithm</a:t>
                      </a:r>
                    </a:p>
                  </a:txBody>
                  <a:tcPr marL="76200" marR="76200" marT="66675" marB="66675" anchor="ctr">
                    <a:solidFill>
                      <a:srgbClr val="10241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Frontier key</a:t>
                      </a:r>
                    </a:p>
                  </a:txBody>
                  <a:tcPr marL="76200" marR="76200" marT="66675" marB="66675" anchor="ctr">
                    <a:solidFill>
                      <a:srgbClr val="10241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Complete here</a:t>
                      </a:r>
                    </a:p>
                  </a:txBody>
                  <a:tcPr marL="76200" marR="76200" marT="66675" marB="66675" anchor="ctr">
                    <a:solidFill>
                      <a:srgbClr val="10241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Optimality</a:t>
                      </a:r>
                    </a:p>
                  </a:txBody>
                  <a:tcPr marL="76200" marR="76200" marT="66675" marB="66675" anchor="ctr">
                    <a:solidFill>
                      <a:srgbClr val="10241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Worst-case time</a:t>
                      </a:r>
                    </a:p>
                  </a:txBody>
                  <a:tcPr marL="76200" marR="76200" marT="66675" marB="66675" anchor="ctr">
                    <a:solidFill>
                      <a:srgbClr val="10241B"/>
                    </a:solidFill>
                  </a:tcPr>
                </a:tc>
              </a:tr>
              <a:tr h="557893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8211E"/>
                          </a:solidFill>
                          <a:latin typeface="Arial"/>
                          <a:ea typeface="Arial"/>
                          <a:cs typeface="Arial"/>
                        </a:rPr>
                        <a:t>BFS</a:t>
                      </a:r>
                    </a:p>
                  </a:txBody>
                  <a:tcPr marL="76200" marR="76200" marT="66675" marB="66675" anchor="ctr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8211E"/>
                          </a:solidFill>
                          <a:latin typeface="Arial"/>
                          <a:ea typeface="Arial"/>
                          <a:cs typeface="Arial"/>
                        </a:rPr>
                        <a:t>FIFO depth</a:t>
                      </a:r>
                    </a:p>
                  </a:txBody>
                  <a:tcPr marL="76200" marR="76200" marT="66675" marB="66675" anchor="ctr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8211E"/>
                          </a:solidFill>
                          <a:latin typeface="Arial"/>
                          <a:ea typeface="Arial"/>
                          <a:cs typeface="Arial"/>
                        </a:rPr>
                        <a:t>Yes</a:t>
                      </a:r>
                    </a:p>
                  </a:txBody>
                  <a:tcPr marL="76200" marR="76200" marT="66675" marB="66675" anchor="ctr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8211E"/>
                          </a:solidFill>
                          <a:latin typeface="Arial"/>
                          <a:ea typeface="Arial"/>
                          <a:cs typeface="Arial"/>
                        </a:rPr>
                        <a:t>Edge count only</a:t>
                      </a:r>
                    </a:p>
                  </a:txBody>
                  <a:tcPr marL="76200" marR="76200" marT="66675" marB="66675" anchor="ctr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8211E"/>
                          </a:solidFill>
                          <a:latin typeface="Arial"/>
                          <a:ea typeface="Arial"/>
                          <a:cs typeface="Arial"/>
                        </a:rPr>
                        <a:t>O(V + E)</a:t>
                      </a:r>
                    </a:p>
                  </a:txBody>
                  <a:tcPr marL="76200" marR="76200" marT="66675" marB="66675" anchor="ctr"/>
                </a:tc>
              </a:tr>
              <a:tr h="557893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8211E"/>
                          </a:solidFill>
                          <a:latin typeface="Arial"/>
                          <a:ea typeface="Arial"/>
                          <a:cs typeface="Arial"/>
                        </a:rPr>
                        <a:t>DFS</a:t>
                      </a:r>
                    </a:p>
                  </a:txBody>
                  <a:tcPr marL="76200" marR="76200" marT="66675" marB="66675" anchor="ctr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8211E"/>
                          </a:solidFill>
                          <a:latin typeface="Arial"/>
                          <a:ea typeface="Arial"/>
                          <a:cs typeface="Arial"/>
                        </a:rPr>
                        <a:t>LIFO depth</a:t>
                      </a:r>
                    </a:p>
                  </a:txBody>
                  <a:tcPr marL="76200" marR="76200" marT="66675" marB="66675" anchor="ctr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8211E"/>
                          </a:solidFill>
                          <a:latin typeface="Arial"/>
                          <a:ea typeface="Arial"/>
                          <a:cs typeface="Arial"/>
                        </a:rPr>
                        <a:t>Yes</a:t>
                      </a:r>
                    </a:p>
                  </a:txBody>
                  <a:tcPr marL="76200" marR="76200" marT="66675" marB="66675" anchor="ctr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8211E"/>
                          </a:solidFill>
                          <a:latin typeface="Arial"/>
                          <a:ea typeface="Arial"/>
                          <a:cs typeface="Arial"/>
                        </a:rPr>
                        <a:t>No</a:t>
                      </a:r>
                    </a:p>
                  </a:txBody>
                  <a:tcPr marL="76200" marR="76200" marT="66675" marB="66675" anchor="ctr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8211E"/>
                          </a:solidFill>
                          <a:latin typeface="Arial"/>
                          <a:ea typeface="Arial"/>
                          <a:cs typeface="Arial"/>
                        </a:rPr>
                        <a:t>O(V + E)</a:t>
                      </a:r>
                    </a:p>
                  </a:txBody>
                  <a:tcPr marL="76200" marR="76200" marT="66675" marB="66675" anchor="ctr"/>
                </a:tc>
              </a:tr>
              <a:tr h="557893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8211E"/>
                          </a:solidFill>
                          <a:latin typeface="Arial"/>
                          <a:ea typeface="Arial"/>
                          <a:cs typeface="Arial"/>
                        </a:rPr>
                        <a:t>UCS</a:t>
                      </a:r>
                    </a:p>
                  </a:txBody>
                  <a:tcPr marL="76200" marR="76200" marT="66675" marB="66675" anchor="ctr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8211E"/>
                          </a:solidFill>
                          <a:latin typeface="Arial"/>
                          <a:ea typeface="Arial"/>
                          <a:cs typeface="Arial"/>
                        </a:rPr>
                        <a:t>min g</a:t>
                      </a:r>
                    </a:p>
                  </a:txBody>
                  <a:tcPr marL="76200" marR="76200" marT="66675" marB="66675" anchor="ctr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8211E"/>
                          </a:solidFill>
                          <a:latin typeface="Arial"/>
                          <a:ea typeface="Arial"/>
                          <a:cs typeface="Arial"/>
                        </a:rPr>
                        <a:t>Yes</a:t>
                      </a:r>
                    </a:p>
                  </a:txBody>
                  <a:tcPr marL="76200" marR="76200" marT="66675" marB="66675" anchor="ctr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8211E"/>
                          </a:solidFill>
                          <a:latin typeface="Arial"/>
                          <a:ea typeface="Arial"/>
                          <a:cs typeface="Arial"/>
                        </a:rPr>
                        <a:t>Weighted cost</a:t>
                      </a:r>
                    </a:p>
                  </a:txBody>
                  <a:tcPr marL="76200" marR="76200" marT="66675" marB="66675" anchor="ctr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8211E"/>
                          </a:solidFill>
                          <a:latin typeface="Arial"/>
                          <a:ea typeface="Arial"/>
                          <a:cs typeface="Arial"/>
                        </a:rPr>
                        <a:t>O((V + E) log V)</a:t>
                      </a:r>
                    </a:p>
                  </a:txBody>
                  <a:tcPr marL="76200" marR="76200" marT="66675" marB="66675" anchor="ctr"/>
                </a:tc>
              </a:tr>
              <a:tr h="557893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8211E"/>
                          </a:solidFill>
                          <a:latin typeface="Arial"/>
                          <a:ea typeface="Arial"/>
                          <a:cs typeface="Arial"/>
                        </a:rPr>
                        <a:t>A*</a:t>
                      </a:r>
                    </a:p>
                  </a:txBody>
                  <a:tcPr marL="76200" marR="76200" marT="66675" marB="66675" anchor="ctr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8211E"/>
                          </a:solidFill>
                          <a:latin typeface="Arial"/>
                          <a:ea typeface="Arial"/>
                          <a:cs typeface="Arial"/>
                        </a:rPr>
                        <a:t>min g + h</a:t>
                      </a:r>
                    </a:p>
                  </a:txBody>
                  <a:tcPr marL="76200" marR="76200" marT="66675" marB="66675" anchor="ctr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8211E"/>
                          </a:solidFill>
                          <a:latin typeface="Arial"/>
                          <a:ea typeface="Arial"/>
                          <a:cs typeface="Arial"/>
                        </a:rPr>
                        <a:t>Yes</a:t>
                      </a:r>
                    </a:p>
                  </a:txBody>
                  <a:tcPr marL="76200" marR="76200" marT="66675" marB="66675" anchor="ctr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8211E"/>
                          </a:solidFill>
                          <a:latin typeface="Arial"/>
                          <a:ea typeface="Arial"/>
                          <a:cs typeface="Arial"/>
                        </a:rPr>
                        <a:t>With admissible h</a:t>
                      </a:r>
                    </a:p>
                  </a:txBody>
                  <a:tcPr marL="76200" marR="76200" marT="66675" marB="66675" anchor="ctr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8211E"/>
                          </a:solidFill>
                          <a:latin typeface="Arial"/>
                          <a:ea typeface="Arial"/>
                          <a:cs typeface="Arial"/>
                        </a:rPr>
                        <a:t>O((V + E) log V)</a:t>
                      </a:r>
                    </a:p>
                  </a:txBody>
                  <a:tcPr marL="76200" marR="76200" marT="66675" marB="66675" anchor="ctr"/>
                </a:tc>
              </a:tr>
              <a:tr h="557893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8211E"/>
                          </a:solidFill>
                          <a:latin typeface="Arial"/>
                          <a:ea typeface="Arial"/>
                          <a:cs typeface="Arial"/>
                        </a:rPr>
                        <a:t>Dijkstra</a:t>
                      </a:r>
                    </a:p>
                  </a:txBody>
                  <a:tcPr marL="76200" marR="76200" marT="66675" marB="66675" anchor="ctr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8211E"/>
                          </a:solidFill>
                          <a:latin typeface="Arial"/>
                          <a:ea typeface="Arial"/>
                          <a:cs typeface="Arial"/>
                        </a:rPr>
                        <a:t>min g</a:t>
                      </a:r>
                    </a:p>
                  </a:txBody>
                  <a:tcPr marL="76200" marR="76200" marT="66675" marB="66675" anchor="ctr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8211E"/>
                          </a:solidFill>
                          <a:latin typeface="Arial"/>
                          <a:ea typeface="Arial"/>
                          <a:cs typeface="Arial"/>
                        </a:rPr>
                        <a:t>Yes</a:t>
                      </a:r>
                    </a:p>
                  </a:txBody>
                  <a:tcPr marL="76200" marR="76200" marT="66675" marB="66675" anchor="ctr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8211E"/>
                          </a:solidFill>
                          <a:latin typeface="Arial"/>
                          <a:ea typeface="Arial"/>
                          <a:cs typeface="Arial"/>
                        </a:rPr>
                        <a:t>Weighted cost</a:t>
                      </a:r>
                    </a:p>
                  </a:txBody>
                  <a:tcPr marL="76200" marR="76200" marT="66675" marB="66675" anchor="ctr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8211E"/>
                          </a:solidFill>
                          <a:latin typeface="Arial"/>
                          <a:ea typeface="Arial"/>
                          <a:cs typeface="Arial"/>
                        </a:rPr>
                        <a:t>O((V + E) log V)</a:t>
                      </a:r>
                    </a:p>
                  </a:txBody>
                  <a:tcPr marL="76200" marR="76200" marT="66675" marB="66675" anchor="ctr"/>
                </a:tc>
              </a:tr>
              <a:tr h="557893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8211E"/>
                          </a:solidFill>
                          <a:latin typeface="Arial"/>
                          <a:ea typeface="Arial"/>
                          <a:cs typeface="Arial"/>
                        </a:rPr>
                        <a:t>Greedy</a:t>
                      </a:r>
                    </a:p>
                  </a:txBody>
                  <a:tcPr marL="76200" marR="76200" marT="66675" marB="66675" anchor="ctr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8211E"/>
                          </a:solidFill>
                          <a:latin typeface="Arial"/>
                          <a:ea typeface="Arial"/>
                          <a:cs typeface="Arial"/>
                        </a:rPr>
                        <a:t>min h</a:t>
                      </a:r>
                    </a:p>
                  </a:txBody>
                  <a:tcPr marL="76200" marR="76200" marT="66675" marB="66675" anchor="ctr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8211E"/>
                          </a:solidFill>
                          <a:latin typeface="Arial"/>
                          <a:ea typeface="Arial"/>
                          <a:cs typeface="Arial"/>
                        </a:rPr>
                        <a:t>Yes</a:t>
                      </a:r>
                    </a:p>
                  </a:txBody>
                  <a:tcPr marL="76200" marR="76200" marT="66675" marB="66675" anchor="ctr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8211E"/>
                          </a:solidFill>
                          <a:latin typeface="Arial"/>
                          <a:ea typeface="Arial"/>
                          <a:cs typeface="Arial"/>
                        </a:rPr>
                        <a:t>No</a:t>
                      </a:r>
                    </a:p>
                  </a:txBody>
                  <a:tcPr marL="76200" marR="76200" marT="66675" marB="66675" anchor="ctr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8211E"/>
                          </a:solidFill>
                          <a:latin typeface="Arial"/>
                          <a:ea typeface="Arial"/>
                          <a:cs typeface="Arial"/>
                        </a:rPr>
                        <a:t>O((V + E) log V)</a:t>
                      </a:r>
                    </a:p>
                  </a:txBody>
                  <a:tcPr marL="76200" marR="76200" marT="66675" marB="66675" anchor="ctr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27479103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FD0F0539-ED0E-41D0-A8C8-F3DFE17C7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Aft>
                <a:spcPts val="0"/>
              </a:spcAft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919E1813-F9DE-4D38-9823-F5AAA45FA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Aft>
                <a:spcPts val="0"/>
              </a:spcAft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A* saves 46 expansions; Greedy trades guarantee for speed</a:t>
            </a:r>
          </a:p>
        </p:txBody>
      </p:sp>
      <p:sp>
        <p:nvSpPr>
          <p:cNvPr id="3" name="Content-Placeholder-15-4">
            <a:extLst xmlns:a="http://schemas.openxmlformats.org/drawingml/2006/main">
              <a:ext uri="{FF2B5EF4-FFF2-40B4-BE49-F238E27FC236}">
                <a16:creationId xmlns:a16="http://schemas.microsoft.com/office/drawing/2014/main" id="{61E582CB-1A12-43EC-9EB0-57A84D77B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907" y="1057466"/>
            <a:ext cx="11404568" cy="101222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Aft>
                <a:spcPts val="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F7A62"/>
                </a:solidFill>
                <a:latin typeface="Arial"/>
                <a:ea typeface="Arial"/>
                <a:cs typeface="Arial"/>
              </a:rPr>
              <a:t>NOTRE DAME -&gt; SAIGON ZOO</a:t>
            </a:r>
          </a:p>
          <a:p xmlns:a="http://schemas.openxmlformats.org/drawingml/2006/main">
            <a:pPr algn="l">
              <a:lnSpc>
                <a:spcPct val="100000"/>
              </a:lnSpc>
              <a:spcAft>
                <a:spcPts val="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Balanced cost, normal traffic; median of 10 in-process runs.</a:t>
            </a:r>
          </a:p>
        </p:txBody>
      </p:sp>
      <p:graphicFrame>
        <p:nvGraphicFramePr>
          <p:cNvPr id="10" name="Google-Shape-644-p93-5"/>
          <p:cNvGraphicFramePr/>
          <p:nvPr/>
        </p:nvGraphicFramePr>
        <p:xfrm>
          <a:off xmlns:a="http://schemas.openxmlformats.org/drawingml/2006/main" x="393668" y="2251043"/>
          <a:ext xmlns:a="http://schemas.openxmlformats.org/drawingml/2006/main" cx="11404568" cy="3932587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906107"/>
                <a:gridCol w="1874615"/>
                <a:gridCol w="1874615"/>
                <a:gridCol w="1874615"/>
                <a:gridCol w="1874615"/>
              </a:tblGrid>
              <a:tr h="436954">
                <a:tc>
                  <a:txBody>
                    <a:bodyPr/>
                    <a:lstStyle/>
                    <a:p>
                      <a:r>
                        <a:t>Column Label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Column Label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Column Label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Column Label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Column Label</a:t>
                      </a:r>
                    </a:p>
                  </a:txBody>
                  <a:tcPr marL="91440" marR="91440" marT="45720" marB="45720"/>
                </a:tc>
              </a:tr>
              <a:tr h="436954">
                <a:tc>
                  <a:txBody>
                    <a:bodyPr/>
                    <a:lstStyle/>
                    <a:p>
                      <a:r>
                        <a:t>Data Point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$00.000 / item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Yes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1,000,000k / 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0.00023862381</a:t>
                      </a:r>
                    </a:p>
                  </a:txBody>
                  <a:tcPr marL="91440" marR="91440" marT="45720" marB="45720"/>
                </a:tc>
              </a:tr>
              <a:tr h="436954">
                <a:tc>
                  <a:txBody>
                    <a:bodyPr/>
                    <a:lstStyle/>
                    <a:p>
                      <a:r>
                        <a:t>Data Point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$00.000 / item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No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1,000,000k / 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0.00023862381</a:t>
                      </a:r>
                    </a:p>
                  </a:txBody>
                  <a:tcPr marL="91440" marR="91440" marT="45720" marB="45720"/>
                </a:tc>
              </a:tr>
              <a:tr h="436954">
                <a:tc>
                  <a:txBody>
                    <a:bodyPr/>
                    <a:lstStyle/>
                    <a:p>
                      <a:r>
                        <a:t>Data Point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$00.000 / item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Yes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1,000,000k / 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0.00023862381</a:t>
                      </a:r>
                    </a:p>
                  </a:txBody>
                  <a:tcPr marL="91440" marR="91440" marT="45720" marB="45720"/>
                </a:tc>
              </a:tr>
              <a:tr h="436954">
                <a:tc>
                  <a:txBody>
                    <a:bodyPr/>
                    <a:lstStyle/>
                    <a:p>
                      <a:r>
                        <a:t>Data Point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$00.000 / item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No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1,000,000k / 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0.00023862381</a:t>
                      </a:r>
                    </a:p>
                  </a:txBody>
                  <a:tcPr marL="91440" marR="91440" marT="45720" marB="45720"/>
                </a:tc>
              </a:tr>
              <a:tr h="436954">
                <a:tc>
                  <a:txBody>
                    <a:bodyPr/>
                    <a:lstStyle/>
                    <a:p>
                      <a:r>
                        <a:t>Data Point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$00.000 / item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Yes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1,000,000k / 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0.00023862381</a:t>
                      </a:r>
                    </a:p>
                  </a:txBody>
                  <a:tcPr marL="91440" marR="91440" marT="45720" marB="45720"/>
                </a:tc>
              </a:tr>
              <a:tr h="436954">
                <a:tc>
                  <a:txBody>
                    <a:bodyPr/>
                    <a:lstStyle/>
                    <a:p>
                      <a:r>
                        <a:t>Data Point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$00.000 / item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No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1,000,000k / 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0.00023862381</a:t>
                      </a:r>
                    </a:p>
                  </a:txBody>
                  <a:tcPr marL="91440" marR="91440" marT="45720" marB="45720"/>
                </a:tc>
              </a:tr>
              <a:tr h="436954">
                <a:tc>
                  <a:txBody>
                    <a:bodyPr/>
                    <a:lstStyle/>
                    <a:p>
                      <a:r>
                        <a:t>Data Point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$00.000 / item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Yes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1,000,000k / 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0.00023862381</a:t>
                      </a:r>
                    </a:p>
                  </a:txBody>
                  <a:tcPr marL="91440" marR="91440" marT="45720" marB="45720"/>
                </a:tc>
              </a:tr>
              <a:tr h="436954">
                <a:tc>
                  <a:txBody>
                    <a:bodyPr/>
                    <a:lstStyle/>
                    <a:p>
                      <a:r>
                        <a:t>Data Point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$00.000 / item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Yes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1,000,000k / 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0.00023862381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D35EC9-A36A-4891-B17E-8D106751A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" y="2143125"/>
            <a:ext cx="1152525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400050" y="2247900"/>
          <a:ext xmlns:a="http://schemas.openxmlformats.org/drawingml/2006/main" cx="11391900" cy="390525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1809750"/>
                <a:gridCol w="1381125"/>
                <a:gridCol w="1381125"/>
                <a:gridCol w="1381125"/>
                <a:gridCol w="1714500"/>
                <a:gridCol w="1714500"/>
                <a:gridCol w="2009775"/>
              </a:tblGrid>
              <a:tr h="557893"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Algorithm</a:t>
                      </a:r>
                    </a:p>
                  </a:txBody>
                  <a:tcPr marL="76200" marR="76200" marT="66675" marB="66675" anchor="ctr">
                    <a:solidFill>
                      <a:srgbClr val="10241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Cost</a:t>
                      </a:r>
                    </a:p>
                  </a:txBody>
                  <a:tcPr marL="76200" marR="76200" marT="66675" marB="66675" anchor="ctr">
                    <a:solidFill>
                      <a:srgbClr val="10241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km</a:t>
                      </a:r>
                    </a:p>
                  </a:txBody>
                  <a:tcPr marL="76200" marR="76200" marT="66675" marB="66675" anchor="ctr">
                    <a:solidFill>
                      <a:srgbClr val="10241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min</a:t>
                      </a:r>
                    </a:p>
                  </a:txBody>
                  <a:tcPr marL="76200" marR="76200" marT="66675" marB="66675" anchor="ctr">
                    <a:solidFill>
                      <a:srgbClr val="10241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Expanded</a:t>
                      </a:r>
                    </a:p>
                  </a:txBody>
                  <a:tcPr marL="76200" marR="76200" marT="66675" marB="66675" anchor="ctr">
                    <a:solidFill>
                      <a:srgbClr val="10241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Generated</a:t>
                      </a:r>
                    </a:p>
                  </a:txBody>
                  <a:tcPr marL="76200" marR="76200" marT="66675" marB="66675" anchor="ctr">
                    <a:solidFill>
                      <a:srgbClr val="10241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Median ms</a:t>
                      </a:r>
                    </a:p>
                  </a:txBody>
                  <a:tcPr marL="76200" marR="76200" marT="66675" marB="66675" anchor="ctr">
                    <a:solidFill>
                      <a:srgbClr val="10241B"/>
                    </a:solidFill>
                  </a:tcPr>
                </a:tc>
              </a:tr>
              <a:tr h="557893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8211E"/>
                          </a:solidFill>
                          <a:latin typeface="Arial"/>
                          <a:ea typeface="Arial"/>
                          <a:cs typeface="Arial"/>
                        </a:rPr>
                        <a:t>BFS</a:t>
                      </a:r>
                    </a:p>
                  </a:txBody>
                  <a:tcPr marL="76200" marR="76200" marT="66675" marB="66675" anchor="ctr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8211E"/>
                          </a:solidFill>
                          <a:latin typeface="Arial"/>
                          <a:ea typeface="Arial"/>
                          <a:cs typeface="Arial"/>
                        </a:rPr>
                        <a:t>7.661</a:t>
                      </a:r>
                    </a:p>
                  </a:txBody>
                  <a:tcPr marL="76200" marR="76200" marT="66675" marB="66675" anchor="ctr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8211E"/>
                          </a:solidFill>
                          <a:latin typeface="Arial"/>
                          <a:ea typeface="Arial"/>
                          <a:cs typeface="Arial"/>
                        </a:rPr>
                        <a:t>2.046</a:t>
                      </a:r>
                    </a:p>
                  </a:txBody>
                  <a:tcPr marL="76200" marR="76200" marT="66675" marB="66675" anchor="ctr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8211E"/>
                          </a:solidFill>
                          <a:latin typeface="Arial"/>
                          <a:ea typeface="Arial"/>
                          <a:cs typeface="Arial"/>
                        </a:rPr>
                        <a:t>2.977</a:t>
                      </a:r>
                    </a:p>
                  </a:txBody>
                  <a:tcPr marL="76200" marR="76200" marT="66675" marB="66675" anchor="ctr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8211E"/>
                          </a:solidFill>
                          <a:latin typeface="Arial"/>
                          <a:ea typeface="Arial"/>
                          <a:cs typeface="Arial"/>
                        </a:rPr>
                        <a:t>206</a:t>
                      </a:r>
                    </a:p>
                  </a:txBody>
                  <a:tcPr marL="76200" marR="76200" marT="66675" marB="66675" anchor="ctr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8211E"/>
                          </a:solidFill>
                          <a:latin typeface="Arial"/>
                          <a:ea typeface="Arial"/>
                          <a:cs typeface="Arial"/>
                        </a:rPr>
                        <a:t>226</a:t>
                      </a:r>
                    </a:p>
                  </a:txBody>
                  <a:tcPr marL="76200" marR="76200" marT="66675" marB="66675" anchor="ctr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8211E"/>
                          </a:solidFill>
                          <a:latin typeface="Arial"/>
                          <a:ea typeface="Arial"/>
                          <a:cs typeface="Arial"/>
                        </a:rPr>
                        <a:t>0.890</a:t>
                      </a:r>
                    </a:p>
                  </a:txBody>
                  <a:tcPr marL="76200" marR="76200" marT="66675" marB="66675" anchor="ctr"/>
                </a:tc>
              </a:tr>
              <a:tr h="557893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8211E"/>
                          </a:solidFill>
                          <a:latin typeface="Arial"/>
                          <a:ea typeface="Arial"/>
                          <a:cs typeface="Arial"/>
                        </a:rPr>
                        <a:t>DFS</a:t>
                      </a:r>
                    </a:p>
                  </a:txBody>
                  <a:tcPr marL="76200" marR="76200" marT="66675" marB="66675" anchor="ctr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8211E"/>
                          </a:solidFill>
                          <a:latin typeface="Arial"/>
                          <a:ea typeface="Arial"/>
                          <a:cs typeface="Arial"/>
                        </a:rPr>
                        <a:t>35.768</a:t>
                      </a:r>
                    </a:p>
                  </a:txBody>
                  <a:tcPr marL="76200" marR="76200" marT="66675" marB="66675" anchor="ctr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8211E"/>
                          </a:solidFill>
                          <a:latin typeface="Arial"/>
                          <a:ea typeface="Arial"/>
                          <a:cs typeface="Arial"/>
                        </a:rPr>
                        <a:t>7.598</a:t>
                      </a:r>
                    </a:p>
                  </a:txBody>
                  <a:tcPr marL="76200" marR="76200" marT="66675" marB="66675" anchor="ctr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8211E"/>
                          </a:solidFill>
                          <a:latin typeface="Arial"/>
                          <a:ea typeface="Arial"/>
                          <a:cs typeface="Arial"/>
                        </a:rPr>
                        <a:t>9.733</a:t>
                      </a:r>
                    </a:p>
                  </a:txBody>
                  <a:tcPr marL="76200" marR="76200" marT="66675" marB="66675" anchor="ctr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8211E"/>
                          </a:solidFill>
                          <a:latin typeface="Arial"/>
                          <a:ea typeface="Arial"/>
                          <a:cs typeface="Arial"/>
                        </a:rPr>
                        <a:t>150</a:t>
                      </a:r>
                    </a:p>
                  </a:txBody>
                  <a:tcPr marL="76200" marR="76200" marT="66675" marB="66675" anchor="ctr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8211E"/>
                          </a:solidFill>
                          <a:latin typeface="Arial"/>
                          <a:ea typeface="Arial"/>
                          <a:cs typeface="Arial"/>
                        </a:rPr>
                        <a:t>183</a:t>
                      </a:r>
                    </a:p>
                  </a:txBody>
                  <a:tcPr marL="76200" marR="76200" marT="66675" marB="66675" anchor="ctr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8211E"/>
                          </a:solidFill>
                          <a:latin typeface="Arial"/>
                          <a:ea typeface="Arial"/>
                          <a:cs typeface="Arial"/>
                        </a:rPr>
                        <a:t>0.982</a:t>
                      </a:r>
                    </a:p>
                  </a:txBody>
                  <a:tcPr marL="76200" marR="76200" marT="66675" marB="66675" anchor="ctr"/>
                </a:tc>
              </a:tr>
              <a:tr h="557893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8211E"/>
                          </a:solidFill>
                          <a:latin typeface="Arial"/>
                          <a:ea typeface="Arial"/>
                          <a:cs typeface="Arial"/>
                        </a:rPr>
                        <a:t>UCS</a:t>
                      </a:r>
                    </a:p>
                  </a:txBody>
                  <a:tcPr marL="76200" marR="76200" marT="66675" marB="66675" anchor="ctr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8211E"/>
                          </a:solidFill>
                          <a:latin typeface="Arial"/>
                          <a:ea typeface="Arial"/>
                          <a:cs typeface="Arial"/>
                        </a:rPr>
                        <a:t>7.661</a:t>
                      </a:r>
                    </a:p>
                  </a:txBody>
                  <a:tcPr marL="76200" marR="76200" marT="66675" marB="66675" anchor="ctr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8211E"/>
                          </a:solidFill>
                          <a:latin typeface="Arial"/>
                          <a:ea typeface="Arial"/>
                          <a:cs typeface="Arial"/>
                        </a:rPr>
                        <a:t>2.046</a:t>
                      </a:r>
                    </a:p>
                  </a:txBody>
                  <a:tcPr marL="76200" marR="76200" marT="66675" marB="66675" anchor="ctr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8211E"/>
                          </a:solidFill>
                          <a:latin typeface="Arial"/>
                          <a:ea typeface="Arial"/>
                          <a:cs typeface="Arial"/>
                        </a:rPr>
                        <a:t>2.977</a:t>
                      </a:r>
                    </a:p>
                  </a:txBody>
                  <a:tcPr marL="76200" marR="76200" marT="66675" marB="66675" anchor="ctr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8211E"/>
                          </a:solidFill>
                          <a:latin typeface="Arial"/>
                          <a:ea typeface="Arial"/>
                          <a:cs typeface="Arial"/>
                        </a:rPr>
                        <a:t>218</a:t>
                      </a:r>
                    </a:p>
                  </a:txBody>
                  <a:tcPr marL="76200" marR="76200" marT="66675" marB="66675" anchor="ctr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8211E"/>
                          </a:solidFill>
                          <a:latin typeface="Arial"/>
                          <a:ea typeface="Arial"/>
                          <a:cs typeface="Arial"/>
                        </a:rPr>
                        <a:t>244</a:t>
                      </a:r>
                    </a:p>
                  </a:txBody>
                  <a:tcPr marL="76200" marR="76200" marT="66675" marB="66675" anchor="ctr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8211E"/>
                          </a:solidFill>
                          <a:latin typeface="Arial"/>
                          <a:ea typeface="Arial"/>
                          <a:cs typeface="Arial"/>
                        </a:rPr>
                        <a:t>0.294</a:t>
                      </a:r>
                    </a:p>
                  </a:txBody>
                  <a:tcPr marL="76200" marR="76200" marT="66675" marB="66675" anchor="ctr"/>
                </a:tc>
              </a:tr>
              <a:tr h="557893"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1F7A62"/>
                          </a:solidFill>
                          <a:latin typeface="Arial"/>
                          <a:ea typeface="Arial"/>
                          <a:cs typeface="Arial"/>
                        </a:rPr>
                        <a:t>A*</a:t>
                      </a:r>
                    </a:p>
                  </a:txBody>
                  <a:tcPr marL="76200" marR="76200" marT="66675" marB="66675" anchor="ctr">
                    <a:solidFill>
                      <a:srgbClr val="EEF4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1F7A62"/>
                          </a:solidFill>
                          <a:latin typeface="Arial"/>
                          <a:ea typeface="Arial"/>
                          <a:cs typeface="Arial"/>
                        </a:rPr>
                        <a:t>7.661</a:t>
                      </a:r>
                    </a:p>
                  </a:txBody>
                  <a:tcPr marL="76200" marR="76200" marT="66675" marB="66675" anchor="ctr">
                    <a:solidFill>
                      <a:srgbClr val="EEF4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1F7A62"/>
                          </a:solidFill>
                          <a:latin typeface="Arial"/>
                          <a:ea typeface="Arial"/>
                          <a:cs typeface="Arial"/>
                        </a:rPr>
                        <a:t>2.046</a:t>
                      </a:r>
                    </a:p>
                  </a:txBody>
                  <a:tcPr marL="76200" marR="76200" marT="66675" marB="66675" anchor="ctr">
                    <a:solidFill>
                      <a:srgbClr val="EEF4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1F7A62"/>
                          </a:solidFill>
                          <a:latin typeface="Arial"/>
                          <a:ea typeface="Arial"/>
                          <a:cs typeface="Arial"/>
                        </a:rPr>
                        <a:t>2.977</a:t>
                      </a:r>
                    </a:p>
                  </a:txBody>
                  <a:tcPr marL="76200" marR="76200" marT="66675" marB="66675" anchor="ctr">
                    <a:solidFill>
                      <a:srgbClr val="EEF4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1F7A62"/>
                          </a:solidFill>
                          <a:latin typeface="Arial"/>
                          <a:ea typeface="Arial"/>
                          <a:cs typeface="Arial"/>
                        </a:rPr>
                        <a:t>172</a:t>
                      </a:r>
                    </a:p>
                  </a:txBody>
                  <a:tcPr marL="76200" marR="76200" marT="66675" marB="66675" anchor="ctr">
                    <a:solidFill>
                      <a:srgbClr val="EEF4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1F7A62"/>
                          </a:solidFill>
                          <a:latin typeface="Arial"/>
                          <a:ea typeface="Arial"/>
                          <a:cs typeface="Arial"/>
                        </a:rPr>
                        <a:t>192</a:t>
                      </a:r>
                    </a:p>
                  </a:txBody>
                  <a:tcPr marL="76200" marR="76200" marT="66675" marB="66675" anchor="ctr">
                    <a:solidFill>
                      <a:srgbClr val="EEF4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1F7A62"/>
                          </a:solidFill>
                          <a:latin typeface="Arial"/>
                          <a:ea typeface="Arial"/>
                          <a:cs typeface="Arial"/>
                        </a:rPr>
                        <a:t>0.570</a:t>
                      </a:r>
                    </a:p>
                  </a:txBody>
                  <a:tcPr marL="76200" marR="76200" marT="66675" marB="66675" anchor="ctr">
                    <a:solidFill>
                      <a:srgbClr val="EEF4F1"/>
                    </a:solidFill>
                  </a:tcPr>
                </a:tc>
              </a:tr>
              <a:tr h="557893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8211E"/>
                          </a:solidFill>
                          <a:latin typeface="Arial"/>
                          <a:ea typeface="Arial"/>
                          <a:cs typeface="Arial"/>
                        </a:rPr>
                        <a:t>Dijkstra</a:t>
                      </a:r>
                    </a:p>
                  </a:txBody>
                  <a:tcPr marL="76200" marR="76200" marT="66675" marB="66675" anchor="ctr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8211E"/>
                          </a:solidFill>
                          <a:latin typeface="Arial"/>
                          <a:ea typeface="Arial"/>
                          <a:cs typeface="Arial"/>
                        </a:rPr>
                        <a:t>7.661</a:t>
                      </a:r>
                    </a:p>
                  </a:txBody>
                  <a:tcPr marL="76200" marR="76200" marT="66675" marB="66675" anchor="ctr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8211E"/>
                          </a:solidFill>
                          <a:latin typeface="Arial"/>
                          <a:ea typeface="Arial"/>
                          <a:cs typeface="Arial"/>
                        </a:rPr>
                        <a:t>2.046</a:t>
                      </a:r>
                    </a:p>
                  </a:txBody>
                  <a:tcPr marL="76200" marR="76200" marT="66675" marB="66675" anchor="ctr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8211E"/>
                          </a:solidFill>
                          <a:latin typeface="Arial"/>
                          <a:ea typeface="Arial"/>
                          <a:cs typeface="Arial"/>
                        </a:rPr>
                        <a:t>2.977</a:t>
                      </a:r>
                    </a:p>
                  </a:txBody>
                  <a:tcPr marL="76200" marR="76200" marT="66675" marB="66675" anchor="ctr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8211E"/>
                          </a:solidFill>
                          <a:latin typeface="Arial"/>
                          <a:ea typeface="Arial"/>
                          <a:cs typeface="Arial"/>
                        </a:rPr>
                        <a:t>218</a:t>
                      </a:r>
                    </a:p>
                  </a:txBody>
                  <a:tcPr marL="76200" marR="76200" marT="66675" marB="66675" anchor="ctr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8211E"/>
                          </a:solidFill>
                          <a:latin typeface="Arial"/>
                          <a:ea typeface="Arial"/>
                          <a:cs typeface="Arial"/>
                        </a:rPr>
                        <a:t>244</a:t>
                      </a:r>
                    </a:p>
                  </a:txBody>
                  <a:tcPr marL="76200" marR="76200" marT="66675" marB="66675" anchor="ctr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8211E"/>
                          </a:solidFill>
                          <a:latin typeface="Arial"/>
                          <a:ea typeface="Arial"/>
                          <a:cs typeface="Arial"/>
                        </a:rPr>
                        <a:t>0.292</a:t>
                      </a:r>
                    </a:p>
                  </a:txBody>
                  <a:tcPr marL="76200" marR="76200" marT="66675" marB="66675" anchor="ctr"/>
                </a:tc>
              </a:tr>
              <a:tr h="557893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8211E"/>
                          </a:solidFill>
                          <a:latin typeface="Arial"/>
                          <a:ea typeface="Arial"/>
                          <a:cs typeface="Arial"/>
                        </a:rPr>
                        <a:t>Greedy</a:t>
                      </a:r>
                    </a:p>
                  </a:txBody>
                  <a:tcPr marL="76200" marR="76200" marT="66675" marB="66675" anchor="ctr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8211E"/>
                          </a:solidFill>
                          <a:latin typeface="Arial"/>
                          <a:ea typeface="Arial"/>
                          <a:cs typeface="Arial"/>
                        </a:rPr>
                        <a:t>7.738</a:t>
                      </a:r>
                    </a:p>
                  </a:txBody>
                  <a:tcPr marL="76200" marR="76200" marT="66675" marB="66675" anchor="ctr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8211E"/>
                          </a:solidFill>
                          <a:latin typeface="Arial"/>
                          <a:ea typeface="Arial"/>
                          <a:cs typeface="Arial"/>
                        </a:rPr>
                        <a:t>1.422</a:t>
                      </a:r>
                    </a:p>
                  </a:txBody>
                  <a:tcPr marL="76200" marR="76200" marT="66675" marB="66675" anchor="ctr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8211E"/>
                          </a:solidFill>
                          <a:latin typeface="Arial"/>
                          <a:ea typeface="Arial"/>
                          <a:cs typeface="Arial"/>
                        </a:rPr>
                        <a:t>1.942</a:t>
                      </a:r>
                    </a:p>
                  </a:txBody>
                  <a:tcPr marL="76200" marR="76200" marT="66675" marB="66675" anchor="ctr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8211E"/>
                          </a:solidFill>
                          <a:latin typeface="Arial"/>
                          <a:ea typeface="Arial"/>
                          <a:cs typeface="Arial"/>
                        </a:rPr>
                        <a:t>19</a:t>
                      </a:r>
                    </a:p>
                  </a:txBody>
                  <a:tcPr marL="76200" marR="76200" marT="66675" marB="66675" anchor="ctr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8211E"/>
                          </a:solidFill>
                          <a:latin typeface="Arial"/>
                          <a:ea typeface="Arial"/>
                          <a:cs typeface="Arial"/>
                        </a:rPr>
                        <a:t>37</a:t>
                      </a:r>
                    </a:p>
                  </a:txBody>
                  <a:tcPr marL="76200" marR="76200" marT="66675" marB="66675" anchor="ctr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8211E"/>
                          </a:solidFill>
                          <a:latin typeface="Arial"/>
                          <a:ea typeface="Arial"/>
                          <a:cs typeface="Arial"/>
                        </a:rPr>
                        <a:t>0.135</a:t>
                      </a:r>
                    </a:p>
                  </a:txBody>
                  <a:tcPr marL="76200" marR="76200" marT="66675" marB="66675" anchor="ctr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4324059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lide-Number-Placeholder-1-2">
            <a:extLst xmlns:a="http://schemas.openxmlformats.org/drawingml/2006/main">
              <a:ext uri="{FF2B5EF4-FFF2-40B4-BE49-F238E27FC236}">
                <a16:creationId xmlns:a16="http://schemas.microsoft.com/office/drawing/2014/main" id="{B1514C6E-29D8-4F2A-80D3-8973C7E7B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219" y="6278594"/>
            <a:ext cx="519113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Aft>
                <a:spcPts val="0"/>
              </a:spcAft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2" name="Title-2-3">
            <a:extLst xmlns:a="http://schemas.openxmlformats.org/drawingml/2006/main">
              <a:ext uri="{FF2B5EF4-FFF2-40B4-BE49-F238E27FC236}">
                <a16:creationId xmlns:a16="http://schemas.microsoft.com/office/drawing/2014/main" id="{7D9049AC-D217-4217-B32E-4837B2A01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Aft>
                <a:spcPts val="0"/>
              </a:spcAft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Traffic penalties can change both route cost and road choice</a:t>
            </a:r>
          </a:p>
        </p:txBody>
      </p:sp>
      <p:sp>
        <p:nvSpPr>
          <p:cNvPr id="3" name="Content-Placeholder-9-4">
            <a:extLst xmlns:a="http://schemas.openxmlformats.org/drawingml/2006/main">
              <a:ext uri="{FF2B5EF4-FFF2-40B4-BE49-F238E27FC236}">
                <a16:creationId xmlns:a16="http://schemas.microsoft.com/office/drawing/2014/main" id="{CBD676C1-88C3-4641-AC19-0E1FE95FE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031968"/>
            <a:ext cx="5537168" cy="16430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Aft>
                <a:spcPts val="7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Normal</a:t>
            </a:r>
          </a:p>
          <a:p xmlns:a="http://schemas.openxmlformats.org/drawingml/2006/main">
            <a:pPr algn="l">
              <a:lnSpc>
                <a:spcPct val="108000"/>
              </a:lnSpc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Cost 9.365
2.140 km | 3.223 min
Baseline route</a:t>
            </a:r>
          </a:p>
        </p:txBody>
      </p:sp>
      <p:sp>
        <p:nvSpPr>
          <p:cNvPr id="4" name="Content-Placeholder-10-5">
            <a:extLst xmlns:a="http://schemas.openxmlformats.org/drawingml/2006/main">
              <a:ext uri="{FF2B5EF4-FFF2-40B4-BE49-F238E27FC236}">
                <a16:creationId xmlns:a16="http://schemas.microsoft.com/office/drawing/2014/main" id="{5C4162CD-06BA-4238-B715-C926CAA4F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6592" y="2031968"/>
            <a:ext cx="5537168" cy="16430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Aft>
                <a:spcPts val="7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Rush hour</a:t>
            </a:r>
          </a:p>
          <a:p xmlns:a="http://schemas.openxmlformats.org/drawingml/2006/main">
            <a:pPr algn="l">
              <a:lnSpc>
                <a:spcPct val="108000"/>
              </a:lnSpc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Cost 11.834
2.140 km | 5.394 min
Same roads, higher penalties</a:t>
            </a:r>
          </a:p>
        </p:txBody>
      </p:sp>
      <p:sp>
        <p:nvSpPr>
          <p:cNvPr id="5" name="Content-Placeholder-9-6">
            <a:extLst xmlns:a="http://schemas.openxmlformats.org/drawingml/2006/main">
              <a:ext uri="{FF2B5EF4-FFF2-40B4-BE49-F238E27FC236}">
                <a16:creationId xmlns:a16="http://schemas.microsoft.com/office/drawing/2014/main" id="{A1E511B4-B755-4F64-9B58-697E26DF8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016978"/>
            <a:ext cx="5537168" cy="164315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Aft>
                <a:spcPts val="7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Rainy</a:t>
            </a:r>
          </a:p>
          <a:p xmlns:a="http://schemas.openxmlformats.org/drawingml/2006/main">
            <a:pPr algn="l">
              <a:lnSpc>
                <a:spcPct val="108000"/>
              </a:lnSpc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Cost 13.184
2.145 km | 4.409 min
Route changes via Ly Tu Trong</a:t>
            </a:r>
          </a:p>
        </p:txBody>
      </p:sp>
      <p:sp>
        <p:nvSpPr>
          <p:cNvPr id="6" name="Content-Placeholder-10-7">
            <a:extLst xmlns:a="http://schemas.openxmlformats.org/drawingml/2006/main">
              <a:ext uri="{FF2B5EF4-FFF2-40B4-BE49-F238E27FC236}">
                <a16:creationId xmlns:a16="http://schemas.microsoft.com/office/drawing/2014/main" id="{2D549742-0E1C-4CA7-BFB4-27287D801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6592" y="4016978"/>
            <a:ext cx="5537168" cy="164315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Aft>
                <a:spcPts val="7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Across the graph</a:t>
            </a:r>
          </a:p>
          <a:p xmlns:a="http://schemas.openxmlformats.org/drawingml/2006/main">
            <a:pPr algn="l">
              <a:lnSpc>
                <a:spcPct val="108000"/>
              </a:lnSpc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177 of 552 ordered landmark pairs change path in at least one traffic profile.</a:t>
            </a:r>
          </a:p>
        </p:txBody>
      </p:sp>
    </p:spTree>
    <p:extLst>
      <p:ext uri="{BB962C8B-B14F-4D97-AF65-F5344CB8AC3E}">
        <p14:creationId xmlns:p14="http://schemas.microsoft.com/office/powerpoint/2010/main" val="149928715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0E1E8156-C999-4A61-978C-09733E241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Aft>
                <a:spcPts val="0"/>
              </a:spcAft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F606820C-E712-447A-AC43-A210A12CA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Aft>
                <a:spcPts val="0"/>
              </a:spcAft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Single search explains path, congestion, alternative, and trace</a:t>
            </a:r>
          </a:p>
        </p:txBody>
      </p:sp>
      <p:sp>
        <p:nvSpPr>
          <p:cNvPr id="3" name="Content-Placeholder-15-4">
            <a:extLst xmlns:a="http://schemas.openxmlformats.org/drawingml/2006/main">
              <a:ext uri="{FF2B5EF4-FFF2-40B4-BE49-F238E27FC236}">
                <a16:creationId xmlns:a16="http://schemas.microsoft.com/office/drawing/2014/main" id="{3374BA0E-067C-44B8-90AA-1CAEE8D24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907" y="1057466"/>
            <a:ext cx="11404568" cy="101222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Aft>
                <a:spcPts val="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</a:p>
          <a:p xmlns:a="http://schemas.openxmlformats.org/drawingml/2006/main">
            <a:pPr algn="l">
              <a:lnSpc>
                <a:spcPct val="100000"/>
              </a:lnSpc>
              <a:spcAft>
                <a:spcPts val="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</a:p>
        </p:txBody>
      </p:sp>
      <p:graphicFrame>
        <p:nvGraphicFramePr>
          <p:cNvPr id="10" name="Google-Shape-644-p93-5"/>
          <p:cNvGraphicFramePr/>
          <p:nvPr/>
        </p:nvGraphicFramePr>
        <p:xfrm>
          <a:off xmlns:a="http://schemas.openxmlformats.org/drawingml/2006/main" x="393668" y="2251043"/>
          <a:ext xmlns:a="http://schemas.openxmlformats.org/drawingml/2006/main" cx="11404568" cy="3932587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906107"/>
                <a:gridCol w="1874615"/>
                <a:gridCol w="1874615"/>
                <a:gridCol w="1874615"/>
                <a:gridCol w="1874615"/>
              </a:tblGrid>
              <a:tr h="436954">
                <a:tc>
                  <a:txBody>
                    <a:bodyPr/>
                    <a:lstStyle/>
                    <a:p>
                      <a:r>
                        <a:t>Column Label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Column Label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Column Label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Column Label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Column Label</a:t>
                      </a:r>
                    </a:p>
                  </a:txBody>
                  <a:tcPr marL="91440" marR="91440" marT="45720" marB="45720"/>
                </a:tc>
              </a:tr>
              <a:tr h="436954">
                <a:tc>
                  <a:txBody>
                    <a:bodyPr/>
                    <a:lstStyle/>
                    <a:p>
                      <a:r>
                        <a:t>Data Point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$00.000 / item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Yes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1,000,000k / 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0.00023862381</a:t>
                      </a:r>
                    </a:p>
                  </a:txBody>
                  <a:tcPr marL="91440" marR="91440" marT="45720" marB="45720"/>
                </a:tc>
              </a:tr>
              <a:tr h="436954">
                <a:tc>
                  <a:txBody>
                    <a:bodyPr/>
                    <a:lstStyle/>
                    <a:p>
                      <a:r>
                        <a:t>Data Point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$00.000 / item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No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1,000,000k / 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0.00023862381</a:t>
                      </a:r>
                    </a:p>
                  </a:txBody>
                  <a:tcPr marL="91440" marR="91440" marT="45720" marB="45720"/>
                </a:tc>
              </a:tr>
              <a:tr h="436954">
                <a:tc>
                  <a:txBody>
                    <a:bodyPr/>
                    <a:lstStyle/>
                    <a:p>
                      <a:r>
                        <a:t>Data Point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$00.000 / item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Yes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1,000,000k / 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0.00023862381</a:t>
                      </a:r>
                    </a:p>
                  </a:txBody>
                  <a:tcPr marL="91440" marR="91440" marT="45720" marB="45720"/>
                </a:tc>
              </a:tr>
              <a:tr h="436954">
                <a:tc>
                  <a:txBody>
                    <a:bodyPr/>
                    <a:lstStyle/>
                    <a:p>
                      <a:r>
                        <a:t>Data Point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$00.000 / item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No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1,000,000k / 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0.00023862381</a:t>
                      </a:r>
                    </a:p>
                  </a:txBody>
                  <a:tcPr marL="91440" marR="91440" marT="45720" marB="45720"/>
                </a:tc>
              </a:tr>
              <a:tr h="436954">
                <a:tc>
                  <a:txBody>
                    <a:bodyPr/>
                    <a:lstStyle/>
                    <a:p>
                      <a:r>
                        <a:t>Data Point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$00.000 / item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Yes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1,000,000k / 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0.00023862381</a:t>
                      </a:r>
                    </a:p>
                  </a:txBody>
                  <a:tcPr marL="91440" marR="91440" marT="45720" marB="45720"/>
                </a:tc>
              </a:tr>
              <a:tr h="436954">
                <a:tc>
                  <a:txBody>
                    <a:bodyPr/>
                    <a:lstStyle/>
                    <a:p>
                      <a:r>
                        <a:t>Data Point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$00.000 / item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No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1,000,000k / 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0.00023862381</a:t>
                      </a:r>
                    </a:p>
                  </a:txBody>
                  <a:tcPr marL="91440" marR="91440" marT="45720" marB="45720"/>
                </a:tc>
              </a:tr>
              <a:tr h="436954">
                <a:tc>
                  <a:txBody>
                    <a:bodyPr/>
                    <a:lstStyle/>
                    <a:p>
                      <a:r>
                        <a:t>Data Point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$00.000 / item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Yes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1,000,000k / 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0.00023862381</a:t>
                      </a:r>
                    </a:p>
                  </a:txBody>
                  <a:tcPr marL="91440" marR="91440" marT="45720" marB="45720"/>
                </a:tc>
              </a:tr>
              <a:tr h="436954">
                <a:tc>
                  <a:txBody>
                    <a:bodyPr/>
                    <a:lstStyle/>
                    <a:p>
                      <a:r>
                        <a:t>Data Point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$00.000 / item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Yes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1,000,000k / 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0.00023862381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141E3C-0333-448F-B7EB-8DFACC5D8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" y="1352550"/>
            <a:ext cx="11506200" cy="485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cf7f660e2843d5"/>
          <a:stretch xmlns:a="http://schemas.openxmlformats.org/drawingml/2006/main"/>
        </p:blipFill>
        <p:spPr>
          <a:xfrm xmlns:a="http://schemas.openxmlformats.org/drawingml/2006/main">
            <a:off x="1524000" y="1428750"/>
            <a:ext cx="9144000" cy="5143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2584443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48994D0F-038B-4513-9484-45B804F56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Aft>
                <a:spcPts val="0"/>
              </a:spcAft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DB48DC3C-F5F5-4791-8E78-6C7D70096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Aft>
                <a:spcPts val="0"/>
              </a:spcAft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Six algorithms remain comparable under identical controls</a:t>
            </a:r>
          </a:p>
        </p:txBody>
      </p:sp>
      <p:sp>
        <p:nvSpPr>
          <p:cNvPr id="3" name="Content-Placeholder-15-4">
            <a:extLst xmlns:a="http://schemas.openxmlformats.org/drawingml/2006/main">
              <a:ext uri="{FF2B5EF4-FFF2-40B4-BE49-F238E27FC236}">
                <a16:creationId xmlns:a16="http://schemas.microsoft.com/office/drawing/2014/main" id="{38C2DBE0-1528-4851-AC21-93A14EAA6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907" y="1057466"/>
            <a:ext cx="11404568" cy="101222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Aft>
                <a:spcPts val="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</a:p>
          <a:p xmlns:a="http://schemas.openxmlformats.org/drawingml/2006/main">
            <a:pPr algn="l">
              <a:lnSpc>
                <a:spcPct val="100000"/>
              </a:lnSpc>
              <a:spcAft>
                <a:spcPts val="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</a:p>
        </p:txBody>
      </p:sp>
      <p:graphicFrame>
        <p:nvGraphicFramePr>
          <p:cNvPr id="10" name="Google-Shape-644-p93-5"/>
          <p:cNvGraphicFramePr/>
          <p:nvPr/>
        </p:nvGraphicFramePr>
        <p:xfrm>
          <a:off xmlns:a="http://schemas.openxmlformats.org/drawingml/2006/main" x="393668" y="2251043"/>
          <a:ext xmlns:a="http://schemas.openxmlformats.org/drawingml/2006/main" cx="11404568" cy="3932587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906107"/>
                <a:gridCol w="1874615"/>
                <a:gridCol w="1874615"/>
                <a:gridCol w="1874615"/>
                <a:gridCol w="1874615"/>
              </a:tblGrid>
              <a:tr h="436954">
                <a:tc>
                  <a:txBody>
                    <a:bodyPr/>
                    <a:lstStyle/>
                    <a:p>
                      <a:r>
                        <a:t>Column Label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Column Label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Column Label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Column Label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Column Label</a:t>
                      </a:r>
                    </a:p>
                  </a:txBody>
                  <a:tcPr marL="91440" marR="91440" marT="45720" marB="45720"/>
                </a:tc>
              </a:tr>
              <a:tr h="436954">
                <a:tc>
                  <a:txBody>
                    <a:bodyPr/>
                    <a:lstStyle/>
                    <a:p>
                      <a:r>
                        <a:t>Data Point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$00.000 / item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Yes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1,000,000k / 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0.00023862381</a:t>
                      </a:r>
                    </a:p>
                  </a:txBody>
                  <a:tcPr marL="91440" marR="91440" marT="45720" marB="45720"/>
                </a:tc>
              </a:tr>
              <a:tr h="436954">
                <a:tc>
                  <a:txBody>
                    <a:bodyPr/>
                    <a:lstStyle/>
                    <a:p>
                      <a:r>
                        <a:t>Data Point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$00.000 / item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No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1,000,000k / 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0.00023862381</a:t>
                      </a:r>
                    </a:p>
                  </a:txBody>
                  <a:tcPr marL="91440" marR="91440" marT="45720" marB="45720"/>
                </a:tc>
              </a:tr>
              <a:tr h="436954">
                <a:tc>
                  <a:txBody>
                    <a:bodyPr/>
                    <a:lstStyle/>
                    <a:p>
                      <a:r>
                        <a:t>Data Point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$00.000 / item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Yes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1,000,000k / 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0.00023862381</a:t>
                      </a:r>
                    </a:p>
                  </a:txBody>
                  <a:tcPr marL="91440" marR="91440" marT="45720" marB="45720"/>
                </a:tc>
              </a:tr>
              <a:tr h="436954">
                <a:tc>
                  <a:txBody>
                    <a:bodyPr/>
                    <a:lstStyle/>
                    <a:p>
                      <a:r>
                        <a:t>Data Point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$00.000 / item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No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1,000,000k / 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0.00023862381</a:t>
                      </a:r>
                    </a:p>
                  </a:txBody>
                  <a:tcPr marL="91440" marR="91440" marT="45720" marB="45720"/>
                </a:tc>
              </a:tr>
              <a:tr h="436954">
                <a:tc>
                  <a:txBody>
                    <a:bodyPr/>
                    <a:lstStyle/>
                    <a:p>
                      <a:r>
                        <a:t>Data Point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$00.000 / item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Yes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1,000,000k / 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0.00023862381</a:t>
                      </a:r>
                    </a:p>
                  </a:txBody>
                  <a:tcPr marL="91440" marR="91440" marT="45720" marB="45720"/>
                </a:tc>
              </a:tr>
              <a:tr h="436954">
                <a:tc>
                  <a:txBody>
                    <a:bodyPr/>
                    <a:lstStyle/>
                    <a:p>
                      <a:r>
                        <a:t>Data Point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$00.000 / item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No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1,000,000k / 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0.00023862381</a:t>
                      </a:r>
                    </a:p>
                  </a:txBody>
                  <a:tcPr marL="91440" marR="91440" marT="45720" marB="45720"/>
                </a:tc>
              </a:tr>
              <a:tr h="436954">
                <a:tc>
                  <a:txBody>
                    <a:bodyPr/>
                    <a:lstStyle/>
                    <a:p>
                      <a:r>
                        <a:t>Data Point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$00.000 / item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Yes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1,000,000k / 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0.00023862381</a:t>
                      </a:r>
                    </a:p>
                  </a:txBody>
                  <a:tcPr marL="91440" marR="91440" marT="45720" marB="45720"/>
                </a:tc>
              </a:tr>
              <a:tr h="436954">
                <a:tc>
                  <a:txBody>
                    <a:bodyPr/>
                    <a:lstStyle/>
                    <a:p>
                      <a:r>
                        <a:t>Data Point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$00.000 / item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Yes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1,000,000k / 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0.00023862381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0502C1-B4F3-4DA3-A70D-05F7BFF5B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" y="1352550"/>
            <a:ext cx="11506200" cy="485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61ac0c26b741e1"/>
          <a:stretch xmlns:a="http://schemas.openxmlformats.org/drawingml/2006/main"/>
        </p:blipFill>
        <p:spPr>
          <a:xfrm xmlns:a="http://schemas.openxmlformats.org/drawingml/2006/main">
            <a:off x="1524000" y="1428750"/>
            <a:ext cx="9144000" cy="5143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1280445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31B46E97-16A4-491B-BDA7-34F8D5179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Aft>
                <a:spcPts val="0"/>
              </a:spcAft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C7A59359-9862-40CB-BF9F-BFDD7F2D2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Aft>
                <a:spcPts val="0"/>
              </a:spcAft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Exact beats nearest neighbor by 20.88%</a:t>
            </a:r>
          </a:p>
        </p:txBody>
      </p:sp>
      <p:sp>
        <p:nvSpPr>
          <p:cNvPr id="3" name="Content-Placeholder-15-4">
            <a:extLst xmlns:a="http://schemas.openxmlformats.org/drawingml/2006/main">
              <a:ext uri="{FF2B5EF4-FFF2-40B4-BE49-F238E27FC236}">
                <a16:creationId xmlns:a16="http://schemas.microsoft.com/office/drawing/2014/main" id="{2353407A-3E63-4C78-90C4-0B2C026C0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907" y="1057466"/>
            <a:ext cx="11404568" cy="101222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Aft>
                <a:spcPts val="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</a:p>
          <a:p xmlns:a="http://schemas.openxmlformats.org/drawingml/2006/main">
            <a:pPr algn="l">
              <a:lnSpc>
                <a:spcPct val="100000"/>
              </a:lnSpc>
              <a:spcAft>
                <a:spcPts val="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</a:p>
        </p:txBody>
      </p:sp>
      <p:graphicFrame>
        <p:nvGraphicFramePr>
          <p:cNvPr id="10" name="Google-Shape-644-p93-5"/>
          <p:cNvGraphicFramePr/>
          <p:nvPr/>
        </p:nvGraphicFramePr>
        <p:xfrm>
          <a:off xmlns:a="http://schemas.openxmlformats.org/drawingml/2006/main" x="393668" y="2251043"/>
          <a:ext xmlns:a="http://schemas.openxmlformats.org/drawingml/2006/main" cx="11404568" cy="3932587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906107"/>
                <a:gridCol w="1874615"/>
                <a:gridCol w="1874615"/>
                <a:gridCol w="1874615"/>
                <a:gridCol w="1874615"/>
              </a:tblGrid>
              <a:tr h="436954">
                <a:tc>
                  <a:txBody>
                    <a:bodyPr/>
                    <a:lstStyle/>
                    <a:p>
                      <a:r>
                        <a:t>Column Label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Column Label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Column Label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Column Label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Column Label</a:t>
                      </a:r>
                    </a:p>
                  </a:txBody>
                  <a:tcPr marL="91440" marR="91440" marT="45720" marB="45720"/>
                </a:tc>
              </a:tr>
              <a:tr h="436954">
                <a:tc>
                  <a:txBody>
                    <a:bodyPr/>
                    <a:lstStyle/>
                    <a:p>
                      <a:r>
                        <a:t>Data Point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$00.000 / item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Yes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1,000,000k / 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0.00023862381</a:t>
                      </a:r>
                    </a:p>
                  </a:txBody>
                  <a:tcPr marL="91440" marR="91440" marT="45720" marB="45720"/>
                </a:tc>
              </a:tr>
              <a:tr h="436954">
                <a:tc>
                  <a:txBody>
                    <a:bodyPr/>
                    <a:lstStyle/>
                    <a:p>
                      <a:r>
                        <a:t>Data Point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$00.000 / item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No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1,000,000k / 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0.00023862381</a:t>
                      </a:r>
                    </a:p>
                  </a:txBody>
                  <a:tcPr marL="91440" marR="91440" marT="45720" marB="45720"/>
                </a:tc>
              </a:tr>
              <a:tr h="436954">
                <a:tc>
                  <a:txBody>
                    <a:bodyPr/>
                    <a:lstStyle/>
                    <a:p>
                      <a:r>
                        <a:t>Data Point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$00.000 / item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Yes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1,000,000k / 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0.00023862381</a:t>
                      </a:r>
                    </a:p>
                  </a:txBody>
                  <a:tcPr marL="91440" marR="91440" marT="45720" marB="45720"/>
                </a:tc>
              </a:tr>
              <a:tr h="436954">
                <a:tc>
                  <a:txBody>
                    <a:bodyPr/>
                    <a:lstStyle/>
                    <a:p>
                      <a:r>
                        <a:t>Data Point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$00.000 / item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No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1,000,000k / 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0.00023862381</a:t>
                      </a:r>
                    </a:p>
                  </a:txBody>
                  <a:tcPr marL="91440" marR="91440" marT="45720" marB="45720"/>
                </a:tc>
              </a:tr>
              <a:tr h="436954">
                <a:tc>
                  <a:txBody>
                    <a:bodyPr/>
                    <a:lstStyle/>
                    <a:p>
                      <a:r>
                        <a:t>Data Point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$00.000 / item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Yes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1,000,000k / 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0.00023862381</a:t>
                      </a:r>
                    </a:p>
                  </a:txBody>
                  <a:tcPr marL="91440" marR="91440" marT="45720" marB="45720"/>
                </a:tc>
              </a:tr>
              <a:tr h="436954">
                <a:tc>
                  <a:txBody>
                    <a:bodyPr/>
                    <a:lstStyle/>
                    <a:p>
                      <a:r>
                        <a:t>Data Point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$00.000 / item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No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1,000,000k / 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0.00023862381</a:t>
                      </a:r>
                    </a:p>
                  </a:txBody>
                  <a:tcPr marL="91440" marR="91440" marT="45720" marB="45720"/>
                </a:tc>
              </a:tr>
              <a:tr h="436954">
                <a:tc>
                  <a:txBody>
                    <a:bodyPr/>
                    <a:lstStyle/>
                    <a:p>
                      <a:r>
                        <a:t>Data Point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$00.000 / item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Yes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1,000,000k / 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0.00023862381</a:t>
                      </a:r>
                    </a:p>
                  </a:txBody>
                  <a:tcPr marL="91440" marR="91440" marT="45720" marB="45720"/>
                </a:tc>
              </a:tr>
              <a:tr h="436954">
                <a:tc>
                  <a:txBody>
                    <a:bodyPr/>
                    <a:lstStyle/>
                    <a:p>
                      <a:r>
                        <a:t>Data Point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$00.000 / item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Yes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1,000,000k / 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0.00023862381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D18E17-49E1-45A8-A6B9-B23A2F293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" y="1352550"/>
            <a:ext cx="11506200" cy="485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d1cc9843984b77"/>
          <a:stretch xmlns:a="http://schemas.openxmlformats.org/drawingml/2006/main"/>
        </p:blipFill>
        <p:spPr>
          <a:xfrm xmlns:a="http://schemas.openxmlformats.org/drawingml/2006/main">
            <a:off x="1524000" y="1428750"/>
            <a:ext cx="9144000" cy="5143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7474031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lide-Number-Placeholder-1-2">
            <a:extLst xmlns:a="http://schemas.openxmlformats.org/drawingml/2006/main">
              <a:ext uri="{FF2B5EF4-FFF2-40B4-BE49-F238E27FC236}">
                <a16:creationId xmlns:a16="http://schemas.microsoft.com/office/drawing/2014/main" id="{D53DF30C-6F65-4FAA-BF2F-C4505BCF5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219" y="6278594"/>
            <a:ext cx="519113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Aft>
                <a:spcPts val="0"/>
              </a:spcAft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2" name="Title-2-3">
            <a:extLst xmlns:a="http://schemas.openxmlformats.org/drawingml/2006/main">
              <a:ext uri="{FF2B5EF4-FFF2-40B4-BE49-F238E27FC236}">
                <a16:creationId xmlns:a16="http://schemas.microsoft.com/office/drawing/2014/main" id="{991F0040-9C9C-42AD-B2FF-A257D4789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Aft>
                <a:spcPts val="0"/>
              </a:spcAft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Verification is broad, while limitations stay explicit</a:t>
            </a:r>
          </a:p>
        </p:txBody>
      </p:sp>
      <p:sp>
        <p:nvSpPr>
          <p:cNvPr id="3" name="Content-Placeholder-9-4">
            <a:extLst xmlns:a="http://schemas.openxmlformats.org/drawingml/2006/main">
              <a:ext uri="{FF2B5EF4-FFF2-40B4-BE49-F238E27FC236}">
                <a16:creationId xmlns:a16="http://schemas.microsoft.com/office/drawing/2014/main" id="{D0607E9F-FD92-416D-A6DB-E900FD468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031968"/>
            <a:ext cx="5537168" cy="16430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Aft>
                <a:spcPts val="7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70 tests</a:t>
            </a:r>
          </a:p>
          <a:p xmlns:a="http://schemas.openxmlformats.org/drawingml/2006/main">
            <a:pPr algn="l">
              <a:lnSpc>
                <a:spcPct val="108000"/>
              </a:lnSpc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Algorithms, contracts, API validation, WebSocket streaming, traffic, and multi-stop behavior.</a:t>
            </a:r>
          </a:p>
        </p:txBody>
      </p:sp>
      <p:sp>
        <p:nvSpPr>
          <p:cNvPr id="4" name="Content-Placeholder-10-5">
            <a:extLst xmlns:a="http://schemas.openxmlformats.org/drawingml/2006/main">
              <a:ext uri="{FF2B5EF4-FFF2-40B4-BE49-F238E27FC236}">
                <a16:creationId xmlns:a16="http://schemas.microsoft.com/office/drawing/2014/main" id="{F224A7AB-14F0-4394-91CB-895F11ED7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6592" y="2031968"/>
            <a:ext cx="5537168" cy="16430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Aft>
                <a:spcPts val="7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552 pairs</a:t>
            </a:r>
          </a:p>
          <a:p xmlns:a="http://schemas.openxmlformats.org/drawingml/2006/main">
            <a:pPr algn="l">
              <a:lnSpc>
                <a:spcPct val="108000"/>
              </a:lnSpc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Every ordered landmark pair is reachable; UCS, A*, and Dijkstra match optimal cost.</a:t>
            </a:r>
          </a:p>
        </p:txBody>
      </p:sp>
      <p:sp>
        <p:nvSpPr>
          <p:cNvPr id="5" name="Content-Placeholder-9-6">
            <a:extLst xmlns:a="http://schemas.openxmlformats.org/drawingml/2006/main">
              <a:ext uri="{FF2B5EF4-FFF2-40B4-BE49-F238E27FC236}">
                <a16:creationId xmlns:a16="http://schemas.microsoft.com/office/drawing/2014/main" id="{87C01210-BC9D-46F5-8CD8-008931AD4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016978"/>
            <a:ext cx="5537168" cy="164315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Aft>
                <a:spcPts val="7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A* audit</a:t>
            </a:r>
          </a:p>
          <a:p xmlns:a="http://schemas.openxmlformats.org/drawingml/2006/main">
            <a:pPr algn="l">
              <a:lnSpc>
                <a:spcPct val="108000"/>
              </a:lnSpc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Zero consistency violations over all graph edges, 24 goals, and five weight presets.</a:t>
            </a:r>
          </a:p>
        </p:txBody>
      </p:sp>
      <p:sp>
        <p:nvSpPr>
          <p:cNvPr id="6" name="Content-Placeholder-10-7">
            <a:extLst xmlns:a="http://schemas.openxmlformats.org/drawingml/2006/main">
              <a:ext uri="{FF2B5EF4-FFF2-40B4-BE49-F238E27FC236}">
                <a16:creationId xmlns:a16="http://schemas.microsoft.com/office/drawing/2014/main" id="{E6A6B400-6E55-400E-AED7-9D043F8CF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6592" y="4016978"/>
            <a:ext cx="5537168" cy="164315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Aft>
                <a:spcPts val="7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Known limits</a:t>
            </a:r>
          </a:p>
          <a:p xmlns:a="http://schemas.openxmlformats.org/drawingml/2006/main">
            <a:pPr algn="l">
              <a:lnSpc>
                <a:spcPct val="108000"/>
              </a:lnSpc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Simulated traffic, landmark access offsets, one boundary connector, and factorial exact search.</a:t>
            </a:r>
          </a:p>
        </p:txBody>
      </p:sp>
    </p:spTree>
    <p:extLst>
      <p:ext uri="{BB962C8B-B14F-4D97-AF65-F5344CB8AC3E}">
        <p14:creationId xmlns:p14="http://schemas.microsoft.com/office/powerpoint/2010/main" val="1383740604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-3-1">
            <a:extLst xmlns:a="http://schemas.openxmlformats.org/drawingml/2006/main">
              <a:ext uri="{FF2B5EF4-FFF2-40B4-BE49-F238E27FC236}">
                <a16:creationId xmlns:a16="http://schemas.microsoft.com/office/drawing/2014/main" id="{1AC041B8-4227-453F-9541-8E60328B2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38789"/>
            <a:ext cx="9448800" cy="24914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6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5400" b="1">
                <a:latin typeface="Arial"/>
                <a:ea typeface="Arial"/>
                <a:cs typeface="Arial"/>
              </a:rPr>
              <a:t>Search choice changes
route quality</a:t>
            </a:r>
          </a:p>
        </p:txBody>
      </p:sp>
      <p:sp>
        <p:nvSpPr>
          <p:cNvPr id="2" name="Subtitle-4-2">
            <a:extLst xmlns:a="http://schemas.openxmlformats.org/drawingml/2006/main">
              <a:ext uri="{FF2B5EF4-FFF2-40B4-BE49-F238E27FC236}">
                <a16:creationId xmlns:a16="http://schemas.microsoft.com/office/drawing/2014/main" id="{9398149B-2B19-42CA-A7CB-76DB9B112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973288"/>
            <a:ext cx="3568732" cy="10802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Six search algorithms</a:t>
            </a:r>
          </a:p>
          <a:p xmlns:a="http://schemas.openxmlformats.org/drawingml/2006/main">
            <a:pPr algn="l">
              <a:lnSpc>
                <a:spcPct val="100000"/>
              </a:lnSpc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Real HCMC road context</a:t>
            </a:r>
          </a:p>
          <a:p xmlns:a="http://schemas.openxmlformats.org/drawingml/2006/main">
            <a:pPr algn="l">
              <a:lnSpc>
                <a:spcPct val="100000"/>
              </a:lnSpc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Explained and verified results</a:t>
            </a:r>
          </a:p>
        </p:txBody>
      </p:sp>
      <p:sp>
        <p:nvSpPr>
          <p:cNvPr id="3" name="Subtitle-4-3">
            <a:extLst xmlns:a="http://schemas.openxmlformats.org/drawingml/2006/main">
              <a:ext uri="{FF2B5EF4-FFF2-40B4-BE49-F238E27FC236}">
                <a16:creationId xmlns:a16="http://schemas.microsoft.com/office/drawing/2014/main" id="{C4D3803A-B4D9-4078-B62B-89BCC6CBE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92240"/>
            <a:ext cx="1612868" cy="6491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Aft>
                <a:spcPts val="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F7A62"/>
                </a:solidFill>
                <a:latin typeface="Arial"/>
                <a:ea typeface="Arial"/>
                <a:cs typeface="Arial"/>
              </a:rPr>
              <a:t>CONCLUSION</a:t>
            </a:r>
          </a:p>
        </p:txBody>
      </p:sp>
    </p:spTree>
    <p:extLst>
      <p:ext uri="{BB962C8B-B14F-4D97-AF65-F5344CB8AC3E}">
        <p14:creationId xmlns:p14="http://schemas.microsoft.com/office/powerpoint/2010/main" val="203693815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2026-08-01T07:43:53.2390000Z</dcterms:created>
  <dcterms:modified xsi:type="dcterms:W3CDTF">2026-08-01T07:43:53.2390000Z</dcterms:modified>
</coreProperties>
</file>